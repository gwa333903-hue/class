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6858000" cx="9144000"/>
  <p:notesSz cx="6858000" cy="9144000"/>
  <p:embeddedFontLst>
    <p:embeddedFont>
      <p:font typeface="Teko"/>
      <p:regular r:id="rId32"/>
      <p:bold r:id="rId33"/>
    </p:embeddedFont>
    <p:embeddedFont>
      <p:font typeface="Constantia"/>
      <p:regular r:id="rId34"/>
      <p:bold r:id="rId35"/>
      <p:italic r:id="rId36"/>
      <p:boldItalic r:id="rId37"/>
    </p:embeddedFont>
    <p:embeddedFont>
      <p:font typeface="Century Gothic"/>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http://customooxmlschemas.google.com/">
      <go:slidesCustomData xmlns:go="http://customooxmlschemas.google.com/" r:id="rId42" roundtripDataSignature="AMtx7mi59ol51/3J1Mdrb2zlz/uX7JOKF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840F9BB-31FC-47BC-8EF9-502747837A30}">
  <a:tblStyle styleId="{9840F9BB-31FC-47BC-8EF9-502747837A3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CenturyGothic-italic.fntdata"/><Relationship Id="rId20" Type="http://schemas.openxmlformats.org/officeDocument/2006/relationships/slide" Target="slides/slide14.xml"/><Relationship Id="rId42" Type="http://customschemas.google.com/relationships/presentationmetadata" Target="metadata"/><Relationship Id="rId41" Type="http://schemas.openxmlformats.org/officeDocument/2006/relationships/font" Target="fonts/CenturyGothic-bold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Teko-bold.fntdata"/><Relationship Id="rId10" Type="http://schemas.openxmlformats.org/officeDocument/2006/relationships/slide" Target="slides/slide4.xml"/><Relationship Id="rId32" Type="http://schemas.openxmlformats.org/officeDocument/2006/relationships/font" Target="fonts/Teko-regular.fntdata"/><Relationship Id="rId13" Type="http://schemas.openxmlformats.org/officeDocument/2006/relationships/slide" Target="slides/slide7.xml"/><Relationship Id="rId35" Type="http://schemas.openxmlformats.org/officeDocument/2006/relationships/font" Target="fonts/Constantia-bold.fntdata"/><Relationship Id="rId12" Type="http://schemas.openxmlformats.org/officeDocument/2006/relationships/slide" Target="slides/slide6.xml"/><Relationship Id="rId34" Type="http://schemas.openxmlformats.org/officeDocument/2006/relationships/font" Target="fonts/Constantia-regular.fntdata"/><Relationship Id="rId15" Type="http://schemas.openxmlformats.org/officeDocument/2006/relationships/slide" Target="slides/slide9.xml"/><Relationship Id="rId37" Type="http://schemas.openxmlformats.org/officeDocument/2006/relationships/font" Target="fonts/Constantia-boldItalic.fntdata"/><Relationship Id="rId14" Type="http://schemas.openxmlformats.org/officeDocument/2006/relationships/slide" Target="slides/slide8.xml"/><Relationship Id="rId36" Type="http://schemas.openxmlformats.org/officeDocument/2006/relationships/font" Target="fonts/Constantia-italic.fntdata"/><Relationship Id="rId17" Type="http://schemas.openxmlformats.org/officeDocument/2006/relationships/slide" Target="slides/slide11.xml"/><Relationship Id="rId39" Type="http://schemas.openxmlformats.org/officeDocument/2006/relationships/font" Target="fonts/CenturyGothic-bold.fntdata"/><Relationship Id="rId16" Type="http://schemas.openxmlformats.org/officeDocument/2006/relationships/slide" Target="slides/slide10.xml"/><Relationship Id="rId38" Type="http://schemas.openxmlformats.org/officeDocument/2006/relationships/font" Target="fonts/CenturyGothic-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40" name="Google Shape;240;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7" name="Shape 27"/>
        <p:cNvGrpSpPr/>
        <p:nvPr/>
      </p:nvGrpSpPr>
      <p:grpSpPr>
        <a:xfrm>
          <a:off x="0" y="0"/>
          <a:ext cx="0" cy="0"/>
          <a:chOff x="0" y="0"/>
          <a:chExt cx="0" cy="0"/>
        </a:xfrm>
      </p:grpSpPr>
      <p:sp>
        <p:nvSpPr>
          <p:cNvPr id="28" name="Google Shape;28;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0" name="Google Shape;30;p2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31" name="Google Shape;31;p2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2" name="Google Shape;32;p2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33" name="Google Shape;33;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6" name="Shape 36"/>
        <p:cNvGrpSpPr/>
        <p:nvPr/>
      </p:nvGrpSpPr>
      <p:grpSpPr>
        <a:xfrm>
          <a:off x="0" y="0"/>
          <a:ext cx="0" cy="0"/>
          <a:chOff x="0" y="0"/>
          <a:chExt cx="0" cy="0"/>
        </a:xfrm>
      </p:grpSpPr>
      <p:sp>
        <p:nvSpPr>
          <p:cNvPr id="37" name="Google Shape;37;p3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3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9" name="Google Shape;39;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2" name="Shape 42"/>
        <p:cNvGrpSpPr/>
        <p:nvPr/>
      </p:nvGrpSpPr>
      <p:grpSpPr>
        <a:xfrm>
          <a:off x="0" y="0"/>
          <a:ext cx="0" cy="0"/>
          <a:chOff x="0" y="0"/>
          <a:chExt cx="0" cy="0"/>
        </a:xfrm>
      </p:grpSpPr>
      <p:sp>
        <p:nvSpPr>
          <p:cNvPr id="43" name="Google Shape;43;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3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5" name="Google Shape;45;p3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6" name="Google Shape;46;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3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3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5"/>
          <p:cNvSpPr/>
          <p:nvPr>
            <p:ph idx="2" type="pic"/>
          </p:nvPr>
        </p:nvSpPr>
        <p:spPr>
          <a:xfrm>
            <a:off x="1792288" y="612775"/>
            <a:ext cx="5486400" cy="4114800"/>
          </a:xfrm>
          <a:prstGeom prst="rect">
            <a:avLst/>
          </a:prstGeom>
          <a:noFill/>
          <a:ln>
            <a:noFill/>
          </a:ln>
        </p:spPr>
        <p:txBody>
          <a:bodyPr anchorCtr="0" anchor="t" bIns="45700" lIns="91425" spcFirstLastPara="1" rIns="91425" wrap="square" tIns="45700">
            <a:normAutofit/>
          </a:bodyPr>
          <a:lstStyle>
            <a:lvl1pPr lvl="0" marR="0" rtl="0" algn="l">
              <a:spcBef>
                <a:spcPts val="64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1pPr>
            <a:lvl2pPr lvl="1" marR="0" rtl="0" algn="l">
              <a:spcBef>
                <a:spcPts val="56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2pPr>
            <a:lvl3pPr lvl="2" marR="0" rtl="0" algn="l">
              <a:spcBef>
                <a:spcPts val="48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3pPr>
            <a:lvl4pPr lvl="3"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4pPr>
            <a:lvl5pPr lvl="4"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5pPr>
            <a:lvl6pPr lvl="5"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68" name="Google Shape;68;p3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6"/>
          <p:cNvSpPr txBox="1"/>
          <p:nvPr>
            <p:ph idx="1" type="body"/>
          </p:nvPr>
        </p:nvSpPr>
        <p:spPr>
          <a:xfrm rot="5400000">
            <a:off x="2309018" y="-251619"/>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7"/>
          <p:cNvSpPr txBox="1"/>
          <p:nvPr>
            <p:ph type="title"/>
          </p:nvPr>
        </p:nvSpPr>
        <p:spPr>
          <a:xfrm rot="5400000">
            <a:off x="4732337" y="2171700"/>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7"/>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images.google.co.th/imgres?imgurl=http://abmagic.com/Goals/files/page19_1.jpg&amp;imgrefurl=http://abmagic.com/Goals/goals.html&amp;usg=__e8AcaEu1c1Td4zbCQ5eaNvMCs98=&amp;h=290&amp;w=314&amp;sz=35&amp;hl=th&amp;start=1&amp;um=1&amp;tbnid=LmkHxAirU-hz7M:&amp;tbnh=108&amp;tbnw=117&amp;prev=/images?q=goal+achievement&amp;ndsp=18&amp;hl=th&amp;rlz=1T4ADBF_enTH270TH271&amp;sa=N&amp;um=1" TargetMode="External"/><Relationship Id="rId4"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descr="D:\image.png" id="88" name="Google Shape;88;p1"/>
          <p:cNvPicPr preferRelativeResize="0"/>
          <p:nvPr/>
        </p:nvPicPr>
        <p:blipFill rotWithShape="1">
          <a:blip r:embed="rId3">
            <a:alphaModFix/>
          </a:blip>
          <a:srcRect b="0" l="0" r="0" t="0"/>
          <a:stretch/>
        </p:blipFill>
        <p:spPr>
          <a:xfrm>
            <a:off x="0" y="-1"/>
            <a:ext cx="9144000" cy="68580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0066"/>
              </a:buClr>
              <a:buSzPts val="4400"/>
              <a:buFont typeface="Aharoni"/>
              <a:buNone/>
            </a:pPr>
            <a:r>
              <a:rPr lang="en-US">
                <a:solidFill>
                  <a:srgbClr val="FF0066"/>
                </a:solidFill>
                <a:latin typeface="Aharoni"/>
                <a:ea typeface="Aharoni"/>
                <a:cs typeface="Aharoni"/>
                <a:sym typeface="Aharoni"/>
              </a:rPr>
              <a:t>What is ORGANISATION</a:t>
            </a:r>
            <a:endParaRPr>
              <a:solidFill>
                <a:srgbClr val="FF0066"/>
              </a:solidFill>
              <a:latin typeface="Aharoni"/>
              <a:ea typeface="Aharoni"/>
              <a:cs typeface="Aharoni"/>
              <a:sym typeface="Aharoni"/>
            </a:endParaRPr>
          </a:p>
        </p:txBody>
      </p:sp>
      <p:grpSp>
        <p:nvGrpSpPr>
          <p:cNvPr id="94" name="Google Shape;94;p2"/>
          <p:cNvGrpSpPr/>
          <p:nvPr/>
        </p:nvGrpSpPr>
        <p:grpSpPr>
          <a:xfrm>
            <a:off x="1500166" y="3786191"/>
            <a:ext cx="6247647" cy="1598321"/>
            <a:chOff x="1148944" y="3520787"/>
            <a:chExt cx="7245426" cy="1143009"/>
          </a:xfrm>
        </p:grpSpPr>
        <p:sp>
          <p:nvSpPr>
            <p:cNvPr id="95" name="Google Shape;95;p2"/>
            <p:cNvSpPr/>
            <p:nvPr/>
          </p:nvSpPr>
          <p:spPr>
            <a:xfrm>
              <a:off x="1148944" y="3520788"/>
              <a:ext cx="2357454" cy="1143008"/>
            </a:xfrm>
            <a:prstGeom prst="homePlate">
              <a:avLst>
                <a:gd fmla="val 50000" name="adj"/>
              </a:avLst>
            </a:prstGeom>
            <a:solidFill>
              <a:srgbClr val="00B0F0"/>
            </a:solidFill>
            <a:ln cap="flat" cmpd="sng" w="25400">
              <a:solidFill>
                <a:srgbClr val="FFFF00"/>
              </a:solidFill>
              <a:prstDash val="solid"/>
              <a:round/>
              <a:headEnd len="sm" w="sm" type="none"/>
              <a:tailEnd len="sm" w="sm" type="none"/>
            </a:ln>
          </p:spPr>
          <p:txBody>
            <a:bodyPr anchorCtr="0" anchor="ctr" bIns="45700" lIns="91425" spcFirstLastPara="1" rIns="91425" wrap="square" tIns="45700">
              <a:normAutofit/>
            </a:bodyPr>
            <a:lstStyle/>
            <a:p>
              <a:pPr indent="-342900" lvl="0" marL="342900" marR="0" rtl="0" algn="ctr">
                <a:spcBef>
                  <a:spcPts val="0"/>
                </a:spcBef>
                <a:spcAft>
                  <a:spcPts val="0"/>
                </a:spcAft>
                <a:buClr>
                  <a:srgbClr val="0033CC"/>
                </a:buClr>
                <a:buSzPts val="2000"/>
                <a:buFont typeface="Arial"/>
                <a:buChar char="•"/>
              </a:pPr>
              <a:r>
                <a:rPr b="1" i="0" lang="en-US" sz="2000" u="none" cap="none" strike="noStrike">
                  <a:solidFill>
                    <a:srgbClr val="0033CC"/>
                  </a:solidFill>
                  <a:latin typeface="Calibri"/>
                  <a:ea typeface="Calibri"/>
                  <a:cs typeface="Calibri"/>
                  <a:sym typeface="Calibri"/>
                </a:rPr>
                <a:t>Specific Purpose</a:t>
              </a:r>
              <a:endParaRPr b="1" i="0" sz="2000" u="none" cap="none" strike="noStrike">
                <a:solidFill>
                  <a:srgbClr val="0033CC"/>
                </a:solidFill>
                <a:latin typeface="Calibri"/>
                <a:ea typeface="Calibri"/>
                <a:cs typeface="Calibri"/>
                <a:sym typeface="Calibri"/>
              </a:endParaRPr>
            </a:p>
          </p:txBody>
        </p:sp>
        <p:sp>
          <p:nvSpPr>
            <p:cNvPr id="96" name="Google Shape;96;p2"/>
            <p:cNvSpPr/>
            <p:nvPr/>
          </p:nvSpPr>
          <p:spPr>
            <a:xfrm>
              <a:off x="6036916" y="3520787"/>
              <a:ext cx="2357454" cy="1143008"/>
            </a:xfrm>
            <a:prstGeom prst="homePlate">
              <a:avLst>
                <a:gd fmla="val 50000" name="adj"/>
              </a:avLst>
            </a:prstGeom>
            <a:solidFill>
              <a:srgbClr val="0070C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rmAutofit/>
            </a:bodyPr>
            <a:lstStyle/>
            <a:p>
              <a:pPr indent="-342900" lvl="0" marL="342900" marR="0" rtl="0" algn="ctr">
                <a:spcBef>
                  <a:spcPts val="0"/>
                </a:spcBef>
                <a:spcAft>
                  <a:spcPts val="0"/>
                </a:spcAft>
                <a:buClr>
                  <a:srgbClr val="66FF33"/>
                </a:buClr>
                <a:buSzPts val="2000"/>
                <a:buFont typeface="Arial"/>
                <a:buChar char="•"/>
              </a:pPr>
              <a:r>
                <a:rPr b="1" i="0" lang="en-US" sz="2000" u="none" cap="none" strike="noStrike">
                  <a:solidFill>
                    <a:srgbClr val="66FF33"/>
                  </a:solidFill>
                  <a:latin typeface="Calibri"/>
                  <a:ea typeface="Calibri"/>
                  <a:cs typeface="Calibri"/>
                  <a:sym typeface="Calibri"/>
                </a:rPr>
                <a:t>Planned Structure</a:t>
              </a:r>
              <a:endParaRPr b="1" i="0" sz="2000" u="none" cap="none" strike="noStrike">
                <a:solidFill>
                  <a:srgbClr val="66FF33"/>
                </a:solidFill>
                <a:latin typeface="Calibri"/>
                <a:ea typeface="Calibri"/>
                <a:cs typeface="Calibri"/>
                <a:sym typeface="Calibri"/>
              </a:endParaRPr>
            </a:p>
          </p:txBody>
        </p:sp>
        <p:sp>
          <p:nvSpPr>
            <p:cNvPr id="97" name="Google Shape;97;p2"/>
            <p:cNvSpPr/>
            <p:nvPr/>
          </p:nvSpPr>
          <p:spPr>
            <a:xfrm>
              <a:off x="3551507" y="3520788"/>
              <a:ext cx="2357454" cy="1143008"/>
            </a:xfrm>
            <a:prstGeom prst="homePlate">
              <a:avLst>
                <a:gd fmla="val 50000" name="adj"/>
              </a:avLst>
            </a:prstGeom>
            <a:solidFill>
              <a:srgbClr val="9933FF"/>
            </a:solidFill>
            <a:ln cap="flat" cmpd="sng" w="25400">
              <a:solidFill>
                <a:srgbClr val="9933FF"/>
              </a:solidFill>
              <a:prstDash val="solid"/>
              <a:round/>
              <a:headEnd len="sm" w="sm" type="none"/>
              <a:tailEnd len="sm" w="sm" type="none"/>
            </a:ln>
          </p:spPr>
          <p:txBody>
            <a:bodyPr anchorCtr="0" anchor="ctr" bIns="45700" lIns="91425" spcFirstLastPara="1" rIns="91425" wrap="square" tIns="45700">
              <a:normAutofit/>
            </a:bodyPr>
            <a:lstStyle/>
            <a:p>
              <a:pPr indent="-342900" lvl="0" marL="342900" marR="0" rtl="0" algn="ctr">
                <a:spcBef>
                  <a:spcPts val="0"/>
                </a:spcBef>
                <a:spcAft>
                  <a:spcPts val="0"/>
                </a:spcAft>
                <a:buClr>
                  <a:schemeClr val="lt1"/>
                </a:buClr>
                <a:buSzPts val="2000"/>
                <a:buFont typeface="Arial"/>
                <a:buChar char="•"/>
              </a:pPr>
              <a:r>
                <a:rPr b="1" i="0" lang="en-US" sz="2000" u="none" cap="none" strike="noStrike">
                  <a:solidFill>
                    <a:schemeClr val="lt1"/>
                  </a:solidFill>
                  <a:latin typeface="Calibri"/>
                  <a:ea typeface="Calibri"/>
                  <a:cs typeface="Calibri"/>
                  <a:sym typeface="Calibri"/>
                </a:rPr>
                <a:t>People</a:t>
              </a:r>
              <a:endParaRPr b="1" i="0" sz="2000" u="none" cap="none" strike="noStrike">
                <a:solidFill>
                  <a:schemeClr val="lt1"/>
                </a:solidFill>
                <a:latin typeface="Calibri"/>
                <a:ea typeface="Calibri"/>
                <a:cs typeface="Calibri"/>
                <a:sym typeface="Calibri"/>
              </a:endParaRPr>
            </a:p>
          </p:txBody>
        </p:sp>
      </p:grpSp>
      <p:sp>
        <p:nvSpPr>
          <p:cNvPr id="98" name="Google Shape;98;p2"/>
          <p:cNvSpPr txBox="1"/>
          <p:nvPr/>
        </p:nvSpPr>
        <p:spPr>
          <a:xfrm>
            <a:off x="857224" y="1428736"/>
            <a:ext cx="7500990" cy="1569660"/>
          </a:xfrm>
          <a:prstGeom prst="rect">
            <a:avLst/>
          </a:prstGeom>
          <a:gradFill>
            <a:gsLst>
              <a:gs pos="0">
                <a:srgbClr val="759336"/>
              </a:gs>
              <a:gs pos="80000">
                <a:srgbClr val="99C247"/>
              </a:gs>
              <a:gs pos="100000">
                <a:srgbClr val="9BC545"/>
              </a:gs>
            </a:gsLst>
            <a:lin ang="16200000" scaled="0"/>
          </a:gradFill>
          <a:ln>
            <a:noFill/>
          </a:ln>
          <a:effectLst>
            <a:outerShdw blurRad="40000" rotWithShape="0" dir="5400000" dist="23000">
              <a:srgbClr val="000000">
                <a:alpha val="34901"/>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400" u="none" cap="none" strike="noStrike">
                <a:solidFill>
                  <a:schemeClr val="dk1"/>
                </a:solidFill>
                <a:latin typeface="Arial Rounded"/>
                <a:ea typeface="Arial Rounded"/>
                <a:cs typeface="Arial Rounded"/>
                <a:sym typeface="Arial Rounded"/>
              </a:rPr>
              <a:t>An organisation is an entity, a deliberate arrangement of people who work together to accomplish some specific purpose with a common goal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0066"/>
              </a:buClr>
              <a:buSzPts val="4400"/>
              <a:buFont typeface="Aharoni"/>
              <a:buNone/>
            </a:pPr>
            <a:r>
              <a:rPr lang="en-US">
                <a:solidFill>
                  <a:srgbClr val="FF0066"/>
                </a:solidFill>
                <a:latin typeface="Aharoni"/>
                <a:ea typeface="Aharoni"/>
                <a:cs typeface="Aharoni"/>
                <a:sym typeface="Aharoni"/>
              </a:rPr>
              <a:t>Functional Areas of Business</a:t>
            </a:r>
            <a:endParaRPr>
              <a:solidFill>
                <a:srgbClr val="FF0066"/>
              </a:solidFill>
              <a:latin typeface="Aharoni"/>
              <a:ea typeface="Aharoni"/>
              <a:cs typeface="Aharoni"/>
              <a:sym typeface="Aharoni"/>
            </a:endParaRPr>
          </a:p>
        </p:txBody>
      </p:sp>
      <p:sp>
        <p:nvSpPr>
          <p:cNvPr id="104" name="Google Shape;104;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7030A0"/>
              </a:buClr>
              <a:buSzPts val="3200"/>
              <a:buChar char="•"/>
            </a:pPr>
            <a:r>
              <a:rPr b="1" lang="en-US">
                <a:solidFill>
                  <a:srgbClr val="7030A0"/>
                </a:solidFill>
                <a:latin typeface="Times New Roman"/>
                <a:ea typeface="Times New Roman"/>
                <a:cs typeface="Times New Roman"/>
                <a:sym typeface="Times New Roman"/>
              </a:rPr>
              <a:t>R&amp;D</a:t>
            </a:r>
            <a:endParaRPr/>
          </a:p>
          <a:p>
            <a:pPr indent="-342900" lvl="0" marL="342900" rtl="0" algn="l">
              <a:spcBef>
                <a:spcPts val="640"/>
              </a:spcBef>
              <a:spcAft>
                <a:spcPts val="0"/>
              </a:spcAft>
              <a:buClr>
                <a:srgbClr val="7030A0"/>
              </a:buClr>
              <a:buSzPts val="3200"/>
              <a:buChar char="•"/>
            </a:pPr>
            <a:r>
              <a:rPr b="1" lang="en-US">
                <a:solidFill>
                  <a:srgbClr val="7030A0"/>
                </a:solidFill>
                <a:latin typeface="Times New Roman"/>
                <a:ea typeface="Times New Roman"/>
                <a:cs typeface="Times New Roman"/>
                <a:sym typeface="Times New Roman"/>
              </a:rPr>
              <a:t>Marketing</a:t>
            </a:r>
            <a:endParaRPr/>
          </a:p>
          <a:p>
            <a:pPr indent="-342900" lvl="0" marL="342900" rtl="0" algn="l">
              <a:spcBef>
                <a:spcPts val="640"/>
              </a:spcBef>
              <a:spcAft>
                <a:spcPts val="0"/>
              </a:spcAft>
              <a:buClr>
                <a:srgbClr val="7030A0"/>
              </a:buClr>
              <a:buSzPts val="3200"/>
              <a:buChar char="•"/>
            </a:pPr>
            <a:r>
              <a:rPr b="1" lang="en-US">
                <a:solidFill>
                  <a:srgbClr val="7030A0"/>
                </a:solidFill>
                <a:latin typeface="Times New Roman"/>
                <a:ea typeface="Times New Roman"/>
                <a:cs typeface="Times New Roman"/>
                <a:sym typeface="Times New Roman"/>
              </a:rPr>
              <a:t>Finance</a:t>
            </a:r>
            <a:endParaRPr/>
          </a:p>
          <a:p>
            <a:pPr indent="-342900" lvl="0" marL="342900" rtl="0" algn="l">
              <a:spcBef>
                <a:spcPts val="640"/>
              </a:spcBef>
              <a:spcAft>
                <a:spcPts val="0"/>
              </a:spcAft>
              <a:buClr>
                <a:srgbClr val="7030A0"/>
              </a:buClr>
              <a:buSzPts val="3200"/>
              <a:buChar char="•"/>
            </a:pPr>
            <a:r>
              <a:rPr b="1" lang="en-US">
                <a:solidFill>
                  <a:srgbClr val="7030A0"/>
                </a:solidFill>
                <a:latin typeface="Times New Roman"/>
                <a:ea typeface="Times New Roman"/>
                <a:cs typeface="Times New Roman"/>
                <a:sym typeface="Times New Roman"/>
              </a:rPr>
              <a:t>Production</a:t>
            </a:r>
            <a:endParaRPr/>
          </a:p>
          <a:p>
            <a:pPr indent="-342900" lvl="0" marL="342900" rtl="0" algn="l">
              <a:spcBef>
                <a:spcPts val="640"/>
              </a:spcBef>
              <a:spcAft>
                <a:spcPts val="0"/>
              </a:spcAft>
              <a:buClr>
                <a:srgbClr val="7030A0"/>
              </a:buClr>
              <a:buSzPts val="3200"/>
              <a:buChar char="•"/>
            </a:pPr>
            <a:r>
              <a:rPr b="1" lang="en-US">
                <a:solidFill>
                  <a:srgbClr val="7030A0"/>
                </a:solidFill>
                <a:latin typeface="Times New Roman"/>
                <a:ea typeface="Times New Roman"/>
                <a:cs typeface="Times New Roman"/>
                <a:sym typeface="Times New Roman"/>
              </a:rPr>
              <a:t>HR</a:t>
            </a:r>
            <a:endParaRPr b="1">
              <a:solidFill>
                <a:srgbClr val="7030A0"/>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0066"/>
              </a:buClr>
              <a:buSzPts val="4400"/>
              <a:buFont typeface="Aharoni"/>
              <a:buNone/>
            </a:pPr>
            <a:r>
              <a:rPr b="1" lang="en-US">
                <a:solidFill>
                  <a:srgbClr val="FF0066"/>
                </a:solidFill>
                <a:latin typeface="Aharoni"/>
                <a:ea typeface="Aharoni"/>
                <a:cs typeface="Aharoni"/>
                <a:sym typeface="Aharoni"/>
              </a:rPr>
              <a:t>What is Management?</a:t>
            </a:r>
            <a:endParaRPr b="1">
              <a:solidFill>
                <a:srgbClr val="FF0066"/>
              </a:solidFill>
              <a:latin typeface="Aharoni"/>
              <a:ea typeface="Aharoni"/>
              <a:cs typeface="Aharoni"/>
              <a:sym typeface="Aharoni"/>
            </a:endParaRPr>
          </a:p>
        </p:txBody>
      </p:sp>
      <p:sp>
        <p:nvSpPr>
          <p:cNvPr id="110" name="Google Shape;110;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90000"/>
              </a:lnSpc>
              <a:spcBef>
                <a:spcPts val="0"/>
              </a:spcBef>
              <a:spcAft>
                <a:spcPts val="0"/>
              </a:spcAft>
              <a:buClr>
                <a:srgbClr val="92D050"/>
              </a:buClr>
              <a:buSzPts val="2960"/>
              <a:buChar char="•"/>
            </a:pPr>
            <a:r>
              <a:rPr b="1" lang="en-US" sz="2960">
                <a:solidFill>
                  <a:srgbClr val="92D050"/>
                </a:solidFill>
                <a:latin typeface="Century Gothic"/>
                <a:ea typeface="Century Gothic"/>
                <a:cs typeface="Century Gothic"/>
                <a:sym typeface="Century Gothic"/>
              </a:rPr>
              <a:t>Management </a:t>
            </a:r>
            <a:r>
              <a:rPr lang="en-US" sz="2960">
                <a:latin typeface="Century Gothic"/>
                <a:ea typeface="Century Gothic"/>
                <a:cs typeface="Century Gothic"/>
                <a:sym typeface="Century Gothic"/>
              </a:rPr>
              <a:t>involves coordinating and overseeing the work activities of human resources so that their activities can be completed </a:t>
            </a:r>
            <a:r>
              <a:rPr lang="en-US" sz="2960">
                <a:solidFill>
                  <a:srgbClr val="00B0F0"/>
                </a:solidFill>
                <a:latin typeface="Century Gothic"/>
                <a:ea typeface="Century Gothic"/>
                <a:cs typeface="Century Gothic"/>
                <a:sym typeface="Century Gothic"/>
              </a:rPr>
              <a:t>efficiently </a:t>
            </a:r>
            <a:r>
              <a:rPr lang="en-US" sz="2960">
                <a:latin typeface="Century Gothic"/>
                <a:ea typeface="Century Gothic"/>
                <a:cs typeface="Century Gothic"/>
                <a:sym typeface="Century Gothic"/>
              </a:rPr>
              <a:t>and </a:t>
            </a:r>
            <a:r>
              <a:rPr lang="en-US" sz="2960">
                <a:solidFill>
                  <a:srgbClr val="FF0066"/>
                </a:solidFill>
                <a:latin typeface="Century Gothic"/>
                <a:ea typeface="Century Gothic"/>
                <a:cs typeface="Century Gothic"/>
                <a:sym typeface="Century Gothic"/>
              </a:rPr>
              <a:t>effectively</a:t>
            </a:r>
            <a:r>
              <a:rPr lang="en-US" sz="2960">
                <a:latin typeface="Century Gothic"/>
                <a:ea typeface="Century Gothic"/>
                <a:cs typeface="Century Gothic"/>
                <a:sym typeface="Century Gothic"/>
              </a:rPr>
              <a:t>. </a:t>
            </a:r>
            <a:endParaRPr/>
          </a:p>
          <a:p>
            <a:pPr indent="-342900" lvl="0" marL="342900" rtl="0" algn="just">
              <a:lnSpc>
                <a:spcPct val="90000"/>
              </a:lnSpc>
              <a:spcBef>
                <a:spcPts val="592"/>
              </a:spcBef>
              <a:spcAft>
                <a:spcPts val="0"/>
              </a:spcAft>
              <a:buClr>
                <a:schemeClr val="dk1"/>
              </a:buClr>
              <a:buSzPts val="2960"/>
              <a:buNone/>
            </a:pPr>
            <a:r>
              <a:t/>
            </a:r>
            <a:endParaRPr sz="2960">
              <a:latin typeface="Century Gothic"/>
              <a:ea typeface="Century Gothic"/>
              <a:cs typeface="Century Gothic"/>
              <a:sym typeface="Century Gothic"/>
            </a:endParaRPr>
          </a:p>
          <a:p>
            <a:pPr indent="-342900" lvl="0" marL="342900" rtl="0" algn="just">
              <a:lnSpc>
                <a:spcPct val="90000"/>
              </a:lnSpc>
              <a:spcBef>
                <a:spcPts val="592"/>
              </a:spcBef>
              <a:spcAft>
                <a:spcPts val="0"/>
              </a:spcAft>
              <a:buClr>
                <a:schemeClr val="dk1"/>
              </a:buClr>
              <a:buSzPts val="2960"/>
              <a:buChar char="•"/>
            </a:pPr>
            <a:r>
              <a:rPr lang="en-US" sz="2960">
                <a:latin typeface="Century Gothic"/>
                <a:ea typeface="Century Gothic"/>
                <a:cs typeface="Century Gothic"/>
                <a:sym typeface="Century Gothic"/>
              </a:rPr>
              <a:t>The term ‘management’ can be explained in different senses. Sometimes it refers to the  function of managing people. It is also referred to as an arena of knowledge, a practice and discipline.</a:t>
            </a:r>
            <a:endParaRPr sz="2960">
              <a:latin typeface="Century Gothic"/>
              <a:ea typeface="Century Gothic"/>
              <a:cs typeface="Century Gothic"/>
              <a:sym typeface="Century Gothic"/>
            </a:endParaRPr>
          </a:p>
          <a:p>
            <a:pPr indent="-154940" lvl="0" marL="342900" rtl="0" algn="l">
              <a:lnSpc>
                <a:spcPct val="90000"/>
              </a:lnSpc>
              <a:spcBef>
                <a:spcPts val="592"/>
              </a:spcBef>
              <a:spcAft>
                <a:spcPts val="0"/>
              </a:spcAft>
              <a:buClr>
                <a:schemeClr val="dk1"/>
              </a:buClr>
              <a:buSzPts val="2960"/>
              <a:buNone/>
            </a:pPr>
            <a:r>
              <a:t/>
            </a:r>
            <a:endParaRPr sz="2960"/>
          </a:p>
          <a:p>
            <a:pPr indent="-154940" lvl="0" marL="342900" rtl="0" algn="l">
              <a:lnSpc>
                <a:spcPct val="90000"/>
              </a:lnSpc>
              <a:spcBef>
                <a:spcPts val="592"/>
              </a:spcBef>
              <a:spcAft>
                <a:spcPts val="0"/>
              </a:spcAft>
              <a:buClr>
                <a:schemeClr val="dk1"/>
              </a:buClr>
              <a:buSzPts val="2960"/>
              <a:buNone/>
            </a:pPr>
            <a:r>
              <a:t/>
            </a:r>
            <a:endParaRPr sz="296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B0F0"/>
              </a:buClr>
              <a:buSzPts val="4400"/>
              <a:buFont typeface="Constantia"/>
              <a:buNone/>
            </a:pPr>
            <a:r>
              <a:rPr b="1" lang="en-US">
                <a:solidFill>
                  <a:srgbClr val="00B0F0"/>
                </a:solidFill>
                <a:latin typeface="Constantia"/>
                <a:ea typeface="Constantia"/>
                <a:cs typeface="Constantia"/>
                <a:sym typeface="Constantia"/>
              </a:rPr>
              <a:t>Efficiency </a:t>
            </a:r>
            <a:r>
              <a:rPr b="1" lang="en-US">
                <a:solidFill>
                  <a:schemeClr val="dk1"/>
                </a:solidFill>
                <a:latin typeface="Constantia"/>
                <a:ea typeface="Constantia"/>
                <a:cs typeface="Constantia"/>
                <a:sym typeface="Constantia"/>
              </a:rPr>
              <a:t>and</a:t>
            </a:r>
            <a:r>
              <a:rPr b="1" lang="en-US">
                <a:solidFill>
                  <a:srgbClr val="FFFF00"/>
                </a:solidFill>
                <a:latin typeface="Constantia"/>
                <a:ea typeface="Constantia"/>
                <a:cs typeface="Constantia"/>
                <a:sym typeface="Constantia"/>
              </a:rPr>
              <a:t> </a:t>
            </a:r>
            <a:r>
              <a:rPr b="1" lang="en-US">
                <a:solidFill>
                  <a:srgbClr val="FF0066"/>
                </a:solidFill>
                <a:latin typeface="Constantia"/>
                <a:ea typeface="Constantia"/>
                <a:cs typeface="Constantia"/>
                <a:sym typeface="Constantia"/>
              </a:rPr>
              <a:t>Effectiveness</a:t>
            </a:r>
            <a:endParaRPr>
              <a:latin typeface="Constantia"/>
              <a:ea typeface="Constantia"/>
              <a:cs typeface="Constantia"/>
              <a:sym typeface="Constantia"/>
            </a:endParaRPr>
          </a:p>
        </p:txBody>
      </p:sp>
      <p:sp>
        <p:nvSpPr>
          <p:cNvPr id="116" name="Google Shape;116;p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00B0F0"/>
              </a:buClr>
              <a:buSzPts val="2800"/>
              <a:buNone/>
            </a:pPr>
            <a:r>
              <a:rPr b="1" lang="en-US" sz="2800">
                <a:solidFill>
                  <a:srgbClr val="00B0F0"/>
                </a:solidFill>
                <a:latin typeface="Teko"/>
                <a:ea typeface="Teko"/>
                <a:cs typeface="Teko"/>
                <a:sym typeface="Teko"/>
              </a:rPr>
              <a:t>Efficiency</a:t>
            </a:r>
            <a:endParaRPr sz="2800">
              <a:latin typeface="Teko"/>
              <a:ea typeface="Teko"/>
              <a:cs typeface="Teko"/>
              <a:sym typeface="Teko"/>
            </a:endParaRPr>
          </a:p>
        </p:txBody>
      </p:sp>
      <p:sp>
        <p:nvSpPr>
          <p:cNvPr id="117" name="Google Shape;117;p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FF0066"/>
              </a:buClr>
              <a:buSzPts val="2400"/>
              <a:buNone/>
            </a:pPr>
            <a:r>
              <a:rPr b="1" lang="en-US">
                <a:solidFill>
                  <a:srgbClr val="FF0066"/>
                </a:solidFill>
                <a:latin typeface="Teko"/>
                <a:ea typeface="Teko"/>
                <a:cs typeface="Teko"/>
                <a:sym typeface="Teko"/>
              </a:rPr>
              <a:t>Effectiveness</a:t>
            </a:r>
            <a:endParaRPr>
              <a:latin typeface="Teko"/>
              <a:ea typeface="Teko"/>
              <a:cs typeface="Teko"/>
              <a:sym typeface="Teko"/>
            </a:endParaRPr>
          </a:p>
        </p:txBody>
      </p:sp>
      <p:sp>
        <p:nvSpPr>
          <p:cNvPr id="118" name="Google Shape;118;p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B0F0"/>
              </a:buClr>
              <a:buSzPts val="2400"/>
              <a:buChar char="•"/>
            </a:pPr>
            <a:r>
              <a:rPr b="1" lang="en-US">
                <a:solidFill>
                  <a:srgbClr val="00B0F0"/>
                </a:solidFill>
                <a:latin typeface="Times New Roman"/>
                <a:ea typeface="Times New Roman"/>
                <a:cs typeface="Times New Roman"/>
                <a:sym typeface="Times New Roman"/>
              </a:rPr>
              <a:t>Efficiency</a:t>
            </a:r>
            <a:r>
              <a:rPr lang="en-US">
                <a:solidFill>
                  <a:srgbClr val="0070C0"/>
                </a:solidFill>
                <a:latin typeface="Times New Roman"/>
                <a:ea typeface="Times New Roman"/>
                <a:cs typeface="Times New Roman"/>
                <a:sym typeface="Times New Roman"/>
              </a:rPr>
              <a:t> </a:t>
            </a:r>
            <a:r>
              <a:rPr lang="en-US">
                <a:latin typeface="Times New Roman"/>
                <a:ea typeface="Times New Roman"/>
                <a:cs typeface="Times New Roman"/>
                <a:sym typeface="Times New Roman"/>
              </a:rPr>
              <a:t>= getting the most output from the least amount of inputs </a:t>
            </a:r>
            <a:endParaRPr/>
          </a:p>
          <a:p>
            <a:pPr indent="-342900" lvl="0" marL="342900" rtl="0" algn="l">
              <a:spcBef>
                <a:spcPts val="480"/>
              </a:spcBef>
              <a:spcAft>
                <a:spcPts val="0"/>
              </a:spcAft>
              <a:buClr>
                <a:srgbClr val="00B0F0"/>
              </a:buClr>
              <a:buSzPts val="2400"/>
              <a:buChar char="•"/>
            </a:pPr>
            <a:r>
              <a:rPr lang="en-US">
                <a:solidFill>
                  <a:srgbClr val="00B0F0"/>
                </a:solidFill>
                <a:latin typeface="Times New Roman"/>
                <a:ea typeface="Times New Roman"/>
                <a:cs typeface="Times New Roman"/>
                <a:sym typeface="Times New Roman"/>
              </a:rPr>
              <a:t>“doing things rightly” </a:t>
            </a:r>
            <a:endParaRPr/>
          </a:p>
          <a:p>
            <a:pPr indent="-342900" lvl="0" marL="342900" rtl="0" algn="l">
              <a:spcBef>
                <a:spcPts val="480"/>
              </a:spcBef>
              <a:spcAft>
                <a:spcPts val="0"/>
              </a:spcAft>
              <a:buClr>
                <a:srgbClr val="00B050"/>
              </a:buClr>
              <a:buSzPts val="2400"/>
              <a:buChar char="•"/>
            </a:pPr>
            <a:r>
              <a:rPr lang="en-US">
                <a:solidFill>
                  <a:srgbClr val="00B050"/>
                </a:solidFill>
                <a:latin typeface="Times New Roman"/>
                <a:ea typeface="Times New Roman"/>
                <a:cs typeface="Times New Roman"/>
                <a:sym typeface="Times New Roman"/>
              </a:rPr>
              <a:t>concern with </a:t>
            </a:r>
            <a:r>
              <a:rPr b="1" lang="en-US" u="sng">
                <a:solidFill>
                  <a:srgbClr val="00B050"/>
                </a:solidFill>
                <a:latin typeface="Times New Roman"/>
                <a:ea typeface="Times New Roman"/>
                <a:cs typeface="Times New Roman"/>
                <a:sym typeface="Times New Roman"/>
              </a:rPr>
              <a:t>means</a:t>
            </a:r>
            <a:r>
              <a:rPr lang="en-US">
                <a:solidFill>
                  <a:srgbClr val="00B050"/>
                </a:solidFill>
                <a:latin typeface="Times New Roman"/>
                <a:ea typeface="Times New Roman"/>
                <a:cs typeface="Times New Roman"/>
                <a:sym typeface="Times New Roman"/>
              </a:rPr>
              <a:t>(ways) of getting things done</a:t>
            </a:r>
            <a:endParaRPr/>
          </a:p>
          <a:p>
            <a:pPr indent="-190500" lvl="0" marL="342900" rtl="0" algn="l">
              <a:spcBef>
                <a:spcPts val="480"/>
              </a:spcBef>
              <a:spcAft>
                <a:spcPts val="0"/>
              </a:spcAft>
              <a:buClr>
                <a:schemeClr val="dk1"/>
              </a:buClr>
              <a:buSzPts val="2400"/>
              <a:buNone/>
            </a:pPr>
            <a:r>
              <a:t/>
            </a:r>
            <a:endParaRPr/>
          </a:p>
        </p:txBody>
      </p:sp>
      <p:sp>
        <p:nvSpPr>
          <p:cNvPr id="119" name="Google Shape;119;p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p>
            <a:pPr indent="-342900" lvl="0" marL="342900" rtl="0" algn="r">
              <a:spcBef>
                <a:spcPts val="0"/>
              </a:spcBef>
              <a:spcAft>
                <a:spcPts val="0"/>
              </a:spcAft>
              <a:buClr>
                <a:srgbClr val="FF0066"/>
              </a:buClr>
              <a:buSzPts val="2400"/>
              <a:buChar char="•"/>
            </a:pPr>
            <a:r>
              <a:rPr b="1" lang="en-US">
                <a:solidFill>
                  <a:srgbClr val="FF0066"/>
                </a:solidFill>
                <a:latin typeface="Times New Roman"/>
                <a:ea typeface="Times New Roman"/>
                <a:cs typeface="Times New Roman"/>
                <a:sym typeface="Times New Roman"/>
              </a:rPr>
              <a:t>Effectiveness </a:t>
            </a:r>
            <a:r>
              <a:rPr lang="en-US">
                <a:latin typeface="Times New Roman"/>
                <a:ea typeface="Times New Roman"/>
                <a:cs typeface="Times New Roman"/>
                <a:sym typeface="Times New Roman"/>
              </a:rPr>
              <a:t>= do those work activities that will help the organization reach its goals </a:t>
            </a:r>
            <a:endParaRPr/>
          </a:p>
          <a:p>
            <a:pPr indent="-342900" lvl="0" marL="342900" rtl="0" algn="r">
              <a:spcBef>
                <a:spcPts val="480"/>
              </a:spcBef>
              <a:spcAft>
                <a:spcPts val="0"/>
              </a:spcAft>
              <a:buClr>
                <a:srgbClr val="FF0066"/>
              </a:buClr>
              <a:buSzPts val="2400"/>
              <a:buChar char="•"/>
            </a:pPr>
            <a:r>
              <a:rPr lang="en-US">
                <a:solidFill>
                  <a:srgbClr val="FF0066"/>
                </a:solidFill>
                <a:latin typeface="Times New Roman"/>
                <a:ea typeface="Times New Roman"/>
                <a:cs typeface="Times New Roman"/>
                <a:sym typeface="Times New Roman"/>
              </a:rPr>
              <a:t>“doing the right things”</a:t>
            </a:r>
            <a:endParaRPr/>
          </a:p>
          <a:p>
            <a:pPr indent="-342900" lvl="0" marL="342900" rtl="0" algn="r">
              <a:spcBef>
                <a:spcPts val="480"/>
              </a:spcBef>
              <a:spcAft>
                <a:spcPts val="0"/>
              </a:spcAft>
              <a:buClr>
                <a:srgbClr val="00B050"/>
              </a:buClr>
              <a:buSzPts val="2400"/>
              <a:buChar char="•"/>
            </a:pPr>
            <a:r>
              <a:rPr lang="en-US">
                <a:solidFill>
                  <a:srgbClr val="00B050"/>
                </a:solidFill>
                <a:latin typeface="Times New Roman"/>
                <a:ea typeface="Times New Roman"/>
                <a:cs typeface="Times New Roman"/>
                <a:sym typeface="Times New Roman"/>
              </a:rPr>
              <a:t>concern with </a:t>
            </a:r>
            <a:r>
              <a:rPr b="1" lang="en-US" u="sng">
                <a:solidFill>
                  <a:srgbClr val="00B050"/>
                </a:solidFill>
                <a:latin typeface="Times New Roman"/>
                <a:ea typeface="Times New Roman"/>
                <a:cs typeface="Times New Roman"/>
                <a:sym typeface="Times New Roman"/>
              </a:rPr>
              <a:t>ends</a:t>
            </a:r>
            <a:r>
              <a:rPr lang="en-US">
                <a:solidFill>
                  <a:srgbClr val="00B050"/>
                </a:solidFill>
                <a:latin typeface="Times New Roman"/>
                <a:ea typeface="Times New Roman"/>
                <a:cs typeface="Times New Roman"/>
                <a:sym typeface="Times New Roman"/>
              </a:rPr>
              <a:t>(result) of organizational goal achievement </a:t>
            </a:r>
            <a:endParaRPr>
              <a:solidFill>
                <a:srgbClr val="00B050"/>
              </a:solidFill>
              <a:latin typeface="Times New Roman"/>
              <a:ea typeface="Times New Roman"/>
              <a:cs typeface="Times New Roman"/>
              <a:sym typeface="Times New Roman"/>
            </a:endParaRPr>
          </a:p>
          <a:p>
            <a:pPr indent="-190500" lvl="0" marL="342900" rtl="0" algn="l">
              <a:spcBef>
                <a:spcPts val="480"/>
              </a:spcBef>
              <a:spcAft>
                <a:spcPts val="0"/>
              </a:spcAft>
              <a:buClr>
                <a:schemeClr val="dk1"/>
              </a:buClr>
              <a:buSzPts val="2400"/>
              <a:buNone/>
            </a:pPr>
            <a:r>
              <a:t/>
            </a:r>
            <a:endParaRPr/>
          </a:p>
        </p:txBody>
      </p:sp>
      <p:sp>
        <p:nvSpPr>
          <p:cNvPr id="120" name="Google Shape;120;p5"/>
          <p:cNvSpPr/>
          <p:nvPr/>
        </p:nvSpPr>
        <p:spPr>
          <a:xfrm rot="5400000">
            <a:off x="1821637" y="3607595"/>
            <a:ext cx="5214974" cy="285752"/>
          </a:xfrm>
          <a:prstGeom prst="halfFrame">
            <a:avLst>
              <a:gd fmla="val 33333" name="adj1"/>
              <a:gd fmla="val 33333"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B0F0"/>
              </a:buClr>
              <a:buSzPts val="4400"/>
              <a:buFont typeface="Constantia"/>
              <a:buNone/>
            </a:pPr>
            <a:r>
              <a:rPr b="1" lang="en-US">
                <a:solidFill>
                  <a:srgbClr val="00B0F0"/>
                </a:solidFill>
                <a:latin typeface="Constantia"/>
                <a:ea typeface="Constantia"/>
                <a:cs typeface="Constantia"/>
                <a:sym typeface="Constantia"/>
              </a:rPr>
              <a:t>Efficiency </a:t>
            </a:r>
            <a:r>
              <a:rPr b="1" lang="en-US">
                <a:latin typeface="Constantia"/>
                <a:ea typeface="Constantia"/>
                <a:cs typeface="Constantia"/>
                <a:sym typeface="Constantia"/>
              </a:rPr>
              <a:t>and</a:t>
            </a:r>
            <a:r>
              <a:rPr b="1" lang="en-US">
                <a:solidFill>
                  <a:srgbClr val="FFFF00"/>
                </a:solidFill>
                <a:latin typeface="Constantia"/>
                <a:ea typeface="Constantia"/>
                <a:cs typeface="Constantia"/>
                <a:sym typeface="Constantia"/>
              </a:rPr>
              <a:t> </a:t>
            </a:r>
            <a:r>
              <a:rPr b="1" lang="en-US">
                <a:solidFill>
                  <a:srgbClr val="FF0066"/>
                </a:solidFill>
                <a:latin typeface="Constantia"/>
                <a:ea typeface="Constantia"/>
                <a:cs typeface="Constantia"/>
                <a:sym typeface="Constantia"/>
              </a:rPr>
              <a:t>Effectiveness</a:t>
            </a:r>
            <a:endParaRPr>
              <a:latin typeface="Constantia"/>
              <a:ea typeface="Constantia"/>
              <a:cs typeface="Constantia"/>
              <a:sym typeface="Constantia"/>
            </a:endParaRPr>
          </a:p>
        </p:txBody>
      </p:sp>
      <p:sp>
        <p:nvSpPr>
          <p:cNvPr id="126" name="Google Shape;126;p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00B0F0"/>
              </a:buClr>
              <a:buSzPts val="2400"/>
              <a:buNone/>
            </a:pPr>
            <a:r>
              <a:rPr b="1" lang="en-US">
                <a:solidFill>
                  <a:srgbClr val="00B0F0"/>
                </a:solidFill>
                <a:latin typeface="Teko"/>
                <a:ea typeface="Teko"/>
                <a:cs typeface="Teko"/>
                <a:sym typeface="Teko"/>
              </a:rPr>
              <a:t>Efficiency</a:t>
            </a:r>
            <a:endParaRPr>
              <a:latin typeface="Teko"/>
              <a:ea typeface="Teko"/>
              <a:cs typeface="Teko"/>
              <a:sym typeface="Teko"/>
            </a:endParaRPr>
          </a:p>
        </p:txBody>
      </p:sp>
      <p:sp>
        <p:nvSpPr>
          <p:cNvPr id="127" name="Google Shape;127;p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FF0066"/>
              </a:buClr>
              <a:buSzPts val="2400"/>
              <a:buNone/>
            </a:pPr>
            <a:r>
              <a:rPr b="1" lang="en-US">
                <a:solidFill>
                  <a:srgbClr val="FF0066"/>
                </a:solidFill>
                <a:latin typeface="Teko"/>
                <a:ea typeface="Teko"/>
                <a:cs typeface="Teko"/>
                <a:sym typeface="Teko"/>
              </a:rPr>
              <a:t>Effectiveness</a:t>
            </a:r>
            <a:endParaRPr>
              <a:latin typeface="Teko"/>
              <a:ea typeface="Teko"/>
              <a:cs typeface="Teko"/>
              <a:sym typeface="Teko"/>
            </a:endParaRPr>
          </a:p>
        </p:txBody>
      </p:sp>
      <p:sp>
        <p:nvSpPr>
          <p:cNvPr id="128" name="Google Shape;128;p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B0F0"/>
              </a:buClr>
              <a:buSzPts val="2400"/>
              <a:buChar char="•"/>
            </a:pPr>
            <a:r>
              <a:rPr b="1" lang="en-US">
                <a:solidFill>
                  <a:srgbClr val="00B0F0"/>
                </a:solidFill>
                <a:latin typeface="Times New Roman"/>
                <a:ea typeface="Times New Roman"/>
                <a:cs typeface="Times New Roman"/>
                <a:sym typeface="Times New Roman"/>
              </a:rPr>
              <a:t>Efficiency</a:t>
            </a:r>
            <a:r>
              <a:rPr lang="en-US">
                <a:solidFill>
                  <a:srgbClr val="0070C0"/>
                </a:solidFill>
                <a:latin typeface="Times New Roman"/>
                <a:ea typeface="Times New Roman"/>
                <a:cs typeface="Times New Roman"/>
                <a:sym typeface="Times New Roman"/>
              </a:rPr>
              <a:t> </a:t>
            </a:r>
            <a:r>
              <a:rPr lang="en-US">
                <a:latin typeface="Times New Roman"/>
                <a:ea typeface="Times New Roman"/>
                <a:cs typeface="Times New Roman"/>
                <a:sym typeface="Times New Roman"/>
              </a:rPr>
              <a:t>= getting work done with a minimum effort, expense, or waste</a:t>
            </a:r>
            <a:endParaRPr/>
          </a:p>
          <a:p>
            <a:pPr indent="-342900" lvl="0" marL="342900" rtl="0" algn="l">
              <a:spcBef>
                <a:spcPts val="480"/>
              </a:spcBef>
              <a:spcAft>
                <a:spcPts val="0"/>
              </a:spcAft>
              <a:buClr>
                <a:srgbClr val="00B050"/>
              </a:buClr>
              <a:buSzPts val="2400"/>
              <a:buChar char="•"/>
            </a:pPr>
            <a:r>
              <a:rPr lang="en-US">
                <a:solidFill>
                  <a:srgbClr val="00B050"/>
                </a:solidFill>
                <a:latin typeface="Times New Roman"/>
                <a:ea typeface="Times New Roman"/>
                <a:cs typeface="Times New Roman"/>
                <a:sym typeface="Times New Roman"/>
              </a:rPr>
              <a:t>(use resources – people, money, raw materials– wisely and cost-effectively)</a:t>
            </a:r>
            <a:endParaRPr/>
          </a:p>
          <a:p>
            <a:pPr indent="-190500" lvl="0" marL="342900" rtl="0" algn="l">
              <a:spcBef>
                <a:spcPts val="480"/>
              </a:spcBef>
              <a:spcAft>
                <a:spcPts val="0"/>
              </a:spcAft>
              <a:buClr>
                <a:schemeClr val="dk1"/>
              </a:buClr>
              <a:buSzPts val="2400"/>
              <a:buNone/>
            </a:pPr>
            <a:r>
              <a:t/>
            </a:r>
            <a:endParaRPr/>
          </a:p>
        </p:txBody>
      </p:sp>
      <p:sp>
        <p:nvSpPr>
          <p:cNvPr id="129" name="Google Shape;129;p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p>
            <a:pPr indent="-342900" lvl="0" marL="342900" rtl="0" algn="r">
              <a:spcBef>
                <a:spcPts val="0"/>
              </a:spcBef>
              <a:spcAft>
                <a:spcPts val="0"/>
              </a:spcAft>
              <a:buClr>
                <a:srgbClr val="FF0066"/>
              </a:buClr>
              <a:buSzPts val="2400"/>
              <a:buChar char="•"/>
            </a:pPr>
            <a:r>
              <a:rPr b="1" lang="en-US">
                <a:solidFill>
                  <a:srgbClr val="FF0066"/>
                </a:solidFill>
                <a:latin typeface="Times New Roman"/>
                <a:ea typeface="Times New Roman"/>
                <a:cs typeface="Times New Roman"/>
                <a:sym typeface="Times New Roman"/>
              </a:rPr>
              <a:t>Effectiveness </a:t>
            </a:r>
            <a:r>
              <a:rPr lang="en-US">
                <a:latin typeface="Times New Roman"/>
                <a:ea typeface="Times New Roman"/>
                <a:cs typeface="Times New Roman"/>
                <a:sym typeface="Times New Roman"/>
              </a:rPr>
              <a:t>= accomplish tasks that help to fulfill organizational objectives</a:t>
            </a:r>
            <a:endParaRPr/>
          </a:p>
          <a:p>
            <a:pPr indent="-342900" lvl="0" marL="342900" rtl="0" algn="r">
              <a:spcBef>
                <a:spcPts val="480"/>
              </a:spcBef>
              <a:spcAft>
                <a:spcPts val="0"/>
              </a:spcAft>
              <a:buClr>
                <a:srgbClr val="00B050"/>
              </a:buClr>
              <a:buSzPts val="2400"/>
              <a:buChar char="•"/>
            </a:pPr>
            <a:r>
              <a:rPr lang="en-US">
                <a:solidFill>
                  <a:srgbClr val="00B050"/>
                </a:solidFill>
                <a:latin typeface="Times New Roman"/>
                <a:ea typeface="Times New Roman"/>
                <a:cs typeface="Times New Roman"/>
                <a:sym typeface="Times New Roman"/>
              </a:rPr>
              <a:t>(make the right decisions and successfully carry them out to accomplish the organisational goal)</a:t>
            </a:r>
            <a:endParaRPr>
              <a:solidFill>
                <a:srgbClr val="00B050"/>
              </a:solidFill>
              <a:latin typeface="Times New Roman"/>
              <a:ea typeface="Times New Roman"/>
              <a:cs typeface="Times New Roman"/>
              <a:sym typeface="Times New Roman"/>
            </a:endParaRPr>
          </a:p>
          <a:p>
            <a:pPr indent="-190500" lvl="0" marL="342900" rtl="0" algn="l">
              <a:spcBef>
                <a:spcPts val="480"/>
              </a:spcBef>
              <a:spcAft>
                <a:spcPts val="0"/>
              </a:spcAft>
              <a:buClr>
                <a:schemeClr val="dk1"/>
              </a:buClr>
              <a:buSzPts val="2400"/>
              <a:buNone/>
            </a:pPr>
            <a:r>
              <a:t/>
            </a:r>
            <a:endParaRPr>
              <a:solidFill>
                <a:srgbClr val="00B050"/>
              </a:solidFill>
            </a:endParaRPr>
          </a:p>
        </p:txBody>
      </p:sp>
      <p:sp>
        <p:nvSpPr>
          <p:cNvPr id="130" name="Google Shape;130;p6"/>
          <p:cNvSpPr/>
          <p:nvPr/>
        </p:nvSpPr>
        <p:spPr>
          <a:xfrm flipH="1" rot="-5400000">
            <a:off x="2107389" y="3607595"/>
            <a:ext cx="5214974" cy="285752"/>
          </a:xfrm>
          <a:prstGeom prst="halfFrame">
            <a:avLst>
              <a:gd fmla="val 33333" name="adj1"/>
              <a:gd fmla="val 33333"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0066"/>
              </a:buClr>
              <a:buSzPts val="3959"/>
              <a:buFont typeface="Constantia"/>
              <a:buNone/>
            </a:pPr>
            <a:r>
              <a:rPr b="1" lang="en-US" sz="3959">
                <a:solidFill>
                  <a:srgbClr val="FF0066"/>
                </a:solidFill>
                <a:latin typeface="Constantia"/>
                <a:ea typeface="Constantia"/>
                <a:cs typeface="Constantia"/>
                <a:sym typeface="Constantia"/>
              </a:rPr>
              <a:t>Efficiency</a:t>
            </a:r>
            <a:r>
              <a:rPr b="1" lang="en-US" sz="3959">
                <a:latin typeface="Constantia"/>
                <a:ea typeface="Constantia"/>
                <a:cs typeface="Constantia"/>
                <a:sym typeface="Constantia"/>
              </a:rPr>
              <a:t> and </a:t>
            </a:r>
            <a:r>
              <a:rPr b="1" lang="en-US" sz="3959">
                <a:solidFill>
                  <a:srgbClr val="0070C0"/>
                </a:solidFill>
                <a:latin typeface="Constantia"/>
                <a:ea typeface="Constantia"/>
                <a:cs typeface="Constantia"/>
                <a:sym typeface="Constantia"/>
              </a:rPr>
              <a:t>Effectiveness</a:t>
            </a:r>
            <a:r>
              <a:rPr b="1" lang="en-US" sz="3959">
                <a:latin typeface="Constantia"/>
                <a:ea typeface="Constantia"/>
                <a:cs typeface="Constantia"/>
                <a:sym typeface="Constantia"/>
              </a:rPr>
              <a:t> in Management</a:t>
            </a:r>
            <a:endParaRPr b="1" sz="3959">
              <a:latin typeface="Constantia"/>
              <a:ea typeface="Constantia"/>
              <a:cs typeface="Constantia"/>
              <a:sym typeface="Constantia"/>
            </a:endParaRPr>
          </a:p>
        </p:txBody>
      </p:sp>
      <p:sp>
        <p:nvSpPr>
          <p:cNvPr id="136" name="Google Shape;136;p7"/>
          <p:cNvSpPr/>
          <p:nvPr/>
        </p:nvSpPr>
        <p:spPr>
          <a:xfrm>
            <a:off x="2143108" y="3071810"/>
            <a:ext cx="2000264" cy="1000132"/>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400" u="none" cap="none" strike="noStrike">
                <a:solidFill>
                  <a:schemeClr val="dk1"/>
                </a:solidFill>
                <a:latin typeface="Teko"/>
                <a:ea typeface="Teko"/>
                <a:cs typeface="Teko"/>
                <a:sym typeface="Teko"/>
              </a:rPr>
              <a:t>Resource Usage</a:t>
            </a:r>
            <a:endParaRPr b="1" i="0" sz="2400" u="none" cap="none" strike="noStrike">
              <a:solidFill>
                <a:schemeClr val="dk1"/>
              </a:solidFill>
              <a:latin typeface="Teko"/>
              <a:ea typeface="Teko"/>
              <a:cs typeface="Teko"/>
              <a:sym typeface="Teko"/>
            </a:endParaRPr>
          </a:p>
        </p:txBody>
      </p:sp>
      <p:sp>
        <p:nvSpPr>
          <p:cNvPr id="137" name="Google Shape;137;p7"/>
          <p:cNvSpPr/>
          <p:nvPr/>
        </p:nvSpPr>
        <p:spPr>
          <a:xfrm>
            <a:off x="5000628" y="3071810"/>
            <a:ext cx="2000264" cy="1000132"/>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400" u="none" cap="none" strike="noStrike">
                <a:solidFill>
                  <a:schemeClr val="dk1"/>
                </a:solidFill>
                <a:latin typeface="Teko"/>
                <a:ea typeface="Teko"/>
                <a:cs typeface="Teko"/>
                <a:sym typeface="Teko"/>
              </a:rPr>
              <a:t>Goal Attainment</a:t>
            </a:r>
            <a:endParaRPr b="1" i="0" sz="2400" u="none" cap="none" strike="noStrike">
              <a:solidFill>
                <a:schemeClr val="dk1"/>
              </a:solidFill>
              <a:latin typeface="Teko"/>
              <a:ea typeface="Teko"/>
              <a:cs typeface="Teko"/>
              <a:sym typeface="Teko"/>
            </a:endParaRPr>
          </a:p>
        </p:txBody>
      </p:sp>
      <p:sp>
        <p:nvSpPr>
          <p:cNvPr id="138" name="Google Shape;138;p7"/>
          <p:cNvSpPr/>
          <p:nvPr/>
        </p:nvSpPr>
        <p:spPr>
          <a:xfrm>
            <a:off x="2143108" y="5214950"/>
            <a:ext cx="4857784" cy="1071570"/>
          </a:xfrm>
          <a:prstGeom prst="rect">
            <a:avLst/>
          </a:prstGeom>
          <a:solidFill>
            <a:srgbClr val="29DAE3"/>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chemeClr val="dk1"/>
                </a:solidFill>
                <a:latin typeface="Century Gothic"/>
                <a:ea typeface="Century Gothic"/>
                <a:cs typeface="Century Gothic"/>
                <a:sym typeface="Century Gothic"/>
              </a:rPr>
              <a:t>Management Strives for:</a:t>
            </a:r>
            <a:endParaRPr/>
          </a:p>
          <a:p>
            <a:pPr indent="0" lvl="0" marL="0" marR="0" rtl="0" algn="ctr">
              <a:spcBef>
                <a:spcPts val="0"/>
              </a:spcBef>
              <a:spcAft>
                <a:spcPts val="0"/>
              </a:spcAft>
              <a:buNone/>
            </a:pPr>
            <a:r>
              <a:rPr b="1" i="0" lang="en-US" sz="1800" u="none" cap="none" strike="noStrike">
                <a:solidFill>
                  <a:srgbClr val="0000FF"/>
                </a:solidFill>
                <a:latin typeface="Constantia"/>
                <a:ea typeface="Constantia"/>
                <a:cs typeface="Constantia"/>
                <a:sym typeface="Constantia"/>
              </a:rPr>
              <a:t>Low Resource Waste</a:t>
            </a:r>
            <a:r>
              <a:rPr b="1" i="0" lang="en-US" sz="1800" u="none" cap="none" strike="noStrike">
                <a:solidFill>
                  <a:schemeClr val="lt1"/>
                </a:solidFill>
                <a:latin typeface="Constantia"/>
                <a:ea typeface="Constantia"/>
                <a:cs typeface="Constantia"/>
                <a:sym typeface="Constantia"/>
              </a:rPr>
              <a:t> (</a:t>
            </a:r>
            <a:r>
              <a:rPr b="1" i="0" lang="en-US" sz="1800" u="none" cap="none" strike="noStrike">
                <a:solidFill>
                  <a:srgbClr val="0070C0"/>
                </a:solidFill>
                <a:latin typeface="Constantia"/>
                <a:ea typeface="Constantia"/>
                <a:cs typeface="Constantia"/>
                <a:sym typeface="Constantia"/>
              </a:rPr>
              <a:t>high efficiency</a:t>
            </a:r>
            <a:r>
              <a:rPr b="1" i="0" lang="en-US" sz="1800" u="none" cap="none" strike="noStrike">
                <a:solidFill>
                  <a:schemeClr val="lt1"/>
                </a:solidFill>
                <a:latin typeface="Constantia"/>
                <a:ea typeface="Constantia"/>
                <a:cs typeface="Constantia"/>
                <a:sym typeface="Constantia"/>
              </a:rPr>
              <a:t>)</a:t>
            </a:r>
            <a:endParaRPr/>
          </a:p>
          <a:p>
            <a:pPr indent="0" lvl="0" marL="0" marR="0" rtl="0" algn="ctr">
              <a:spcBef>
                <a:spcPts val="0"/>
              </a:spcBef>
              <a:spcAft>
                <a:spcPts val="0"/>
              </a:spcAft>
              <a:buNone/>
            </a:pPr>
            <a:r>
              <a:rPr b="1" i="0" lang="en-US" sz="1800" u="none" cap="none" strike="noStrike">
                <a:solidFill>
                  <a:srgbClr val="632423"/>
                </a:solidFill>
                <a:latin typeface="Constantia"/>
                <a:ea typeface="Constantia"/>
                <a:cs typeface="Constantia"/>
                <a:sym typeface="Constantia"/>
              </a:rPr>
              <a:t>High Goal Attainment </a:t>
            </a:r>
            <a:r>
              <a:rPr b="1" i="0" lang="en-US" sz="1800" u="none" cap="none" strike="noStrike">
                <a:solidFill>
                  <a:schemeClr val="lt1"/>
                </a:solidFill>
                <a:latin typeface="Constantia"/>
                <a:ea typeface="Constantia"/>
                <a:cs typeface="Constantia"/>
                <a:sym typeface="Constantia"/>
              </a:rPr>
              <a:t>(</a:t>
            </a:r>
            <a:r>
              <a:rPr b="1" i="0" lang="en-US" sz="1800" u="none" cap="none" strike="noStrike">
                <a:solidFill>
                  <a:srgbClr val="953734"/>
                </a:solidFill>
                <a:latin typeface="Constantia"/>
                <a:ea typeface="Constantia"/>
                <a:cs typeface="Constantia"/>
                <a:sym typeface="Constantia"/>
              </a:rPr>
              <a:t>high effectiveness</a:t>
            </a:r>
            <a:r>
              <a:rPr b="1" i="0" lang="en-US" sz="1800" u="none" cap="none" strike="noStrike">
                <a:solidFill>
                  <a:schemeClr val="lt1"/>
                </a:solidFill>
                <a:latin typeface="Constantia"/>
                <a:ea typeface="Constantia"/>
                <a:cs typeface="Constantia"/>
                <a:sym typeface="Constantia"/>
              </a:rPr>
              <a:t>)</a:t>
            </a:r>
            <a:endParaRPr b="1" i="0" sz="1800" u="none" cap="none" strike="noStrike">
              <a:solidFill>
                <a:schemeClr val="lt1"/>
              </a:solidFill>
              <a:latin typeface="Constantia"/>
              <a:ea typeface="Constantia"/>
              <a:cs typeface="Constantia"/>
              <a:sym typeface="Constantia"/>
            </a:endParaRPr>
          </a:p>
        </p:txBody>
      </p:sp>
      <p:sp>
        <p:nvSpPr>
          <p:cNvPr id="139" name="Google Shape;139;p7"/>
          <p:cNvSpPr txBox="1"/>
          <p:nvPr/>
        </p:nvSpPr>
        <p:spPr>
          <a:xfrm>
            <a:off x="2357422" y="4214818"/>
            <a:ext cx="1714512"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000" u="none" cap="none" strike="noStrike">
                <a:solidFill>
                  <a:srgbClr val="00FF00"/>
                </a:solidFill>
                <a:latin typeface="Calibri"/>
                <a:ea typeface="Calibri"/>
                <a:cs typeface="Calibri"/>
                <a:sym typeface="Calibri"/>
              </a:rPr>
              <a:t>Low Waste</a:t>
            </a:r>
            <a:endParaRPr b="1" i="0" sz="2000" u="none" cap="none" strike="noStrike">
              <a:solidFill>
                <a:srgbClr val="00FF00"/>
              </a:solidFill>
              <a:latin typeface="Calibri"/>
              <a:ea typeface="Calibri"/>
              <a:cs typeface="Calibri"/>
              <a:sym typeface="Calibri"/>
            </a:endParaRPr>
          </a:p>
        </p:txBody>
      </p:sp>
      <p:sp>
        <p:nvSpPr>
          <p:cNvPr id="140" name="Google Shape;140;p7"/>
          <p:cNvSpPr txBox="1"/>
          <p:nvPr/>
        </p:nvSpPr>
        <p:spPr>
          <a:xfrm>
            <a:off x="4929190" y="4214818"/>
            <a:ext cx="2214578"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000" u="none" cap="none" strike="noStrike">
                <a:solidFill>
                  <a:srgbClr val="00FF00"/>
                </a:solidFill>
                <a:latin typeface="Calibri"/>
                <a:ea typeface="Calibri"/>
                <a:cs typeface="Calibri"/>
                <a:sym typeface="Calibri"/>
              </a:rPr>
              <a:t>High Attainment</a:t>
            </a:r>
            <a:endParaRPr b="1" i="0" sz="2000" u="none" cap="none" strike="noStrike">
              <a:solidFill>
                <a:srgbClr val="00FF00"/>
              </a:solidFill>
              <a:latin typeface="Calibri"/>
              <a:ea typeface="Calibri"/>
              <a:cs typeface="Calibri"/>
              <a:sym typeface="Calibri"/>
            </a:endParaRPr>
          </a:p>
        </p:txBody>
      </p:sp>
      <p:sp>
        <p:nvSpPr>
          <p:cNvPr id="141" name="Google Shape;141;p7"/>
          <p:cNvSpPr/>
          <p:nvPr/>
        </p:nvSpPr>
        <p:spPr>
          <a:xfrm>
            <a:off x="3000364" y="4643446"/>
            <a:ext cx="357190" cy="357190"/>
          </a:xfrm>
          <a:prstGeom prst="downArrow">
            <a:avLst>
              <a:gd fmla="val 50000" name="adj1"/>
              <a:gd fmla="val 50000" name="adj2"/>
            </a:avLst>
          </a:prstGeom>
          <a:solidFill>
            <a:srgbClr val="9933FF"/>
          </a:solidFill>
          <a:ln cap="flat" cmpd="sng" w="25400">
            <a:solidFill>
              <a:srgbClr val="9933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2" name="Google Shape;142;p7"/>
          <p:cNvSpPr/>
          <p:nvPr/>
        </p:nvSpPr>
        <p:spPr>
          <a:xfrm>
            <a:off x="5786446" y="4643446"/>
            <a:ext cx="357190" cy="357190"/>
          </a:xfrm>
          <a:prstGeom prst="downArrow">
            <a:avLst>
              <a:gd fmla="val 50000" name="adj1"/>
              <a:gd fmla="val 50000" name="adj2"/>
            </a:avLst>
          </a:prstGeom>
          <a:solidFill>
            <a:srgbClr val="9933FF"/>
          </a:solidFill>
          <a:ln cap="flat" cmpd="sng" w="25400">
            <a:solidFill>
              <a:srgbClr val="9933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http://t3.gstatic.com/images?q=tbn:LmkHxAirU-hz7M:http://abmagic.com/Goals/files/page19_1.jpg" id="143" name="Google Shape;143;p7">
            <a:hlinkClick r:id="rId3"/>
          </p:cNvPr>
          <p:cNvPicPr preferRelativeResize="0"/>
          <p:nvPr/>
        </p:nvPicPr>
        <p:blipFill rotWithShape="1">
          <a:blip r:embed="rId4">
            <a:alphaModFix/>
          </a:blip>
          <a:srcRect b="0" l="0" r="0" t="75529"/>
          <a:stretch/>
        </p:blipFill>
        <p:spPr>
          <a:xfrm>
            <a:off x="3643306" y="1857364"/>
            <a:ext cx="1857388" cy="428628"/>
          </a:xfrm>
          <a:prstGeom prst="rect">
            <a:avLst/>
          </a:prstGeom>
          <a:noFill/>
          <a:ln>
            <a:noFill/>
          </a:ln>
        </p:spPr>
      </p:pic>
      <p:sp>
        <p:nvSpPr>
          <p:cNvPr id="144" name="Google Shape;144;p7"/>
          <p:cNvSpPr txBox="1"/>
          <p:nvPr/>
        </p:nvSpPr>
        <p:spPr>
          <a:xfrm>
            <a:off x="2000232" y="2214554"/>
            <a:ext cx="2428892"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000" u="none" cap="none" strike="noStrike">
                <a:solidFill>
                  <a:srgbClr val="0070C0"/>
                </a:solidFill>
                <a:latin typeface="Calibri"/>
                <a:ea typeface="Calibri"/>
                <a:cs typeface="Calibri"/>
                <a:sym typeface="Calibri"/>
              </a:rPr>
              <a:t>Efficiency</a:t>
            </a:r>
            <a:r>
              <a:rPr b="1" i="0" lang="en-US" sz="2000" u="none" cap="none" strike="noStrike">
                <a:solidFill>
                  <a:schemeClr val="dk1"/>
                </a:solidFill>
                <a:latin typeface="Calibri"/>
                <a:ea typeface="Calibri"/>
                <a:cs typeface="Calibri"/>
                <a:sym typeface="Calibri"/>
              </a:rPr>
              <a:t> (Means)</a:t>
            </a:r>
            <a:endParaRPr b="1" i="0" sz="2000" u="none" cap="none" strike="noStrike">
              <a:solidFill>
                <a:schemeClr val="dk1"/>
              </a:solidFill>
              <a:latin typeface="Calibri"/>
              <a:ea typeface="Calibri"/>
              <a:cs typeface="Calibri"/>
              <a:sym typeface="Calibri"/>
            </a:endParaRPr>
          </a:p>
        </p:txBody>
      </p:sp>
      <p:sp>
        <p:nvSpPr>
          <p:cNvPr id="145" name="Google Shape;145;p7"/>
          <p:cNvSpPr txBox="1"/>
          <p:nvPr/>
        </p:nvSpPr>
        <p:spPr>
          <a:xfrm>
            <a:off x="4500562" y="2221048"/>
            <a:ext cx="2428892"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000" u="none" cap="none" strike="noStrike">
                <a:solidFill>
                  <a:srgbClr val="FF0066"/>
                </a:solidFill>
                <a:latin typeface="Calibri"/>
                <a:ea typeface="Calibri"/>
                <a:cs typeface="Calibri"/>
                <a:sym typeface="Calibri"/>
              </a:rPr>
              <a:t>Effectiveness </a:t>
            </a:r>
            <a:r>
              <a:rPr b="1" i="0" lang="en-US" sz="2000" u="none" cap="none" strike="noStrike">
                <a:solidFill>
                  <a:schemeClr val="dk1"/>
                </a:solidFill>
                <a:latin typeface="Calibri"/>
                <a:ea typeface="Calibri"/>
                <a:cs typeface="Calibri"/>
                <a:sym typeface="Calibri"/>
              </a:rPr>
              <a:t>(Ends)</a:t>
            </a:r>
            <a:endParaRPr b="1" i="0" sz="2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0066"/>
              </a:buClr>
              <a:buSzPts val="4400"/>
              <a:buFont typeface="Century"/>
              <a:buNone/>
            </a:pPr>
            <a:r>
              <a:rPr lang="en-US">
                <a:solidFill>
                  <a:srgbClr val="FF0066"/>
                </a:solidFill>
                <a:latin typeface="Century"/>
                <a:ea typeface="Century"/>
                <a:cs typeface="Century"/>
                <a:sym typeface="Century"/>
              </a:rPr>
              <a:t>Definitions….At a Glance</a:t>
            </a:r>
            <a:endParaRPr>
              <a:solidFill>
                <a:srgbClr val="FF0066"/>
              </a:solidFill>
              <a:latin typeface="Century"/>
              <a:ea typeface="Century"/>
              <a:cs typeface="Century"/>
              <a:sym typeface="Century"/>
            </a:endParaRPr>
          </a:p>
        </p:txBody>
      </p:sp>
      <p:sp>
        <p:nvSpPr>
          <p:cNvPr id="151" name="Google Shape;151;p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80000"/>
              </a:lnSpc>
              <a:spcBef>
                <a:spcPts val="0"/>
              </a:spcBef>
              <a:spcAft>
                <a:spcPts val="0"/>
              </a:spcAft>
              <a:buClr>
                <a:srgbClr val="0000FF"/>
              </a:buClr>
              <a:buSzPts val="2040"/>
              <a:buChar char="•"/>
            </a:pPr>
            <a:r>
              <a:rPr lang="en-US" sz="2040">
                <a:solidFill>
                  <a:srgbClr val="0000FF"/>
                </a:solidFill>
                <a:latin typeface="Algerian"/>
                <a:ea typeface="Algerian"/>
                <a:cs typeface="Algerian"/>
                <a:sym typeface="Algerian"/>
              </a:rPr>
              <a:t>Mary Parker Follett</a:t>
            </a:r>
            <a:r>
              <a:rPr b="1" lang="en-US" sz="2040">
                <a:solidFill>
                  <a:srgbClr val="0000FF"/>
                </a:solidFill>
              </a:rPr>
              <a:t>:</a:t>
            </a:r>
            <a:r>
              <a:rPr lang="en-US" sz="2040">
                <a:solidFill>
                  <a:srgbClr val="0000FF"/>
                </a:solidFill>
              </a:rPr>
              <a:t> </a:t>
            </a:r>
            <a:endParaRPr/>
          </a:p>
          <a:p>
            <a:pPr indent="-342900" lvl="0" marL="342900" rtl="0" algn="just">
              <a:lnSpc>
                <a:spcPct val="80000"/>
              </a:lnSpc>
              <a:spcBef>
                <a:spcPts val="408"/>
              </a:spcBef>
              <a:spcAft>
                <a:spcPts val="0"/>
              </a:spcAft>
              <a:buClr>
                <a:schemeClr val="dk1"/>
              </a:buClr>
              <a:buSzPts val="2040"/>
              <a:buNone/>
            </a:pPr>
            <a:r>
              <a:rPr lang="en-US" sz="2040"/>
              <a:t>      </a:t>
            </a:r>
            <a:r>
              <a:rPr lang="en-US" sz="2040">
                <a:latin typeface="Times New Roman"/>
                <a:ea typeface="Times New Roman"/>
                <a:cs typeface="Times New Roman"/>
                <a:sym typeface="Times New Roman"/>
              </a:rPr>
              <a:t>“Management is the art of getting things done through others.” </a:t>
            </a:r>
            <a:endParaRPr/>
          </a:p>
          <a:p>
            <a:pPr indent="-342900" lvl="0" marL="342900" rtl="0" algn="just">
              <a:lnSpc>
                <a:spcPct val="80000"/>
              </a:lnSpc>
              <a:spcBef>
                <a:spcPts val="408"/>
              </a:spcBef>
              <a:spcAft>
                <a:spcPts val="0"/>
              </a:spcAft>
              <a:buClr>
                <a:schemeClr val="dk1"/>
              </a:buClr>
              <a:buSzPts val="2040"/>
              <a:buNone/>
            </a:pPr>
            <a:r>
              <a:t/>
            </a:r>
            <a:endParaRPr sz="2040">
              <a:latin typeface="Times New Roman"/>
              <a:ea typeface="Times New Roman"/>
              <a:cs typeface="Times New Roman"/>
              <a:sym typeface="Times New Roman"/>
            </a:endParaRPr>
          </a:p>
          <a:p>
            <a:pPr indent="-342900" lvl="0" marL="342900" rtl="0" algn="just">
              <a:lnSpc>
                <a:spcPct val="80000"/>
              </a:lnSpc>
              <a:spcBef>
                <a:spcPts val="408"/>
              </a:spcBef>
              <a:spcAft>
                <a:spcPts val="0"/>
              </a:spcAft>
              <a:buClr>
                <a:srgbClr val="0000FF"/>
              </a:buClr>
              <a:buSzPts val="2040"/>
              <a:buChar char="•"/>
            </a:pPr>
            <a:r>
              <a:rPr lang="en-US" sz="2040">
                <a:solidFill>
                  <a:srgbClr val="0000FF"/>
                </a:solidFill>
                <a:latin typeface="Algerian"/>
                <a:ea typeface="Algerian"/>
                <a:cs typeface="Algerian"/>
                <a:sym typeface="Algerian"/>
              </a:rPr>
              <a:t>Harold Koontz:</a:t>
            </a:r>
            <a:endParaRPr sz="2040">
              <a:solidFill>
                <a:srgbClr val="0000FF"/>
              </a:solidFill>
              <a:latin typeface="Algerian"/>
              <a:ea typeface="Algerian"/>
              <a:cs typeface="Algerian"/>
              <a:sym typeface="Algerian"/>
            </a:endParaRPr>
          </a:p>
          <a:p>
            <a:pPr indent="-342900" lvl="0" marL="342900" rtl="0" algn="just">
              <a:lnSpc>
                <a:spcPct val="80000"/>
              </a:lnSpc>
              <a:spcBef>
                <a:spcPts val="408"/>
              </a:spcBef>
              <a:spcAft>
                <a:spcPts val="0"/>
              </a:spcAft>
              <a:buClr>
                <a:schemeClr val="dk1"/>
              </a:buClr>
              <a:buSzPts val="2040"/>
              <a:buNone/>
            </a:pPr>
            <a:r>
              <a:rPr lang="en-US" sz="2040"/>
              <a:t>    </a:t>
            </a:r>
            <a:r>
              <a:rPr lang="en-US" sz="2040">
                <a:latin typeface="Times New Roman"/>
                <a:ea typeface="Times New Roman"/>
                <a:cs typeface="Times New Roman"/>
                <a:sym typeface="Times New Roman"/>
              </a:rPr>
              <a:t>“Management is the art of getting things done through and with people in formally organized groups.”</a:t>
            </a:r>
            <a:endParaRPr/>
          </a:p>
          <a:p>
            <a:pPr indent="-342900" lvl="0" marL="342900" rtl="0" algn="just">
              <a:lnSpc>
                <a:spcPct val="80000"/>
              </a:lnSpc>
              <a:spcBef>
                <a:spcPts val="408"/>
              </a:spcBef>
              <a:spcAft>
                <a:spcPts val="0"/>
              </a:spcAft>
              <a:buClr>
                <a:schemeClr val="dk1"/>
              </a:buClr>
              <a:buSzPts val="2040"/>
              <a:buNone/>
            </a:pPr>
            <a:r>
              <a:t/>
            </a:r>
            <a:endParaRPr sz="2040">
              <a:latin typeface="Times New Roman"/>
              <a:ea typeface="Times New Roman"/>
              <a:cs typeface="Times New Roman"/>
              <a:sym typeface="Times New Roman"/>
            </a:endParaRPr>
          </a:p>
          <a:p>
            <a:pPr indent="-342900" lvl="0" marL="342900" rtl="0" algn="just">
              <a:lnSpc>
                <a:spcPct val="80000"/>
              </a:lnSpc>
              <a:spcBef>
                <a:spcPts val="408"/>
              </a:spcBef>
              <a:spcAft>
                <a:spcPts val="0"/>
              </a:spcAft>
              <a:buClr>
                <a:schemeClr val="dk1"/>
              </a:buClr>
              <a:buSzPts val="2040"/>
              <a:buChar char="•"/>
            </a:pPr>
            <a:r>
              <a:rPr lang="en-US" sz="2040">
                <a:latin typeface="Times New Roman"/>
                <a:ea typeface="Times New Roman"/>
                <a:cs typeface="Times New Roman"/>
                <a:sym typeface="Times New Roman"/>
              </a:rPr>
              <a:t> </a:t>
            </a:r>
            <a:r>
              <a:rPr lang="en-US" sz="2040" u="sng">
                <a:solidFill>
                  <a:srgbClr val="0000FF"/>
                </a:solidFill>
                <a:latin typeface="Algerian"/>
                <a:ea typeface="Algerian"/>
                <a:cs typeface="Algerian"/>
                <a:sym typeface="Algerian"/>
              </a:rPr>
              <a:t>According to Harold Koontz and Heinz Weihrich</a:t>
            </a:r>
            <a:r>
              <a:rPr lang="en-US" sz="2040">
                <a:latin typeface="Times New Roman"/>
                <a:ea typeface="Times New Roman"/>
                <a:cs typeface="Times New Roman"/>
                <a:sym typeface="Times New Roman"/>
              </a:rPr>
              <a:t>, “Management is the process of designing and maintaining an environment in which individuals, working together in groups, efficiently accomplish selected aims.”</a:t>
            </a:r>
            <a:endParaRPr/>
          </a:p>
          <a:p>
            <a:pPr indent="-342900" lvl="0" marL="342900" rtl="0" algn="just">
              <a:lnSpc>
                <a:spcPct val="80000"/>
              </a:lnSpc>
              <a:spcBef>
                <a:spcPts val="408"/>
              </a:spcBef>
              <a:spcAft>
                <a:spcPts val="0"/>
              </a:spcAft>
              <a:buClr>
                <a:schemeClr val="dk1"/>
              </a:buClr>
              <a:buSzPts val="2040"/>
              <a:buNone/>
            </a:pPr>
            <a:r>
              <a:t/>
            </a:r>
            <a:endParaRPr sz="2040">
              <a:latin typeface="Times New Roman"/>
              <a:ea typeface="Times New Roman"/>
              <a:cs typeface="Times New Roman"/>
              <a:sym typeface="Times New Roman"/>
            </a:endParaRPr>
          </a:p>
          <a:p>
            <a:pPr indent="-342900" lvl="0" marL="342900" rtl="0" algn="just">
              <a:lnSpc>
                <a:spcPct val="80000"/>
              </a:lnSpc>
              <a:spcBef>
                <a:spcPts val="408"/>
              </a:spcBef>
              <a:spcAft>
                <a:spcPts val="0"/>
              </a:spcAft>
              <a:buClr>
                <a:srgbClr val="0000FF"/>
              </a:buClr>
              <a:buSzPts val="2040"/>
              <a:buChar char="•"/>
            </a:pPr>
            <a:r>
              <a:rPr lang="en-US" sz="2040">
                <a:solidFill>
                  <a:srgbClr val="0000FF"/>
                </a:solidFill>
                <a:latin typeface="Algerian"/>
                <a:ea typeface="Algerian"/>
                <a:cs typeface="Algerian"/>
                <a:sym typeface="Algerian"/>
              </a:rPr>
              <a:t>According to Kreitner</a:t>
            </a:r>
            <a:r>
              <a:rPr lang="en-US" sz="2040">
                <a:latin typeface="Times New Roman"/>
                <a:ea typeface="Times New Roman"/>
                <a:cs typeface="Times New Roman"/>
                <a:sym typeface="Times New Roman"/>
              </a:rPr>
              <a:t>, “Management is the process of working with and through others to effectively achieve organisational objectives by efficiently using limited resources in the changing environment.</a:t>
            </a:r>
            <a:endParaRPr sz="204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rgbClr val="0000FF"/>
              </a:buClr>
              <a:buSzPts val="2400"/>
              <a:buChar char="•"/>
            </a:pPr>
            <a:r>
              <a:rPr i="1" lang="en-US" sz="2400">
                <a:solidFill>
                  <a:srgbClr val="0000FF"/>
                </a:solidFill>
                <a:latin typeface="Times New Roman"/>
                <a:ea typeface="Times New Roman"/>
                <a:cs typeface="Times New Roman"/>
                <a:sym typeface="Times New Roman"/>
              </a:rPr>
              <a:t>Management is the attainment of organizational goals in an effective and efficient manner through planning, organizing, staffing, coordinating, directing and controlling organizational resources.</a:t>
            </a:r>
            <a:endParaRPr/>
          </a:p>
          <a:p>
            <a:pPr indent="-342900" lvl="0" marL="342900" rtl="0" algn="just">
              <a:spcBef>
                <a:spcPts val="480"/>
              </a:spcBef>
              <a:spcAft>
                <a:spcPts val="0"/>
              </a:spcAft>
              <a:buClr>
                <a:schemeClr val="dk1"/>
              </a:buClr>
              <a:buSzPts val="2400"/>
              <a:buNone/>
            </a:pPr>
            <a:r>
              <a:t/>
            </a:r>
            <a:endParaRPr sz="2400">
              <a:latin typeface="Times New Roman"/>
              <a:ea typeface="Times New Roman"/>
              <a:cs typeface="Times New Roman"/>
              <a:sym typeface="Times New Roman"/>
            </a:endParaRPr>
          </a:p>
          <a:p>
            <a:pPr indent="-342900" lvl="0" marL="342900" rtl="0" algn="just">
              <a:spcBef>
                <a:spcPts val="480"/>
              </a:spcBef>
              <a:spcAft>
                <a:spcPts val="0"/>
              </a:spcAft>
              <a:buClr>
                <a:srgbClr val="C00000"/>
              </a:buClr>
              <a:buSzPts val="2400"/>
              <a:buNone/>
            </a:pPr>
            <a:r>
              <a:rPr lang="en-US" sz="2400">
                <a:solidFill>
                  <a:srgbClr val="C00000"/>
                </a:solidFill>
                <a:latin typeface="Times New Roman"/>
                <a:ea typeface="Times New Roman"/>
                <a:cs typeface="Times New Roman"/>
                <a:sym typeface="Times New Roman"/>
              </a:rPr>
              <a:t>    Organizational resources include men(human beings), money, machines, methods and materials.</a:t>
            </a:r>
            <a:endParaRPr/>
          </a:p>
        </p:txBody>
      </p:sp>
      <p:sp>
        <p:nvSpPr>
          <p:cNvPr id="157" name="Google Shape;157;p9"/>
          <p:cNvSpPr/>
          <p:nvPr/>
        </p:nvSpPr>
        <p:spPr>
          <a:xfrm>
            <a:off x="714348" y="3357562"/>
            <a:ext cx="571504" cy="1285884"/>
          </a:xfrm>
          <a:prstGeom prst="leftBracket">
            <a:avLst>
              <a:gd fmla="val 8333" name="adj"/>
            </a:avLst>
          </a:prstGeom>
          <a:noFill/>
          <a:ln cap="flat" cmpd="sng" w="9525">
            <a:solidFill>
              <a:srgbClr val="4A7D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8" name="Google Shape;158;p9"/>
          <p:cNvSpPr/>
          <p:nvPr/>
        </p:nvSpPr>
        <p:spPr>
          <a:xfrm>
            <a:off x="8215338" y="3357562"/>
            <a:ext cx="500066" cy="1214446"/>
          </a:xfrm>
          <a:prstGeom prst="rightBracket">
            <a:avLst>
              <a:gd fmla="val 8333" name="adj"/>
            </a:avLst>
          </a:prstGeom>
          <a:noFill/>
          <a:ln cap="flat" cmpd="sng" w="9525">
            <a:solidFill>
              <a:srgbClr val="4A7D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xEl>
                                              <p:pRg end="0" st="0"/>
                                            </p:txEl>
                                          </p:spTgt>
                                        </p:tgtEl>
                                        <p:attrNameLst>
                                          <p:attrName>style.visibility</p:attrName>
                                        </p:attrNameLst>
                                      </p:cBhvr>
                                      <p:to>
                                        <p:strVal val="visible"/>
                                      </p:to>
                                    </p:set>
                                    <p:animEffect filter="fade" transition="in">
                                      <p:cBhvr>
                                        <p:cTn dur="2000"/>
                                        <p:tgtEl>
                                          <p:spTgt spid="15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xEl>
                                              <p:pRg end="1" st="1"/>
                                            </p:txEl>
                                          </p:spTgt>
                                        </p:tgtEl>
                                        <p:attrNameLst>
                                          <p:attrName>style.visibility</p:attrName>
                                        </p:attrNameLst>
                                      </p:cBhvr>
                                      <p:to>
                                        <p:strVal val="visible"/>
                                      </p:to>
                                    </p:set>
                                    <p:animEffect filter="fade" transition="in">
                                      <p:cBhvr>
                                        <p:cTn dur="2000"/>
                                        <p:tgtEl>
                                          <p:spTgt spid="15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xEl>
                                              <p:pRg end="2" st="2"/>
                                            </p:txEl>
                                          </p:spTgt>
                                        </p:tgtEl>
                                        <p:attrNameLst>
                                          <p:attrName>style.visibility</p:attrName>
                                        </p:attrNameLst>
                                      </p:cBhvr>
                                      <p:to>
                                        <p:strVal val="visible"/>
                                      </p:to>
                                    </p:set>
                                    <p:animEffect filter="fade" transition="in">
                                      <p:cBhvr>
                                        <p:cTn dur="2000"/>
                                        <p:tgtEl>
                                          <p:spTgt spid="156">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0066"/>
              </a:buClr>
              <a:buSzPts val="4400"/>
              <a:buFont typeface="Aharoni"/>
              <a:buNone/>
            </a:pPr>
            <a:r>
              <a:rPr lang="en-US">
                <a:solidFill>
                  <a:srgbClr val="FF0066"/>
                </a:solidFill>
                <a:latin typeface="Aharoni"/>
                <a:ea typeface="Aharoni"/>
                <a:cs typeface="Aharoni"/>
                <a:sym typeface="Aharoni"/>
              </a:rPr>
              <a:t>The Nature of Management</a:t>
            </a:r>
            <a:endParaRPr>
              <a:solidFill>
                <a:srgbClr val="FF0066"/>
              </a:solidFill>
              <a:latin typeface="Aharoni"/>
              <a:ea typeface="Aharoni"/>
              <a:cs typeface="Aharoni"/>
              <a:sym typeface="Aharoni"/>
            </a:endParaRPr>
          </a:p>
        </p:txBody>
      </p:sp>
      <p:sp>
        <p:nvSpPr>
          <p:cNvPr id="164" name="Google Shape;164;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90000"/>
              </a:lnSpc>
              <a:spcBef>
                <a:spcPts val="0"/>
              </a:spcBef>
              <a:spcAft>
                <a:spcPts val="0"/>
              </a:spcAft>
              <a:buClr>
                <a:srgbClr val="0000FF"/>
              </a:buClr>
              <a:buSzPts val="2000"/>
              <a:buChar char="•"/>
            </a:pPr>
            <a:r>
              <a:rPr b="1" lang="en-US" sz="2000">
                <a:solidFill>
                  <a:srgbClr val="0000FF"/>
                </a:solidFill>
                <a:latin typeface="Times New Roman"/>
                <a:ea typeface="Times New Roman"/>
                <a:cs typeface="Times New Roman"/>
                <a:sym typeface="Times New Roman"/>
              </a:rPr>
              <a:t>Management is a goal-oriented process</a:t>
            </a:r>
            <a:r>
              <a:rPr lang="en-US" sz="2000">
                <a:solidFill>
                  <a:srgbClr val="0000FF"/>
                </a:solidFill>
                <a:latin typeface="Times New Roman"/>
                <a:ea typeface="Times New Roman"/>
                <a:cs typeface="Times New Roman"/>
                <a:sym typeface="Times New Roman"/>
              </a:rPr>
              <a:t>: </a:t>
            </a:r>
            <a:r>
              <a:rPr lang="en-US" sz="2000">
                <a:latin typeface="Times New Roman"/>
                <a:ea typeface="Times New Roman"/>
                <a:cs typeface="Times New Roman"/>
                <a:sym typeface="Times New Roman"/>
              </a:rPr>
              <a:t>An organisation has a set of basic goals which are the basic reason for its existence. Management unites the efforts of different individuals in the organisation towards achieving these goals.</a:t>
            </a:r>
            <a:endParaRPr/>
          </a:p>
          <a:p>
            <a:pPr indent="-342900" lvl="0" marL="342900" rtl="0" algn="just">
              <a:lnSpc>
                <a:spcPct val="90000"/>
              </a:lnSpc>
              <a:spcBef>
                <a:spcPts val="400"/>
              </a:spcBef>
              <a:spcAft>
                <a:spcPts val="0"/>
              </a:spcAft>
              <a:buClr>
                <a:srgbClr val="0000FF"/>
              </a:buClr>
              <a:buSzPts val="2000"/>
              <a:buChar char="•"/>
            </a:pPr>
            <a:r>
              <a:rPr b="1" lang="en-US" sz="2000">
                <a:solidFill>
                  <a:srgbClr val="0000FF"/>
                </a:solidFill>
                <a:latin typeface="Times New Roman"/>
                <a:ea typeface="Times New Roman"/>
                <a:cs typeface="Times New Roman"/>
                <a:sym typeface="Times New Roman"/>
              </a:rPr>
              <a:t>Management is all pervasive</a:t>
            </a:r>
            <a:r>
              <a:rPr lang="en-US" sz="2000">
                <a:solidFill>
                  <a:srgbClr val="0000FF"/>
                </a:solidFill>
                <a:latin typeface="Times New Roman"/>
                <a:ea typeface="Times New Roman"/>
                <a:cs typeface="Times New Roman"/>
                <a:sym typeface="Times New Roman"/>
              </a:rPr>
              <a:t>: </a:t>
            </a:r>
            <a:r>
              <a:rPr lang="en-US" sz="2000">
                <a:latin typeface="Times New Roman"/>
                <a:ea typeface="Times New Roman"/>
                <a:cs typeface="Times New Roman"/>
                <a:sym typeface="Times New Roman"/>
              </a:rPr>
              <a:t>The activities involved in managing an enterprise are common to all organisations whether economic, social or political. </a:t>
            </a:r>
            <a:endParaRPr/>
          </a:p>
          <a:p>
            <a:pPr indent="-342900" lvl="0" marL="342900" rtl="0" algn="just">
              <a:lnSpc>
                <a:spcPct val="90000"/>
              </a:lnSpc>
              <a:spcBef>
                <a:spcPts val="400"/>
              </a:spcBef>
              <a:spcAft>
                <a:spcPts val="0"/>
              </a:spcAft>
              <a:buClr>
                <a:srgbClr val="0000FF"/>
              </a:buClr>
              <a:buSzPts val="2000"/>
              <a:buChar char="•"/>
            </a:pPr>
            <a:r>
              <a:rPr b="1" lang="en-US" sz="2000">
                <a:solidFill>
                  <a:srgbClr val="0000FF"/>
                </a:solidFill>
                <a:latin typeface="Times New Roman"/>
                <a:ea typeface="Times New Roman"/>
                <a:cs typeface="Times New Roman"/>
                <a:sym typeface="Times New Roman"/>
              </a:rPr>
              <a:t>Management is a continuous process</a:t>
            </a:r>
            <a:r>
              <a:rPr lang="en-US" sz="2000">
                <a:solidFill>
                  <a:srgbClr val="0000FF"/>
                </a:solidFill>
                <a:latin typeface="Times New Roman"/>
                <a:ea typeface="Times New Roman"/>
                <a:cs typeface="Times New Roman"/>
                <a:sym typeface="Times New Roman"/>
              </a:rPr>
              <a:t>: </a:t>
            </a:r>
            <a:r>
              <a:rPr lang="en-US" sz="2000">
                <a:latin typeface="Times New Roman"/>
                <a:ea typeface="Times New Roman"/>
                <a:cs typeface="Times New Roman"/>
                <a:sym typeface="Times New Roman"/>
              </a:rPr>
              <a:t>The process of management is a series of continuous, composite, but separate functions (planning, organising, directing, staffing and controlling). These functions are simultaneously performed by all managers all the time.</a:t>
            </a:r>
            <a:endParaRPr/>
          </a:p>
          <a:p>
            <a:pPr indent="-342900" lvl="0" marL="342900" rtl="0" algn="just">
              <a:lnSpc>
                <a:spcPct val="9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 </a:t>
            </a:r>
            <a:endParaRPr/>
          </a:p>
          <a:p>
            <a:pPr indent="-342900" lvl="0" marL="342900" rtl="0" algn="just">
              <a:lnSpc>
                <a:spcPct val="90000"/>
              </a:lnSpc>
              <a:spcBef>
                <a:spcPts val="400"/>
              </a:spcBef>
              <a:spcAft>
                <a:spcPts val="0"/>
              </a:spcAft>
              <a:buClr>
                <a:srgbClr val="0000FF"/>
              </a:buClr>
              <a:buSzPts val="2000"/>
              <a:buChar char="•"/>
            </a:pPr>
            <a:r>
              <a:rPr b="1" lang="en-US" sz="2000">
                <a:solidFill>
                  <a:srgbClr val="0000FF"/>
                </a:solidFill>
                <a:latin typeface="Times New Roman"/>
                <a:ea typeface="Times New Roman"/>
                <a:cs typeface="Times New Roman"/>
                <a:sym typeface="Times New Roman"/>
              </a:rPr>
              <a:t>Management is a group activity</a:t>
            </a:r>
            <a:r>
              <a:rPr lang="en-US" sz="2000">
                <a:solidFill>
                  <a:srgbClr val="0000FF"/>
                </a:solidFill>
                <a:latin typeface="Times New Roman"/>
                <a:ea typeface="Times New Roman"/>
                <a:cs typeface="Times New Roman"/>
                <a:sym typeface="Times New Roman"/>
              </a:rPr>
              <a:t>: </a:t>
            </a:r>
            <a:r>
              <a:rPr lang="en-US" sz="2000">
                <a:latin typeface="Times New Roman"/>
                <a:ea typeface="Times New Roman"/>
                <a:cs typeface="Times New Roman"/>
                <a:sym typeface="Times New Roman"/>
              </a:rPr>
              <a:t>An organisation is a collection of diverse individuals with different needs. Management should enable all its members to grow and develop as needs and opportunities change</a:t>
            </a:r>
            <a:endParaRPr sz="200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1"/>
          <p:cNvSpPr txBox="1"/>
          <p:nvPr>
            <p:ph idx="1" type="body"/>
          </p:nvPr>
        </p:nvSpPr>
        <p:spPr>
          <a:xfrm>
            <a:off x="457200" y="457200"/>
            <a:ext cx="8229600" cy="5668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40000"/>
              </a:lnSpc>
              <a:spcBef>
                <a:spcPts val="0"/>
              </a:spcBef>
              <a:spcAft>
                <a:spcPts val="0"/>
              </a:spcAft>
              <a:buClr>
                <a:srgbClr val="0000FF"/>
              </a:buClr>
              <a:buSzPts val="1785"/>
              <a:buChar char="•"/>
            </a:pPr>
            <a:r>
              <a:rPr b="1" lang="en-US" sz="1785">
                <a:solidFill>
                  <a:srgbClr val="0000FF"/>
                </a:solidFill>
                <a:latin typeface="Times New Roman"/>
                <a:ea typeface="Times New Roman"/>
                <a:cs typeface="Times New Roman"/>
                <a:sym typeface="Times New Roman"/>
              </a:rPr>
              <a:t>Management is situational</a:t>
            </a:r>
            <a:r>
              <a:rPr lang="en-US" sz="1785">
                <a:solidFill>
                  <a:srgbClr val="0000FF"/>
                </a:solidFill>
                <a:latin typeface="Times New Roman"/>
                <a:ea typeface="Times New Roman"/>
                <a:cs typeface="Times New Roman"/>
                <a:sym typeface="Times New Roman"/>
              </a:rPr>
              <a:t>: </a:t>
            </a:r>
            <a:r>
              <a:rPr lang="en-US" sz="1785">
                <a:latin typeface="Times New Roman"/>
                <a:ea typeface="Times New Roman"/>
                <a:cs typeface="Times New Roman"/>
                <a:sym typeface="Times New Roman"/>
              </a:rPr>
              <a:t>Management does not advice best way of doing things. Effective management is always situational. A manager has to apply principles, approaches and techniques of management after taking into consideration the existing situations.</a:t>
            </a:r>
            <a:endParaRPr/>
          </a:p>
          <a:p>
            <a:pPr indent="-342900" lvl="0" marL="342900" rtl="0" algn="just">
              <a:lnSpc>
                <a:spcPct val="140000"/>
              </a:lnSpc>
              <a:spcBef>
                <a:spcPts val="357"/>
              </a:spcBef>
              <a:spcAft>
                <a:spcPts val="0"/>
              </a:spcAft>
              <a:buClr>
                <a:srgbClr val="0000FF"/>
              </a:buClr>
              <a:buSzPts val="1785"/>
              <a:buChar char="•"/>
            </a:pPr>
            <a:r>
              <a:rPr b="1" lang="en-US" sz="1785">
                <a:solidFill>
                  <a:srgbClr val="0000FF"/>
                </a:solidFill>
                <a:latin typeface="Times New Roman"/>
                <a:ea typeface="Times New Roman"/>
                <a:cs typeface="Times New Roman"/>
                <a:sym typeface="Times New Roman"/>
              </a:rPr>
              <a:t>Management is the combination of art, science and profession: </a:t>
            </a:r>
            <a:r>
              <a:rPr lang="en-US" sz="1785">
                <a:latin typeface="Times New Roman"/>
                <a:ea typeface="Times New Roman"/>
                <a:cs typeface="Times New Roman"/>
                <a:sym typeface="Times New Roman"/>
              </a:rPr>
              <a:t>Management makes use of science as well as art. It is science because it collects knowledge with the methods and data, analyzes and measures it and decision is taken with the help of experiment. It is a systematic body of  knowledge.  Art means application of knowledge for solving various problems. In modern times there is separation of ownership and management, so professional experts are appointed.</a:t>
            </a:r>
            <a:endParaRPr/>
          </a:p>
          <a:p>
            <a:pPr indent="-342900" lvl="0" marL="342900" rtl="0" algn="just">
              <a:lnSpc>
                <a:spcPct val="140000"/>
              </a:lnSpc>
              <a:spcBef>
                <a:spcPts val="357"/>
              </a:spcBef>
              <a:spcAft>
                <a:spcPts val="0"/>
              </a:spcAft>
              <a:buClr>
                <a:srgbClr val="0000FF"/>
              </a:buClr>
              <a:buSzPts val="1785"/>
              <a:buChar char="•"/>
            </a:pPr>
            <a:r>
              <a:rPr b="1" lang="en-US" sz="1785">
                <a:solidFill>
                  <a:srgbClr val="0000FF"/>
                </a:solidFill>
                <a:latin typeface="Times New Roman"/>
                <a:ea typeface="Times New Roman"/>
                <a:cs typeface="Times New Roman"/>
                <a:sym typeface="Times New Roman"/>
              </a:rPr>
              <a:t>Management is a dynamic function</a:t>
            </a:r>
            <a:r>
              <a:rPr lang="en-US" sz="1785">
                <a:solidFill>
                  <a:srgbClr val="0000FF"/>
                </a:solidFill>
                <a:latin typeface="Times New Roman"/>
                <a:ea typeface="Times New Roman"/>
                <a:cs typeface="Times New Roman"/>
                <a:sym typeface="Times New Roman"/>
              </a:rPr>
              <a:t>: </a:t>
            </a:r>
            <a:r>
              <a:rPr lang="en-US" sz="1785">
                <a:latin typeface="Times New Roman"/>
                <a:ea typeface="Times New Roman"/>
                <a:cs typeface="Times New Roman"/>
                <a:sym typeface="Times New Roman"/>
              </a:rPr>
              <a:t>Management is a dynamic function and has to adapt itself to the changing environment. In order to be successful, an organisation must change itself and its goals according to the needs of the environment.</a:t>
            </a:r>
            <a:endParaRPr sz="1785">
              <a:latin typeface="Times New Roman"/>
              <a:ea typeface="Times New Roman"/>
              <a:cs typeface="Times New Roman"/>
              <a:sym typeface="Times New Roman"/>
            </a:endParaRPr>
          </a:p>
          <a:p>
            <a:pPr indent="-234950" lvl="0" marL="342900" rtl="0" algn="just">
              <a:lnSpc>
                <a:spcPct val="90000"/>
              </a:lnSpc>
              <a:spcBef>
                <a:spcPts val="340"/>
              </a:spcBef>
              <a:spcAft>
                <a:spcPts val="0"/>
              </a:spcAft>
              <a:buClr>
                <a:schemeClr val="dk1"/>
              </a:buClr>
              <a:buSzPts val="1700"/>
              <a:buNone/>
            </a:pPr>
            <a:r>
              <a:t/>
            </a:r>
            <a:endParaRPr sz="1700">
              <a:latin typeface="Times New Roman"/>
              <a:ea typeface="Times New Roman"/>
              <a:cs typeface="Times New Roman"/>
              <a:sym typeface="Times New Roman"/>
            </a:endParaRPr>
          </a:p>
          <a:p>
            <a:pPr indent="-170180" lvl="0" marL="342900" rtl="0" algn="l">
              <a:lnSpc>
                <a:spcPct val="90000"/>
              </a:lnSpc>
              <a:spcBef>
                <a:spcPts val="544"/>
              </a:spcBef>
              <a:spcAft>
                <a:spcPts val="0"/>
              </a:spcAft>
              <a:buClr>
                <a:schemeClr val="dk1"/>
              </a:buClr>
              <a:buSzPts val="2720"/>
              <a:buNone/>
            </a:pPr>
            <a:r>
              <a:t/>
            </a:r>
            <a:endParaRPr sz="272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2"/>
          <p:cNvSpPr txBox="1"/>
          <p:nvPr>
            <p:ph idx="1" type="body"/>
          </p:nvPr>
        </p:nvSpPr>
        <p:spPr>
          <a:xfrm>
            <a:off x="457200" y="381000"/>
            <a:ext cx="8229600" cy="5745163"/>
          </a:xfrm>
          <a:prstGeom prst="rect">
            <a:avLst/>
          </a:prstGeom>
          <a:noFill/>
          <a:ln>
            <a:noFill/>
          </a:ln>
        </p:spPr>
        <p:txBody>
          <a:bodyPr anchorCtr="0" anchor="t" bIns="45700" lIns="91425" spcFirstLastPara="1" rIns="91425" wrap="square" tIns="45700">
            <a:normAutofit/>
          </a:bodyPr>
          <a:lstStyle/>
          <a:p>
            <a:pPr indent="-342900" lvl="0" marL="342900" rtl="0" algn="just">
              <a:lnSpc>
                <a:spcPct val="80000"/>
              </a:lnSpc>
              <a:spcBef>
                <a:spcPts val="0"/>
              </a:spcBef>
              <a:spcAft>
                <a:spcPts val="0"/>
              </a:spcAft>
              <a:buClr>
                <a:srgbClr val="0000FF"/>
              </a:buClr>
              <a:buSzPts val="2127"/>
              <a:buChar char="•"/>
            </a:pPr>
            <a:r>
              <a:rPr b="1" lang="en-US" sz="2127">
                <a:solidFill>
                  <a:srgbClr val="0000FF"/>
                </a:solidFill>
                <a:latin typeface="Times New Roman"/>
                <a:ea typeface="Times New Roman"/>
                <a:cs typeface="Times New Roman"/>
                <a:sym typeface="Times New Roman"/>
              </a:rPr>
              <a:t>Management is multidimensional</a:t>
            </a:r>
            <a:r>
              <a:rPr lang="en-US" sz="2127">
                <a:solidFill>
                  <a:srgbClr val="0000FF"/>
                </a:solidFill>
                <a:latin typeface="Times New Roman"/>
                <a:ea typeface="Times New Roman"/>
                <a:cs typeface="Times New Roman"/>
                <a:sym typeface="Times New Roman"/>
              </a:rPr>
              <a:t>: </a:t>
            </a:r>
            <a:r>
              <a:rPr lang="en-US" sz="2127">
                <a:latin typeface="Times New Roman"/>
                <a:ea typeface="Times New Roman"/>
                <a:cs typeface="Times New Roman"/>
                <a:sym typeface="Times New Roman"/>
              </a:rPr>
              <a:t>Management is a complex activity that has three main dimensions: </a:t>
            </a:r>
            <a:endParaRPr/>
          </a:p>
          <a:p>
            <a:pPr indent="-342900" lvl="0" marL="342900" rtl="0" algn="just">
              <a:lnSpc>
                <a:spcPct val="80000"/>
              </a:lnSpc>
              <a:spcBef>
                <a:spcPts val="425"/>
              </a:spcBef>
              <a:spcAft>
                <a:spcPts val="0"/>
              </a:spcAft>
              <a:buClr>
                <a:schemeClr val="dk1"/>
              </a:buClr>
              <a:buSzPts val="2127"/>
              <a:buNone/>
            </a:pPr>
            <a:r>
              <a:rPr b="1" lang="en-US" sz="2127">
                <a:latin typeface="Times New Roman"/>
                <a:ea typeface="Times New Roman"/>
                <a:cs typeface="Times New Roman"/>
                <a:sym typeface="Times New Roman"/>
              </a:rPr>
              <a:t>                                                        </a:t>
            </a:r>
            <a:r>
              <a:rPr b="1" lang="en-US" sz="2127">
                <a:solidFill>
                  <a:srgbClr val="FF0066"/>
                </a:solidFill>
                <a:latin typeface="Times New Roman"/>
                <a:ea typeface="Times New Roman"/>
                <a:cs typeface="Times New Roman"/>
                <a:sym typeface="Times New Roman"/>
              </a:rPr>
              <a:t>Management of work</a:t>
            </a:r>
            <a:r>
              <a:rPr lang="en-US" sz="2127">
                <a:solidFill>
                  <a:srgbClr val="FF0066"/>
                </a:solidFill>
                <a:latin typeface="Times New Roman"/>
                <a:ea typeface="Times New Roman"/>
                <a:cs typeface="Times New Roman"/>
                <a:sym typeface="Times New Roman"/>
              </a:rPr>
              <a:t>: </a:t>
            </a:r>
            <a:r>
              <a:rPr lang="en-US" sz="2127">
                <a:latin typeface="Times New Roman"/>
                <a:ea typeface="Times New Roman"/>
                <a:cs typeface="Times New Roman"/>
                <a:sym typeface="Times New Roman"/>
              </a:rPr>
              <a:t>All organisations exist for the performance of some work. Management translates this work in terms of goals to be achieved and assigns the means to achieve it.</a:t>
            </a:r>
            <a:endParaRPr/>
          </a:p>
          <a:p>
            <a:pPr indent="-342900" lvl="0" marL="342900" rtl="0" algn="just">
              <a:lnSpc>
                <a:spcPct val="80000"/>
              </a:lnSpc>
              <a:spcBef>
                <a:spcPts val="425"/>
              </a:spcBef>
              <a:spcAft>
                <a:spcPts val="0"/>
              </a:spcAft>
              <a:buClr>
                <a:schemeClr val="dk1"/>
              </a:buClr>
              <a:buSzPts val="2127"/>
              <a:buNone/>
            </a:pPr>
            <a:r>
              <a:rPr b="1" lang="en-US" sz="2127">
                <a:latin typeface="Times New Roman"/>
                <a:ea typeface="Times New Roman"/>
                <a:cs typeface="Times New Roman"/>
                <a:sym typeface="Times New Roman"/>
              </a:rPr>
              <a:t>                                                       </a:t>
            </a:r>
            <a:r>
              <a:rPr b="1" lang="en-US" sz="2127">
                <a:solidFill>
                  <a:srgbClr val="FF0066"/>
                </a:solidFill>
                <a:latin typeface="Times New Roman"/>
                <a:ea typeface="Times New Roman"/>
                <a:cs typeface="Times New Roman"/>
                <a:sym typeface="Times New Roman"/>
              </a:rPr>
              <a:t>Management of people</a:t>
            </a:r>
            <a:r>
              <a:rPr lang="en-US" sz="2127">
                <a:solidFill>
                  <a:srgbClr val="FF0066"/>
                </a:solidFill>
                <a:latin typeface="Times New Roman"/>
                <a:ea typeface="Times New Roman"/>
                <a:cs typeface="Times New Roman"/>
                <a:sym typeface="Times New Roman"/>
              </a:rPr>
              <a:t>: </a:t>
            </a:r>
            <a:r>
              <a:rPr lang="en-US" sz="2127">
                <a:latin typeface="Times New Roman"/>
                <a:ea typeface="Times New Roman"/>
                <a:cs typeface="Times New Roman"/>
                <a:sym typeface="Times New Roman"/>
              </a:rPr>
              <a:t>Human resources or people are an organisation’s greatest asset. Managing people has two dimensions: </a:t>
            </a:r>
            <a:endParaRPr/>
          </a:p>
          <a:p>
            <a:pPr indent="-285750" lvl="1" marL="742950" rtl="0" algn="just">
              <a:lnSpc>
                <a:spcPct val="80000"/>
              </a:lnSpc>
              <a:spcBef>
                <a:spcPts val="425"/>
              </a:spcBef>
              <a:spcAft>
                <a:spcPts val="0"/>
              </a:spcAft>
              <a:buClr>
                <a:schemeClr val="dk1"/>
              </a:buClr>
              <a:buSzPts val="2127"/>
              <a:buChar char="–"/>
            </a:pPr>
            <a:r>
              <a:rPr lang="en-US" sz="2127">
                <a:latin typeface="Times New Roman"/>
                <a:ea typeface="Times New Roman"/>
                <a:cs typeface="Times New Roman"/>
                <a:sym typeface="Times New Roman"/>
              </a:rPr>
              <a:t>it implies dealing with employees as individuals with diverse needs and behavior;</a:t>
            </a:r>
            <a:endParaRPr/>
          </a:p>
          <a:p>
            <a:pPr indent="-285750" lvl="1" marL="742950" rtl="0" algn="just">
              <a:lnSpc>
                <a:spcPct val="80000"/>
              </a:lnSpc>
              <a:spcBef>
                <a:spcPts val="425"/>
              </a:spcBef>
              <a:spcAft>
                <a:spcPts val="0"/>
              </a:spcAft>
              <a:buClr>
                <a:schemeClr val="dk1"/>
              </a:buClr>
              <a:buSzPts val="2127"/>
              <a:buChar char="–"/>
            </a:pPr>
            <a:r>
              <a:rPr lang="en-US" sz="2127">
                <a:latin typeface="Times New Roman"/>
                <a:ea typeface="Times New Roman"/>
                <a:cs typeface="Times New Roman"/>
                <a:sym typeface="Times New Roman"/>
              </a:rPr>
              <a:t>it also means dealing with individuals as a group of people</a:t>
            </a:r>
            <a:endParaRPr/>
          </a:p>
          <a:p>
            <a:pPr indent="-342900" lvl="0" marL="342900" rtl="0" algn="just">
              <a:lnSpc>
                <a:spcPct val="80000"/>
              </a:lnSpc>
              <a:spcBef>
                <a:spcPts val="425"/>
              </a:spcBef>
              <a:spcAft>
                <a:spcPts val="0"/>
              </a:spcAft>
              <a:buClr>
                <a:schemeClr val="dk1"/>
              </a:buClr>
              <a:buSzPts val="2127"/>
              <a:buNone/>
            </a:pPr>
            <a:r>
              <a:rPr lang="en-US" sz="2127">
                <a:latin typeface="Times New Roman"/>
                <a:ea typeface="Times New Roman"/>
                <a:cs typeface="Times New Roman"/>
                <a:sym typeface="Times New Roman"/>
              </a:rPr>
              <a:t>     The task of management is to make people work towards achieving the organisation’s goals, by making their strengths effective and their weaknesses irrelevant.</a:t>
            </a:r>
            <a:endParaRPr/>
          </a:p>
          <a:p>
            <a:pPr indent="-342900" lvl="0" marL="342900" rtl="0" algn="just">
              <a:lnSpc>
                <a:spcPct val="80000"/>
              </a:lnSpc>
              <a:spcBef>
                <a:spcPts val="425"/>
              </a:spcBef>
              <a:spcAft>
                <a:spcPts val="0"/>
              </a:spcAft>
              <a:buClr>
                <a:schemeClr val="dk1"/>
              </a:buClr>
              <a:buSzPts val="2127"/>
              <a:buNone/>
            </a:pPr>
            <a:r>
              <a:rPr b="1" lang="en-US" sz="2127">
                <a:latin typeface="Times New Roman"/>
                <a:ea typeface="Times New Roman"/>
                <a:cs typeface="Times New Roman"/>
                <a:sym typeface="Times New Roman"/>
              </a:rPr>
              <a:t>                                                       </a:t>
            </a:r>
            <a:r>
              <a:rPr b="1" lang="en-US" sz="2127">
                <a:solidFill>
                  <a:srgbClr val="FF0066"/>
                </a:solidFill>
                <a:latin typeface="Times New Roman"/>
                <a:ea typeface="Times New Roman"/>
                <a:cs typeface="Times New Roman"/>
                <a:sym typeface="Times New Roman"/>
              </a:rPr>
              <a:t>Management of operations</a:t>
            </a:r>
            <a:r>
              <a:rPr lang="en-US" sz="2127">
                <a:solidFill>
                  <a:srgbClr val="FF0066"/>
                </a:solidFill>
                <a:latin typeface="Times New Roman"/>
                <a:ea typeface="Times New Roman"/>
                <a:cs typeface="Times New Roman"/>
                <a:sym typeface="Times New Roman"/>
              </a:rPr>
              <a:t>: </a:t>
            </a:r>
            <a:r>
              <a:rPr lang="en-US" sz="2127">
                <a:latin typeface="Times New Roman"/>
                <a:ea typeface="Times New Roman"/>
                <a:cs typeface="Times New Roman"/>
                <a:sym typeface="Times New Roman"/>
              </a:rPr>
              <a:t>It requires a production process which entails the flow of input material and the technology for transforming this input into the desired output for consumption</a:t>
            </a:r>
            <a:endParaRPr/>
          </a:p>
          <a:p>
            <a:pPr indent="-154940" lvl="0" marL="342900" rtl="0" algn="l">
              <a:lnSpc>
                <a:spcPct val="80000"/>
              </a:lnSpc>
              <a:spcBef>
                <a:spcPts val="592"/>
              </a:spcBef>
              <a:spcAft>
                <a:spcPts val="0"/>
              </a:spcAft>
              <a:buClr>
                <a:schemeClr val="dk1"/>
              </a:buClr>
              <a:buSzPts val="2960"/>
              <a:buNone/>
            </a:pPr>
            <a:r>
              <a:t/>
            </a:r>
            <a:endParaRPr sz="296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0066"/>
              </a:buClr>
              <a:buSzPts val="4400"/>
              <a:buFont typeface="Aharoni"/>
              <a:buNone/>
            </a:pPr>
            <a:r>
              <a:rPr lang="en-US">
                <a:solidFill>
                  <a:srgbClr val="FF0066"/>
                </a:solidFill>
                <a:latin typeface="Aharoni"/>
                <a:ea typeface="Aharoni"/>
                <a:cs typeface="Aharoni"/>
                <a:sym typeface="Aharoni"/>
              </a:rPr>
              <a:t>Who  are managers?</a:t>
            </a:r>
            <a:endParaRPr>
              <a:solidFill>
                <a:srgbClr val="FF0066"/>
              </a:solidFill>
              <a:latin typeface="Aharoni"/>
              <a:ea typeface="Aharoni"/>
              <a:cs typeface="Aharoni"/>
              <a:sym typeface="Aharoni"/>
            </a:endParaRPr>
          </a:p>
        </p:txBody>
      </p:sp>
      <p:sp>
        <p:nvSpPr>
          <p:cNvPr id="180" name="Google Shape;180;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latin typeface="Constantia"/>
                <a:ea typeface="Constantia"/>
                <a:cs typeface="Constantia"/>
                <a:sym typeface="Constantia"/>
              </a:rPr>
              <a:t>Someone who </a:t>
            </a:r>
            <a:r>
              <a:rPr lang="en-US" u="sng">
                <a:latin typeface="Constantia"/>
                <a:ea typeface="Constantia"/>
                <a:cs typeface="Constantia"/>
                <a:sym typeface="Constantia"/>
              </a:rPr>
              <a:t>coordinates</a:t>
            </a:r>
            <a:r>
              <a:rPr lang="en-US">
                <a:latin typeface="Constantia"/>
                <a:ea typeface="Constantia"/>
                <a:cs typeface="Constantia"/>
                <a:sym typeface="Constantia"/>
              </a:rPr>
              <a:t> and </a:t>
            </a:r>
            <a:r>
              <a:rPr lang="en-US" u="sng">
                <a:latin typeface="Constantia"/>
                <a:ea typeface="Constantia"/>
                <a:cs typeface="Constantia"/>
                <a:sym typeface="Constantia"/>
              </a:rPr>
              <a:t>oversees</a:t>
            </a:r>
            <a:r>
              <a:rPr lang="en-US">
                <a:latin typeface="Constantia"/>
                <a:ea typeface="Constantia"/>
                <a:cs typeface="Constantia"/>
                <a:sym typeface="Constantia"/>
              </a:rPr>
              <a:t> the work of other people in order to accomplish organizational goals.</a:t>
            </a:r>
            <a:endParaRPr>
              <a:latin typeface="Constantia"/>
              <a:ea typeface="Constantia"/>
              <a:cs typeface="Constantia"/>
              <a:sym typeface="Constanti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0066"/>
              </a:buClr>
              <a:buSzPts val="3959"/>
              <a:buFont typeface="Aharoni"/>
              <a:buNone/>
            </a:pPr>
            <a:r>
              <a:rPr lang="en-US" sz="3959">
                <a:solidFill>
                  <a:srgbClr val="FF0066"/>
                </a:solidFill>
                <a:latin typeface="Aharoni"/>
                <a:ea typeface="Aharoni"/>
                <a:cs typeface="Aharoni"/>
                <a:sym typeface="Aharoni"/>
              </a:rPr>
              <a:t>How to classify managers in organizations?</a:t>
            </a:r>
            <a:endParaRPr sz="3959">
              <a:solidFill>
                <a:srgbClr val="FF0066"/>
              </a:solidFill>
              <a:latin typeface="Aharoni"/>
              <a:ea typeface="Aharoni"/>
              <a:cs typeface="Aharoni"/>
              <a:sym typeface="Aharoni"/>
            </a:endParaRPr>
          </a:p>
        </p:txBody>
      </p:sp>
      <p:sp>
        <p:nvSpPr>
          <p:cNvPr id="186" name="Google Shape;186;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ctr">
              <a:spcBef>
                <a:spcPts val="0"/>
              </a:spcBef>
              <a:spcAft>
                <a:spcPts val="0"/>
              </a:spcAft>
              <a:buClr>
                <a:srgbClr val="FFFF00"/>
              </a:buClr>
              <a:buSzPts val="2400"/>
              <a:buNone/>
            </a:pPr>
            <a:r>
              <a:rPr b="1" lang="en-US" sz="2400">
                <a:solidFill>
                  <a:srgbClr val="FFFF00"/>
                </a:solidFill>
              </a:rPr>
              <a:t> </a:t>
            </a:r>
            <a:r>
              <a:rPr b="1" lang="en-US" sz="2400">
                <a:solidFill>
                  <a:srgbClr val="00B050"/>
                </a:solidFill>
              </a:rPr>
              <a:t>Pyramid Form of Management Level</a:t>
            </a:r>
            <a:endParaRPr b="1" sz="2400">
              <a:solidFill>
                <a:srgbClr val="00B050"/>
              </a:solidFill>
            </a:endParaRPr>
          </a:p>
        </p:txBody>
      </p:sp>
      <p:grpSp>
        <p:nvGrpSpPr>
          <p:cNvPr id="187" name="Google Shape;187;p14"/>
          <p:cNvGrpSpPr/>
          <p:nvPr/>
        </p:nvGrpSpPr>
        <p:grpSpPr>
          <a:xfrm>
            <a:off x="1643042" y="2285992"/>
            <a:ext cx="5357850" cy="4117145"/>
            <a:chOff x="1643042" y="2000240"/>
            <a:chExt cx="5357850" cy="4117145"/>
          </a:xfrm>
        </p:grpSpPr>
        <p:sp>
          <p:nvSpPr>
            <p:cNvPr id="188" name="Google Shape;188;p14"/>
            <p:cNvSpPr/>
            <p:nvPr/>
          </p:nvSpPr>
          <p:spPr>
            <a:xfrm>
              <a:off x="1643042" y="2000240"/>
              <a:ext cx="5357850" cy="4000528"/>
            </a:xfrm>
            <a:prstGeom prst="triangle">
              <a:avLst>
                <a:gd fmla="val 500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9" name="Google Shape;189;p14"/>
            <p:cNvSpPr txBox="1"/>
            <p:nvPr/>
          </p:nvSpPr>
          <p:spPr>
            <a:xfrm>
              <a:off x="2714612" y="2928934"/>
              <a:ext cx="3214710"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400" u="none" cap="none" strike="noStrike">
                  <a:solidFill>
                    <a:srgbClr val="FFC000"/>
                  </a:solidFill>
                  <a:latin typeface="Calibri"/>
                  <a:ea typeface="Calibri"/>
                  <a:cs typeface="Calibri"/>
                  <a:sym typeface="Calibri"/>
                </a:rPr>
                <a:t>Top  level</a:t>
              </a:r>
              <a:endParaRPr b="1" i="0" sz="2400" u="none" cap="none" strike="noStrike">
                <a:solidFill>
                  <a:srgbClr val="FFC000"/>
                </a:solidFill>
                <a:latin typeface="Calibri"/>
                <a:ea typeface="Calibri"/>
                <a:cs typeface="Calibri"/>
                <a:sym typeface="Calibri"/>
              </a:endParaRPr>
            </a:p>
            <a:p>
              <a:pPr indent="0" lvl="0" marL="0" marR="0" rtl="0" algn="ctr">
                <a:spcBef>
                  <a:spcPts val="0"/>
                </a:spcBef>
                <a:spcAft>
                  <a:spcPts val="0"/>
                </a:spcAft>
                <a:buNone/>
              </a:pPr>
              <a:r>
                <a:rPr b="1" i="0" lang="en-US" sz="2400" u="none" cap="none" strike="noStrike">
                  <a:solidFill>
                    <a:srgbClr val="FFC000"/>
                  </a:solidFill>
                  <a:latin typeface="Calibri"/>
                  <a:ea typeface="Calibri"/>
                  <a:cs typeface="Calibri"/>
                  <a:sym typeface="Calibri"/>
                </a:rPr>
                <a:t>Managers</a:t>
              </a:r>
              <a:endParaRPr b="1" i="0" sz="2400" u="none" cap="none" strike="noStrike">
                <a:solidFill>
                  <a:srgbClr val="FFC000"/>
                </a:solidFill>
                <a:latin typeface="Calibri"/>
                <a:ea typeface="Calibri"/>
                <a:cs typeface="Calibri"/>
                <a:sym typeface="Calibri"/>
              </a:endParaRPr>
            </a:p>
          </p:txBody>
        </p:sp>
        <p:sp>
          <p:nvSpPr>
            <p:cNvPr id="190" name="Google Shape;190;p14"/>
            <p:cNvSpPr txBox="1"/>
            <p:nvPr/>
          </p:nvSpPr>
          <p:spPr>
            <a:xfrm>
              <a:off x="2285984" y="4000504"/>
              <a:ext cx="4143404"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400" u="none" cap="none" strike="noStrike">
                  <a:solidFill>
                    <a:srgbClr val="FFC000"/>
                  </a:solidFill>
                  <a:latin typeface="Calibri"/>
                  <a:ea typeface="Calibri"/>
                  <a:cs typeface="Calibri"/>
                  <a:sym typeface="Calibri"/>
                </a:rPr>
                <a:t>Middle level Managers</a:t>
              </a:r>
              <a:endParaRPr b="1" i="0" sz="2400" u="none" cap="none" strike="noStrike">
                <a:solidFill>
                  <a:srgbClr val="FFC000"/>
                </a:solidFill>
                <a:latin typeface="Calibri"/>
                <a:ea typeface="Calibri"/>
                <a:cs typeface="Calibri"/>
                <a:sym typeface="Calibri"/>
              </a:endParaRPr>
            </a:p>
          </p:txBody>
        </p:sp>
        <p:sp>
          <p:nvSpPr>
            <p:cNvPr id="191" name="Google Shape;191;p14"/>
            <p:cNvSpPr txBox="1"/>
            <p:nvPr/>
          </p:nvSpPr>
          <p:spPr>
            <a:xfrm>
              <a:off x="2285984" y="4643446"/>
              <a:ext cx="464347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400" u="none" cap="none" strike="noStrike">
                  <a:solidFill>
                    <a:srgbClr val="FFC000"/>
                  </a:solidFill>
                  <a:latin typeface="Calibri"/>
                  <a:ea typeface="Calibri"/>
                  <a:cs typeface="Calibri"/>
                  <a:sym typeface="Calibri"/>
                </a:rPr>
                <a:t>First-Line/ Bottom level Managers</a:t>
              </a:r>
              <a:endParaRPr b="1" i="0" sz="2400" u="none" cap="none" strike="noStrike">
                <a:solidFill>
                  <a:srgbClr val="FFC000"/>
                </a:solidFill>
                <a:latin typeface="Calibri"/>
                <a:ea typeface="Calibri"/>
                <a:cs typeface="Calibri"/>
                <a:sym typeface="Calibri"/>
              </a:endParaRPr>
            </a:p>
          </p:txBody>
        </p:sp>
        <p:sp>
          <p:nvSpPr>
            <p:cNvPr id="192" name="Google Shape;192;p14"/>
            <p:cNvSpPr txBox="1"/>
            <p:nvPr/>
          </p:nvSpPr>
          <p:spPr>
            <a:xfrm>
              <a:off x="2143108" y="5286388"/>
              <a:ext cx="4857784"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400" u="none" cap="none" strike="noStrike">
                  <a:solidFill>
                    <a:schemeClr val="dk1"/>
                  </a:solidFill>
                  <a:latin typeface="Calibri"/>
                  <a:ea typeface="Calibri"/>
                  <a:cs typeface="Calibri"/>
                  <a:sym typeface="Calibri"/>
                </a:rPr>
                <a:t>Non-Managerial </a:t>
              </a:r>
              <a:endParaRPr/>
            </a:p>
            <a:p>
              <a:pPr indent="0" lvl="0" marL="0" marR="0" rtl="0" algn="ctr">
                <a:spcBef>
                  <a:spcPts val="0"/>
                </a:spcBef>
                <a:spcAft>
                  <a:spcPts val="0"/>
                </a:spcAft>
                <a:buNone/>
              </a:pPr>
              <a:r>
                <a:rPr b="0" i="0" lang="en-US" sz="2400" u="none" cap="none" strike="noStrike">
                  <a:solidFill>
                    <a:schemeClr val="dk1"/>
                  </a:solidFill>
                  <a:latin typeface="Calibri"/>
                  <a:ea typeface="Calibri"/>
                  <a:cs typeface="Calibri"/>
                  <a:sym typeface="Calibri"/>
                </a:rPr>
                <a:t>Employees</a:t>
              </a:r>
              <a:endParaRPr b="0" i="0" sz="2400" u="none" cap="none" strike="noStrike">
                <a:solidFill>
                  <a:schemeClr val="dk1"/>
                </a:solidFill>
                <a:latin typeface="Calibri"/>
                <a:ea typeface="Calibri"/>
                <a:cs typeface="Calibri"/>
                <a:sym typeface="Calibri"/>
              </a:endParaRPr>
            </a:p>
          </p:txBody>
        </p:sp>
        <p:cxnSp>
          <p:nvCxnSpPr>
            <p:cNvPr id="193" name="Google Shape;193;p14"/>
            <p:cNvCxnSpPr/>
            <p:nvPr/>
          </p:nvCxnSpPr>
          <p:spPr>
            <a:xfrm>
              <a:off x="3143240" y="3786190"/>
              <a:ext cx="2357454" cy="1588"/>
            </a:xfrm>
            <a:prstGeom prst="straightConnector1">
              <a:avLst/>
            </a:prstGeom>
            <a:noFill/>
            <a:ln cap="flat" cmpd="sng" w="9525">
              <a:solidFill>
                <a:schemeClr val="dk1"/>
              </a:solidFill>
              <a:prstDash val="solid"/>
              <a:round/>
              <a:headEnd len="sm" w="sm" type="none"/>
              <a:tailEnd len="sm" w="sm" type="none"/>
            </a:ln>
          </p:spPr>
        </p:cxnSp>
        <p:cxnSp>
          <p:nvCxnSpPr>
            <p:cNvPr id="194" name="Google Shape;194;p14"/>
            <p:cNvCxnSpPr/>
            <p:nvPr/>
          </p:nvCxnSpPr>
          <p:spPr>
            <a:xfrm>
              <a:off x="2643174" y="4500570"/>
              <a:ext cx="3286148" cy="1588"/>
            </a:xfrm>
            <a:prstGeom prst="straightConnector1">
              <a:avLst/>
            </a:prstGeom>
            <a:noFill/>
            <a:ln cap="flat" cmpd="sng" w="9525">
              <a:solidFill>
                <a:schemeClr val="dk1"/>
              </a:solidFill>
              <a:prstDash val="solid"/>
              <a:round/>
              <a:headEnd len="sm" w="sm" type="none"/>
              <a:tailEnd len="sm" w="sm" type="none"/>
            </a:ln>
          </p:spPr>
        </p:cxnSp>
        <p:cxnSp>
          <p:nvCxnSpPr>
            <p:cNvPr id="195" name="Google Shape;195;p14"/>
            <p:cNvCxnSpPr/>
            <p:nvPr/>
          </p:nvCxnSpPr>
          <p:spPr>
            <a:xfrm>
              <a:off x="2143108" y="5214950"/>
              <a:ext cx="4286280" cy="1588"/>
            </a:xfrm>
            <a:prstGeom prst="straightConnector1">
              <a:avLst/>
            </a:prstGeom>
            <a:noFill/>
            <a:ln cap="flat" cmpd="sng" w="9525">
              <a:solidFill>
                <a:schemeClr val="dk1"/>
              </a:solidFill>
              <a:prstDash val="solid"/>
              <a:round/>
              <a:headEnd len="sm" w="sm" type="none"/>
              <a:tailEnd len="sm" w="sm" type="none"/>
            </a:ln>
          </p:spPr>
        </p:cxn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5"/>
          <p:cNvSpPr txBox="1"/>
          <p:nvPr>
            <p:ph type="title"/>
          </p:nvPr>
        </p:nvSpPr>
        <p:spPr>
          <a:xfrm>
            <a:off x="457200" y="267494"/>
            <a:ext cx="8507288" cy="139903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b="1" lang="en-US" sz="4000"/>
              <a:t>I. </a:t>
            </a:r>
            <a:r>
              <a:rPr b="1" lang="en-US" sz="4000">
                <a:solidFill>
                  <a:srgbClr val="FF0066"/>
                </a:solidFill>
                <a:latin typeface="Teko"/>
                <a:ea typeface="Teko"/>
                <a:cs typeface="Teko"/>
                <a:sym typeface="Teko"/>
              </a:rPr>
              <a:t>Bottom/Lowest Level of Management</a:t>
            </a:r>
            <a:endParaRPr b="1" sz="4000">
              <a:solidFill>
                <a:srgbClr val="FF0066"/>
              </a:solidFill>
              <a:latin typeface="Teko"/>
              <a:ea typeface="Teko"/>
              <a:cs typeface="Teko"/>
              <a:sym typeface="Teko"/>
            </a:endParaRPr>
          </a:p>
        </p:txBody>
      </p:sp>
      <p:sp>
        <p:nvSpPr>
          <p:cNvPr id="201" name="Google Shape;201;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80000"/>
              </a:lnSpc>
              <a:spcBef>
                <a:spcPts val="0"/>
              </a:spcBef>
              <a:spcAft>
                <a:spcPts val="0"/>
              </a:spcAft>
              <a:buClr>
                <a:srgbClr val="00B0F0"/>
              </a:buClr>
              <a:buSzPts val="2720"/>
              <a:buChar char="•"/>
            </a:pPr>
            <a:r>
              <a:rPr b="1" lang="en-US" sz="2720">
                <a:solidFill>
                  <a:srgbClr val="00B0F0"/>
                </a:solidFill>
                <a:latin typeface="Century Gothic"/>
                <a:ea typeface="Century Gothic"/>
                <a:cs typeface="Century Gothic"/>
                <a:sym typeface="Century Gothic"/>
              </a:rPr>
              <a:t>First-line managers: </a:t>
            </a:r>
            <a:r>
              <a:rPr lang="en-US" sz="2720">
                <a:latin typeface="Century Gothic"/>
                <a:ea typeface="Century Gothic"/>
                <a:cs typeface="Century Gothic"/>
                <a:sym typeface="Century Gothic"/>
              </a:rPr>
              <a:t>manage the work of non-managerial employees who typically are involved with producing the organization’s products or servicing the organization’s customer</a:t>
            </a:r>
            <a:endParaRPr/>
          </a:p>
          <a:p>
            <a:pPr indent="-170180" lvl="0" marL="342900" rtl="0" algn="just">
              <a:lnSpc>
                <a:spcPct val="80000"/>
              </a:lnSpc>
              <a:spcBef>
                <a:spcPts val="544"/>
              </a:spcBef>
              <a:spcAft>
                <a:spcPts val="0"/>
              </a:spcAft>
              <a:buClr>
                <a:schemeClr val="dk1"/>
              </a:buClr>
              <a:buSzPts val="2720"/>
              <a:buNone/>
            </a:pPr>
            <a:r>
              <a:t/>
            </a:r>
            <a:endParaRPr sz="2720">
              <a:latin typeface="Century Gothic"/>
              <a:ea typeface="Century Gothic"/>
              <a:cs typeface="Century Gothic"/>
              <a:sym typeface="Century Gothic"/>
            </a:endParaRPr>
          </a:p>
          <a:p>
            <a:pPr indent="-342900" lvl="0" marL="342900" rtl="0" algn="just">
              <a:lnSpc>
                <a:spcPct val="80000"/>
              </a:lnSpc>
              <a:spcBef>
                <a:spcPts val="544"/>
              </a:spcBef>
              <a:spcAft>
                <a:spcPts val="0"/>
              </a:spcAft>
              <a:buClr>
                <a:schemeClr val="dk1"/>
              </a:buClr>
              <a:buSzPts val="2720"/>
              <a:buChar char="•"/>
            </a:pPr>
            <a:r>
              <a:rPr b="1" lang="en-US" sz="2720">
                <a:latin typeface="Century Gothic"/>
                <a:ea typeface="Century Gothic"/>
                <a:cs typeface="Century Gothic"/>
                <a:sym typeface="Century Gothic"/>
              </a:rPr>
              <a:t>They are often called: </a:t>
            </a:r>
            <a:endParaRPr/>
          </a:p>
          <a:p>
            <a:pPr indent="-342900" lvl="0" marL="342900" rtl="0" algn="just">
              <a:lnSpc>
                <a:spcPct val="80000"/>
              </a:lnSpc>
              <a:spcBef>
                <a:spcPts val="544"/>
              </a:spcBef>
              <a:spcAft>
                <a:spcPts val="0"/>
              </a:spcAft>
              <a:buClr>
                <a:srgbClr val="00B050"/>
              </a:buClr>
              <a:buSzPts val="2720"/>
              <a:buChar char="•"/>
            </a:pPr>
            <a:r>
              <a:rPr lang="en-US" sz="2720">
                <a:solidFill>
                  <a:srgbClr val="00B050"/>
                </a:solidFill>
                <a:latin typeface="Century Gothic"/>
                <a:ea typeface="Century Gothic"/>
                <a:cs typeface="Century Gothic"/>
                <a:sym typeface="Century Gothic"/>
              </a:rPr>
              <a:t>Supervisor, </a:t>
            </a:r>
            <a:endParaRPr/>
          </a:p>
          <a:p>
            <a:pPr indent="-342900" lvl="0" marL="342900" rtl="0" algn="just">
              <a:lnSpc>
                <a:spcPct val="80000"/>
              </a:lnSpc>
              <a:spcBef>
                <a:spcPts val="544"/>
              </a:spcBef>
              <a:spcAft>
                <a:spcPts val="0"/>
              </a:spcAft>
              <a:buClr>
                <a:srgbClr val="00B050"/>
              </a:buClr>
              <a:buSzPts val="2720"/>
              <a:buChar char="•"/>
            </a:pPr>
            <a:r>
              <a:rPr lang="en-US" sz="2720">
                <a:solidFill>
                  <a:srgbClr val="00B050"/>
                </a:solidFill>
                <a:latin typeface="Century Gothic"/>
                <a:ea typeface="Century Gothic"/>
                <a:cs typeface="Century Gothic"/>
                <a:sym typeface="Century Gothic"/>
              </a:rPr>
              <a:t>Shift manager,</a:t>
            </a:r>
            <a:endParaRPr/>
          </a:p>
          <a:p>
            <a:pPr indent="-342900" lvl="0" marL="342900" rtl="0" algn="just">
              <a:lnSpc>
                <a:spcPct val="80000"/>
              </a:lnSpc>
              <a:spcBef>
                <a:spcPts val="544"/>
              </a:spcBef>
              <a:spcAft>
                <a:spcPts val="0"/>
              </a:spcAft>
              <a:buClr>
                <a:srgbClr val="00B050"/>
              </a:buClr>
              <a:buSzPts val="2720"/>
              <a:buChar char="•"/>
            </a:pPr>
            <a:r>
              <a:rPr lang="en-US" sz="2720">
                <a:solidFill>
                  <a:srgbClr val="00B050"/>
                </a:solidFill>
                <a:latin typeface="Century Gothic"/>
                <a:ea typeface="Century Gothic"/>
                <a:cs typeface="Century Gothic"/>
                <a:sym typeface="Century Gothic"/>
              </a:rPr>
              <a:t>Department manager,</a:t>
            </a:r>
            <a:endParaRPr/>
          </a:p>
          <a:p>
            <a:pPr indent="-342900" lvl="0" marL="342900" rtl="0" algn="just">
              <a:lnSpc>
                <a:spcPct val="80000"/>
              </a:lnSpc>
              <a:spcBef>
                <a:spcPts val="544"/>
              </a:spcBef>
              <a:spcAft>
                <a:spcPts val="0"/>
              </a:spcAft>
              <a:buClr>
                <a:srgbClr val="00B050"/>
              </a:buClr>
              <a:buSzPts val="2720"/>
              <a:buChar char="•"/>
            </a:pPr>
            <a:r>
              <a:rPr lang="en-US" sz="2720">
                <a:solidFill>
                  <a:srgbClr val="00B050"/>
                </a:solidFill>
                <a:latin typeface="Century Gothic"/>
                <a:ea typeface="Century Gothic"/>
                <a:cs typeface="Century Gothic"/>
                <a:sym typeface="Century Gothic"/>
              </a:rPr>
              <a:t>Front office manager</a:t>
            </a:r>
            <a:endParaRPr sz="2720">
              <a:solidFill>
                <a:srgbClr val="00B050"/>
              </a:solidFill>
              <a:latin typeface="Century Gothic"/>
              <a:ea typeface="Century Gothic"/>
              <a:cs typeface="Century Gothic"/>
              <a:sym typeface="Century Gothic"/>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6"/>
          <p:cNvSpPr txBox="1"/>
          <p:nvPr>
            <p:ph type="title"/>
          </p:nvPr>
        </p:nvSpPr>
        <p:spPr>
          <a:xfrm>
            <a:off x="457200" y="267494"/>
            <a:ext cx="8686800" cy="139903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b="1" lang="en-US" sz="4000"/>
              <a:t>II. </a:t>
            </a:r>
            <a:r>
              <a:rPr b="1" lang="en-US" sz="4000" u="sng">
                <a:solidFill>
                  <a:srgbClr val="FF0066"/>
                </a:solidFill>
                <a:latin typeface="Teko"/>
                <a:ea typeface="Teko"/>
                <a:cs typeface="Teko"/>
                <a:sym typeface="Teko"/>
              </a:rPr>
              <a:t>Middle Level</a:t>
            </a:r>
            <a:r>
              <a:rPr b="1" lang="en-US" sz="4000">
                <a:solidFill>
                  <a:srgbClr val="FF0066"/>
                </a:solidFill>
                <a:latin typeface="Teko"/>
                <a:ea typeface="Teko"/>
                <a:cs typeface="Teko"/>
                <a:sym typeface="Teko"/>
              </a:rPr>
              <a:t> of Management</a:t>
            </a:r>
            <a:endParaRPr b="1" sz="4000">
              <a:solidFill>
                <a:srgbClr val="FF0066"/>
              </a:solidFill>
              <a:latin typeface="Teko"/>
              <a:ea typeface="Teko"/>
              <a:cs typeface="Teko"/>
              <a:sym typeface="Teko"/>
            </a:endParaRPr>
          </a:p>
        </p:txBody>
      </p:sp>
      <p:sp>
        <p:nvSpPr>
          <p:cNvPr id="207" name="Google Shape;207;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rgbClr val="00B0F0"/>
              </a:buClr>
              <a:buSzPts val="3200"/>
              <a:buChar char="•"/>
            </a:pPr>
            <a:r>
              <a:rPr b="1" lang="en-US">
                <a:solidFill>
                  <a:srgbClr val="00B0F0"/>
                </a:solidFill>
                <a:latin typeface="Century Gothic"/>
                <a:ea typeface="Century Gothic"/>
                <a:cs typeface="Century Gothic"/>
                <a:sym typeface="Century Gothic"/>
              </a:rPr>
              <a:t>Middle managers: </a:t>
            </a:r>
            <a:r>
              <a:rPr lang="en-US">
                <a:latin typeface="Century Gothic"/>
                <a:ea typeface="Century Gothic"/>
                <a:cs typeface="Century Gothic"/>
                <a:sym typeface="Century Gothic"/>
              </a:rPr>
              <a:t>manage work of first-line managers </a:t>
            </a:r>
            <a:endParaRPr/>
          </a:p>
          <a:p>
            <a:pPr indent="-139700" lvl="0" marL="342900" rtl="0" algn="l">
              <a:lnSpc>
                <a:spcPct val="90000"/>
              </a:lnSpc>
              <a:spcBef>
                <a:spcPts val="640"/>
              </a:spcBef>
              <a:spcAft>
                <a:spcPts val="0"/>
              </a:spcAft>
              <a:buClr>
                <a:schemeClr val="dk1"/>
              </a:buClr>
              <a:buSzPts val="3200"/>
              <a:buNone/>
            </a:pPr>
            <a:r>
              <a:t/>
            </a:r>
            <a:endParaRPr>
              <a:latin typeface="Century Gothic"/>
              <a:ea typeface="Century Gothic"/>
              <a:cs typeface="Century Gothic"/>
              <a:sym typeface="Century Gothic"/>
            </a:endParaRPr>
          </a:p>
          <a:p>
            <a:pPr indent="-342900" lvl="0" marL="342900" rtl="0" algn="l">
              <a:lnSpc>
                <a:spcPct val="90000"/>
              </a:lnSpc>
              <a:spcBef>
                <a:spcPts val="640"/>
              </a:spcBef>
              <a:spcAft>
                <a:spcPts val="0"/>
              </a:spcAft>
              <a:buClr>
                <a:schemeClr val="dk1"/>
              </a:buClr>
              <a:buSzPts val="3200"/>
              <a:buChar char="•"/>
            </a:pPr>
            <a:r>
              <a:rPr b="1" lang="en-US">
                <a:latin typeface="Century Gothic"/>
                <a:ea typeface="Century Gothic"/>
                <a:cs typeface="Century Gothic"/>
                <a:sym typeface="Century Gothic"/>
              </a:rPr>
              <a:t>They are often called: </a:t>
            </a:r>
            <a:endParaRPr/>
          </a:p>
          <a:p>
            <a:pPr indent="-342900" lvl="0" marL="342900" rtl="0" algn="l">
              <a:lnSpc>
                <a:spcPct val="90000"/>
              </a:lnSpc>
              <a:spcBef>
                <a:spcPts val="640"/>
              </a:spcBef>
              <a:spcAft>
                <a:spcPts val="0"/>
              </a:spcAft>
              <a:buClr>
                <a:srgbClr val="00B050"/>
              </a:buClr>
              <a:buSzPts val="3200"/>
              <a:buChar char="•"/>
            </a:pPr>
            <a:r>
              <a:rPr lang="en-US">
                <a:solidFill>
                  <a:srgbClr val="00B050"/>
                </a:solidFill>
                <a:latin typeface="Century Gothic"/>
                <a:ea typeface="Century Gothic"/>
                <a:cs typeface="Century Gothic"/>
                <a:sym typeface="Century Gothic"/>
              </a:rPr>
              <a:t>regional manager, </a:t>
            </a:r>
            <a:endParaRPr/>
          </a:p>
          <a:p>
            <a:pPr indent="-342900" lvl="0" marL="342900" rtl="0" algn="l">
              <a:lnSpc>
                <a:spcPct val="90000"/>
              </a:lnSpc>
              <a:spcBef>
                <a:spcPts val="640"/>
              </a:spcBef>
              <a:spcAft>
                <a:spcPts val="0"/>
              </a:spcAft>
              <a:buClr>
                <a:srgbClr val="00B050"/>
              </a:buClr>
              <a:buSzPts val="3200"/>
              <a:buChar char="•"/>
            </a:pPr>
            <a:r>
              <a:rPr lang="en-US">
                <a:solidFill>
                  <a:srgbClr val="00B050"/>
                </a:solidFill>
                <a:latin typeface="Century Gothic"/>
                <a:ea typeface="Century Gothic"/>
                <a:cs typeface="Century Gothic"/>
                <a:sym typeface="Century Gothic"/>
              </a:rPr>
              <a:t>project leader, </a:t>
            </a:r>
            <a:endParaRPr/>
          </a:p>
          <a:p>
            <a:pPr indent="-342900" lvl="0" marL="342900" rtl="0" algn="l">
              <a:lnSpc>
                <a:spcPct val="90000"/>
              </a:lnSpc>
              <a:spcBef>
                <a:spcPts val="640"/>
              </a:spcBef>
              <a:spcAft>
                <a:spcPts val="0"/>
              </a:spcAft>
              <a:buClr>
                <a:srgbClr val="00B050"/>
              </a:buClr>
              <a:buSzPts val="3200"/>
              <a:buChar char="•"/>
            </a:pPr>
            <a:r>
              <a:rPr lang="en-US">
                <a:solidFill>
                  <a:srgbClr val="00B050"/>
                </a:solidFill>
                <a:latin typeface="Century Gothic"/>
                <a:ea typeface="Century Gothic"/>
                <a:cs typeface="Century Gothic"/>
                <a:sym typeface="Century Gothic"/>
              </a:rPr>
              <a:t>store manager, </a:t>
            </a:r>
            <a:endParaRPr/>
          </a:p>
          <a:p>
            <a:pPr indent="-342900" lvl="0" marL="342900" rtl="0" algn="l">
              <a:lnSpc>
                <a:spcPct val="90000"/>
              </a:lnSpc>
              <a:spcBef>
                <a:spcPts val="640"/>
              </a:spcBef>
              <a:spcAft>
                <a:spcPts val="0"/>
              </a:spcAft>
              <a:buClr>
                <a:srgbClr val="00B050"/>
              </a:buClr>
              <a:buSzPts val="3200"/>
              <a:buChar char="•"/>
            </a:pPr>
            <a:r>
              <a:rPr lang="en-US">
                <a:solidFill>
                  <a:srgbClr val="00B050"/>
                </a:solidFill>
                <a:latin typeface="Century Gothic"/>
                <a:ea typeface="Century Gothic"/>
                <a:cs typeface="Century Gothic"/>
                <a:sym typeface="Century Gothic"/>
              </a:rPr>
              <a:t>division manager</a:t>
            </a:r>
            <a:endParaRPr>
              <a:solidFill>
                <a:srgbClr val="00B050"/>
              </a:solidFill>
              <a:latin typeface="Century Gothic"/>
              <a:ea typeface="Century Gothic"/>
              <a:cs typeface="Century Gothic"/>
              <a:sym typeface="Century Gothic"/>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7"/>
          <p:cNvSpPr txBox="1"/>
          <p:nvPr>
            <p:ph type="title"/>
          </p:nvPr>
        </p:nvSpPr>
        <p:spPr>
          <a:xfrm>
            <a:off x="457200" y="267494"/>
            <a:ext cx="8686800" cy="139903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b="1" lang="en-US" sz="4000"/>
              <a:t>III. </a:t>
            </a:r>
            <a:r>
              <a:rPr b="1" lang="en-US" sz="4000" u="sng">
                <a:solidFill>
                  <a:srgbClr val="FF0066"/>
                </a:solidFill>
                <a:latin typeface="Teko"/>
                <a:ea typeface="Teko"/>
                <a:cs typeface="Teko"/>
                <a:sym typeface="Teko"/>
              </a:rPr>
              <a:t>Upper/Top Level</a:t>
            </a:r>
            <a:r>
              <a:rPr b="1" lang="en-US" sz="4000">
                <a:solidFill>
                  <a:srgbClr val="FF0066"/>
                </a:solidFill>
                <a:latin typeface="Teko"/>
                <a:ea typeface="Teko"/>
                <a:cs typeface="Teko"/>
                <a:sym typeface="Teko"/>
              </a:rPr>
              <a:t> of Management</a:t>
            </a:r>
            <a:endParaRPr b="1" sz="4000">
              <a:solidFill>
                <a:srgbClr val="FF0066"/>
              </a:solidFill>
              <a:latin typeface="Teko"/>
              <a:ea typeface="Teko"/>
              <a:cs typeface="Teko"/>
              <a:sym typeface="Teko"/>
            </a:endParaRPr>
          </a:p>
        </p:txBody>
      </p:sp>
      <p:sp>
        <p:nvSpPr>
          <p:cNvPr id="213" name="Google Shape;213;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80000"/>
              </a:lnSpc>
              <a:spcBef>
                <a:spcPts val="0"/>
              </a:spcBef>
              <a:spcAft>
                <a:spcPts val="0"/>
              </a:spcAft>
              <a:buClr>
                <a:srgbClr val="00B0F0"/>
              </a:buClr>
              <a:buSzPts val="2720"/>
              <a:buChar char="•"/>
            </a:pPr>
            <a:r>
              <a:rPr b="1" lang="en-US" sz="2720">
                <a:solidFill>
                  <a:srgbClr val="00B0F0"/>
                </a:solidFill>
                <a:latin typeface="Century Gothic"/>
                <a:ea typeface="Century Gothic"/>
                <a:cs typeface="Century Gothic"/>
                <a:sym typeface="Century Gothic"/>
              </a:rPr>
              <a:t>Top managers: </a:t>
            </a:r>
            <a:r>
              <a:rPr lang="en-US" sz="2720">
                <a:latin typeface="Century Gothic"/>
                <a:ea typeface="Century Gothic"/>
                <a:cs typeface="Century Gothic"/>
                <a:sym typeface="Century Gothic"/>
              </a:rPr>
              <a:t>are responsible for making organization wide decisions and establishing  the plans and goals that affect the entire organization.</a:t>
            </a:r>
            <a:endParaRPr/>
          </a:p>
          <a:p>
            <a:pPr indent="-170180" lvl="0" marL="342900" rtl="0" algn="l">
              <a:lnSpc>
                <a:spcPct val="80000"/>
              </a:lnSpc>
              <a:spcBef>
                <a:spcPts val="544"/>
              </a:spcBef>
              <a:spcAft>
                <a:spcPts val="0"/>
              </a:spcAft>
              <a:buClr>
                <a:schemeClr val="dk1"/>
              </a:buClr>
              <a:buSzPts val="2720"/>
              <a:buNone/>
            </a:pPr>
            <a:r>
              <a:t/>
            </a:r>
            <a:endParaRPr sz="2720">
              <a:latin typeface="Century Gothic"/>
              <a:ea typeface="Century Gothic"/>
              <a:cs typeface="Century Gothic"/>
              <a:sym typeface="Century Gothic"/>
            </a:endParaRPr>
          </a:p>
          <a:p>
            <a:pPr indent="-342900" lvl="0" marL="342900" rtl="0" algn="l">
              <a:lnSpc>
                <a:spcPct val="80000"/>
              </a:lnSpc>
              <a:spcBef>
                <a:spcPts val="544"/>
              </a:spcBef>
              <a:spcAft>
                <a:spcPts val="0"/>
              </a:spcAft>
              <a:buClr>
                <a:schemeClr val="dk1"/>
              </a:buClr>
              <a:buSzPts val="2720"/>
              <a:buChar char="•"/>
            </a:pPr>
            <a:r>
              <a:rPr b="1" lang="en-US" sz="2720">
                <a:latin typeface="Century Gothic"/>
                <a:ea typeface="Century Gothic"/>
                <a:cs typeface="Century Gothic"/>
                <a:sym typeface="Century Gothic"/>
              </a:rPr>
              <a:t>They are often called: </a:t>
            </a:r>
            <a:endParaRPr/>
          </a:p>
          <a:p>
            <a:pPr indent="-342900" lvl="0" marL="342900" rtl="0" algn="l">
              <a:lnSpc>
                <a:spcPct val="80000"/>
              </a:lnSpc>
              <a:spcBef>
                <a:spcPts val="544"/>
              </a:spcBef>
              <a:spcAft>
                <a:spcPts val="0"/>
              </a:spcAft>
              <a:buClr>
                <a:srgbClr val="00B050"/>
              </a:buClr>
              <a:buSzPts val="2720"/>
              <a:buChar char="•"/>
            </a:pPr>
            <a:r>
              <a:rPr lang="en-US" sz="2720">
                <a:solidFill>
                  <a:srgbClr val="00B050"/>
                </a:solidFill>
                <a:latin typeface="Century Gothic"/>
                <a:ea typeface="Century Gothic"/>
                <a:cs typeface="Century Gothic"/>
                <a:sym typeface="Century Gothic"/>
              </a:rPr>
              <a:t>executive vice president, </a:t>
            </a:r>
            <a:endParaRPr/>
          </a:p>
          <a:p>
            <a:pPr indent="-342900" lvl="0" marL="342900" rtl="0" algn="l">
              <a:lnSpc>
                <a:spcPct val="80000"/>
              </a:lnSpc>
              <a:spcBef>
                <a:spcPts val="544"/>
              </a:spcBef>
              <a:spcAft>
                <a:spcPts val="0"/>
              </a:spcAft>
              <a:buClr>
                <a:srgbClr val="00B050"/>
              </a:buClr>
              <a:buSzPts val="2720"/>
              <a:buChar char="•"/>
            </a:pPr>
            <a:r>
              <a:rPr lang="en-US" sz="2720">
                <a:solidFill>
                  <a:srgbClr val="00B050"/>
                </a:solidFill>
                <a:latin typeface="Century Gothic"/>
                <a:ea typeface="Century Gothic"/>
                <a:cs typeface="Century Gothic"/>
                <a:sym typeface="Century Gothic"/>
              </a:rPr>
              <a:t>president, </a:t>
            </a:r>
            <a:endParaRPr/>
          </a:p>
          <a:p>
            <a:pPr indent="-342900" lvl="0" marL="342900" rtl="0" algn="l">
              <a:lnSpc>
                <a:spcPct val="80000"/>
              </a:lnSpc>
              <a:spcBef>
                <a:spcPts val="544"/>
              </a:spcBef>
              <a:spcAft>
                <a:spcPts val="0"/>
              </a:spcAft>
              <a:buClr>
                <a:srgbClr val="00B050"/>
              </a:buClr>
              <a:buSzPts val="2720"/>
              <a:buChar char="•"/>
            </a:pPr>
            <a:r>
              <a:rPr lang="en-US" sz="2720">
                <a:solidFill>
                  <a:srgbClr val="00B050"/>
                </a:solidFill>
                <a:latin typeface="Century Gothic"/>
                <a:ea typeface="Century Gothic"/>
                <a:cs typeface="Century Gothic"/>
                <a:sym typeface="Century Gothic"/>
              </a:rPr>
              <a:t>managing director, </a:t>
            </a:r>
            <a:endParaRPr/>
          </a:p>
          <a:p>
            <a:pPr indent="-342900" lvl="0" marL="342900" rtl="0" algn="l">
              <a:lnSpc>
                <a:spcPct val="80000"/>
              </a:lnSpc>
              <a:spcBef>
                <a:spcPts val="544"/>
              </a:spcBef>
              <a:spcAft>
                <a:spcPts val="0"/>
              </a:spcAft>
              <a:buClr>
                <a:srgbClr val="00B050"/>
              </a:buClr>
              <a:buSzPts val="2720"/>
              <a:buChar char="•"/>
            </a:pPr>
            <a:r>
              <a:rPr lang="en-US" sz="2720">
                <a:solidFill>
                  <a:srgbClr val="00B050"/>
                </a:solidFill>
                <a:latin typeface="Century Gothic"/>
                <a:ea typeface="Century Gothic"/>
                <a:cs typeface="Century Gothic"/>
                <a:sym typeface="Century Gothic"/>
              </a:rPr>
              <a:t>chief operating officer, </a:t>
            </a:r>
            <a:endParaRPr/>
          </a:p>
          <a:p>
            <a:pPr indent="-342900" lvl="0" marL="342900" rtl="0" algn="l">
              <a:lnSpc>
                <a:spcPct val="80000"/>
              </a:lnSpc>
              <a:spcBef>
                <a:spcPts val="544"/>
              </a:spcBef>
              <a:spcAft>
                <a:spcPts val="0"/>
              </a:spcAft>
              <a:buClr>
                <a:srgbClr val="00B050"/>
              </a:buClr>
              <a:buSzPts val="2720"/>
              <a:buChar char="•"/>
            </a:pPr>
            <a:r>
              <a:rPr lang="en-US" sz="2720">
                <a:solidFill>
                  <a:srgbClr val="00B050"/>
                </a:solidFill>
                <a:latin typeface="Century Gothic"/>
                <a:ea typeface="Century Gothic"/>
                <a:cs typeface="Century Gothic"/>
                <a:sym typeface="Century Gothic"/>
              </a:rPr>
              <a:t>chief executive officer </a:t>
            </a:r>
            <a:endParaRPr sz="2720">
              <a:solidFill>
                <a:srgbClr val="00B050"/>
              </a:solidFill>
              <a:latin typeface="Century Gothic"/>
              <a:ea typeface="Century Gothic"/>
              <a:cs typeface="Century Gothic"/>
              <a:sym typeface="Century Gothic"/>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0066"/>
              </a:buClr>
              <a:buSzPts val="3959"/>
              <a:buFont typeface="Century"/>
              <a:buNone/>
            </a:pPr>
            <a:r>
              <a:rPr b="1" lang="en-US" sz="3959">
                <a:solidFill>
                  <a:srgbClr val="FF0066"/>
                </a:solidFill>
                <a:latin typeface="Century"/>
                <a:ea typeface="Century"/>
                <a:cs typeface="Century"/>
                <a:sym typeface="Century"/>
              </a:rPr>
              <a:t>Skills Needed at Different Managerial Levels</a:t>
            </a:r>
            <a:endParaRPr b="1" sz="3959">
              <a:solidFill>
                <a:srgbClr val="FF0066"/>
              </a:solidFill>
              <a:latin typeface="Century"/>
              <a:ea typeface="Century"/>
              <a:cs typeface="Century"/>
              <a:sym typeface="Century"/>
            </a:endParaRPr>
          </a:p>
        </p:txBody>
      </p:sp>
      <p:grpSp>
        <p:nvGrpSpPr>
          <p:cNvPr id="219" name="Google Shape;219;p18"/>
          <p:cNvGrpSpPr/>
          <p:nvPr/>
        </p:nvGrpSpPr>
        <p:grpSpPr>
          <a:xfrm>
            <a:off x="1000100" y="2072472"/>
            <a:ext cx="6215106" cy="3142478"/>
            <a:chOff x="1000100" y="2072472"/>
            <a:chExt cx="6215106" cy="3142478"/>
          </a:xfrm>
        </p:grpSpPr>
        <p:sp>
          <p:nvSpPr>
            <p:cNvPr id="220" name="Google Shape;220;p18"/>
            <p:cNvSpPr/>
            <p:nvPr/>
          </p:nvSpPr>
          <p:spPr>
            <a:xfrm>
              <a:off x="3428992" y="3071810"/>
              <a:ext cx="1357322" cy="928694"/>
            </a:xfrm>
            <a:prstGeom prst="rect">
              <a:avLst/>
            </a:prstGeom>
            <a:solidFill>
              <a:srgbClr val="FF3300"/>
            </a:solidFill>
            <a:ln cap="flat" cmpd="sng" w="25400">
              <a:solidFill>
                <a:srgbClr val="FF66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1" name="Google Shape;221;p18"/>
            <p:cNvSpPr/>
            <p:nvPr/>
          </p:nvSpPr>
          <p:spPr>
            <a:xfrm>
              <a:off x="3428992" y="4071942"/>
              <a:ext cx="1357322" cy="1143008"/>
            </a:xfrm>
            <a:prstGeom prst="rect">
              <a:avLst/>
            </a:prstGeom>
            <a:solidFill>
              <a:srgbClr val="00FF00"/>
            </a:solidFill>
            <a:ln cap="flat" cmpd="sng" w="25400">
              <a:solidFill>
                <a:srgbClr val="00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2" name="Google Shape;222;p18"/>
            <p:cNvSpPr/>
            <p:nvPr/>
          </p:nvSpPr>
          <p:spPr>
            <a:xfrm>
              <a:off x="3428992" y="2143116"/>
              <a:ext cx="1357322" cy="857256"/>
            </a:xfrm>
            <a:prstGeom prst="rect">
              <a:avLst/>
            </a:prstGeom>
            <a:solidFill>
              <a:srgbClr val="00B0F0"/>
            </a:solidFill>
            <a:ln cap="flat" cmpd="sng" w="2540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1600" u="none" cap="none" strike="noStrike">
                <a:solidFill>
                  <a:schemeClr val="lt1"/>
                </a:solidFill>
                <a:latin typeface="Calibri"/>
                <a:ea typeface="Calibri"/>
                <a:cs typeface="Calibri"/>
                <a:sym typeface="Calibri"/>
              </a:endParaRPr>
            </a:p>
          </p:txBody>
        </p:sp>
        <p:sp>
          <p:nvSpPr>
            <p:cNvPr id="223" name="Google Shape;223;p18"/>
            <p:cNvSpPr txBox="1"/>
            <p:nvPr/>
          </p:nvSpPr>
          <p:spPr>
            <a:xfrm>
              <a:off x="3428992" y="3286124"/>
              <a:ext cx="1357322"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600" u="none" cap="none" strike="noStrike">
                  <a:solidFill>
                    <a:schemeClr val="dk1"/>
                  </a:solidFill>
                  <a:latin typeface="Century"/>
                  <a:ea typeface="Century"/>
                  <a:cs typeface="Century"/>
                  <a:sym typeface="Century"/>
                </a:rPr>
                <a:t>Human Skills</a:t>
              </a:r>
              <a:endParaRPr b="1" i="0" sz="1600" u="none" cap="none" strike="noStrike">
                <a:solidFill>
                  <a:schemeClr val="dk1"/>
                </a:solidFill>
                <a:latin typeface="Century"/>
                <a:ea typeface="Century"/>
                <a:cs typeface="Century"/>
                <a:sym typeface="Century"/>
              </a:endParaRPr>
            </a:p>
          </p:txBody>
        </p:sp>
        <p:sp>
          <p:nvSpPr>
            <p:cNvPr id="224" name="Google Shape;224;p18"/>
            <p:cNvSpPr txBox="1"/>
            <p:nvPr/>
          </p:nvSpPr>
          <p:spPr>
            <a:xfrm>
              <a:off x="3428992" y="2428868"/>
              <a:ext cx="1357322"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600" u="none" cap="none" strike="noStrike">
                  <a:solidFill>
                    <a:schemeClr val="dk1"/>
                  </a:solidFill>
                  <a:latin typeface="Century"/>
                  <a:ea typeface="Century"/>
                  <a:cs typeface="Century"/>
                  <a:sym typeface="Century"/>
                </a:rPr>
                <a:t>Conceptual Skills</a:t>
              </a:r>
              <a:endParaRPr b="1" i="0" sz="1600" u="none" cap="none" strike="noStrike">
                <a:solidFill>
                  <a:schemeClr val="dk1"/>
                </a:solidFill>
                <a:latin typeface="Century"/>
                <a:ea typeface="Century"/>
                <a:cs typeface="Century"/>
                <a:sym typeface="Century"/>
              </a:endParaRPr>
            </a:p>
          </p:txBody>
        </p:sp>
        <p:sp>
          <p:nvSpPr>
            <p:cNvPr id="225" name="Google Shape;225;p18"/>
            <p:cNvSpPr txBox="1"/>
            <p:nvPr/>
          </p:nvSpPr>
          <p:spPr>
            <a:xfrm>
              <a:off x="3428992" y="4500570"/>
              <a:ext cx="1357322"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600" u="none" cap="none" strike="noStrike">
                  <a:solidFill>
                    <a:schemeClr val="dk1"/>
                  </a:solidFill>
                  <a:latin typeface="Century"/>
                  <a:ea typeface="Century"/>
                  <a:cs typeface="Century"/>
                  <a:sym typeface="Century"/>
                </a:rPr>
                <a:t>Technical Skills</a:t>
              </a:r>
              <a:endParaRPr b="1" i="0" sz="1600" u="none" cap="none" strike="noStrike">
                <a:solidFill>
                  <a:schemeClr val="dk1"/>
                </a:solidFill>
                <a:latin typeface="Century"/>
                <a:ea typeface="Century"/>
                <a:cs typeface="Century"/>
                <a:sym typeface="Century"/>
              </a:endParaRPr>
            </a:p>
          </p:txBody>
        </p:sp>
        <p:cxnSp>
          <p:nvCxnSpPr>
            <p:cNvPr id="226" name="Google Shape;226;p18"/>
            <p:cNvCxnSpPr/>
            <p:nvPr/>
          </p:nvCxnSpPr>
          <p:spPr>
            <a:xfrm rot="5400000">
              <a:off x="1643439" y="3642917"/>
              <a:ext cx="3142478" cy="1588"/>
            </a:xfrm>
            <a:prstGeom prst="straightConnector1">
              <a:avLst/>
            </a:prstGeom>
            <a:noFill/>
            <a:ln cap="flat" cmpd="sng" w="9525">
              <a:solidFill>
                <a:srgbClr val="4A7DBA"/>
              </a:solidFill>
              <a:prstDash val="solid"/>
              <a:round/>
              <a:headEnd len="sm" w="sm" type="none"/>
              <a:tailEnd len="sm" w="sm" type="none"/>
            </a:ln>
          </p:spPr>
        </p:cxnSp>
        <p:cxnSp>
          <p:nvCxnSpPr>
            <p:cNvPr id="227" name="Google Shape;227;p18"/>
            <p:cNvCxnSpPr/>
            <p:nvPr/>
          </p:nvCxnSpPr>
          <p:spPr>
            <a:xfrm>
              <a:off x="3215472" y="5213362"/>
              <a:ext cx="3999734" cy="1588"/>
            </a:xfrm>
            <a:prstGeom prst="straightConnector1">
              <a:avLst/>
            </a:prstGeom>
            <a:noFill/>
            <a:ln cap="flat" cmpd="sng" w="9525">
              <a:solidFill>
                <a:srgbClr val="4A7DBA"/>
              </a:solidFill>
              <a:prstDash val="solid"/>
              <a:round/>
              <a:headEnd len="sm" w="sm" type="none"/>
              <a:tailEnd len="sm" w="sm" type="none"/>
            </a:ln>
          </p:spPr>
        </p:cxnSp>
        <p:sp>
          <p:nvSpPr>
            <p:cNvPr id="228" name="Google Shape;228;p18"/>
            <p:cNvSpPr txBox="1"/>
            <p:nvPr/>
          </p:nvSpPr>
          <p:spPr>
            <a:xfrm>
              <a:off x="1571604" y="2357430"/>
              <a:ext cx="157286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0000FF"/>
                  </a:solidFill>
                  <a:latin typeface="Aharoni"/>
                  <a:ea typeface="Aharoni"/>
                  <a:cs typeface="Aharoni"/>
                  <a:sym typeface="Aharoni"/>
                </a:rPr>
                <a:t>Top Managers</a:t>
              </a:r>
              <a:endParaRPr b="1" sz="1600">
                <a:solidFill>
                  <a:srgbClr val="0000FF"/>
                </a:solidFill>
                <a:latin typeface="Aharoni"/>
                <a:ea typeface="Aharoni"/>
                <a:cs typeface="Aharoni"/>
                <a:sym typeface="Aharoni"/>
              </a:endParaRPr>
            </a:p>
          </p:txBody>
        </p:sp>
        <p:sp>
          <p:nvSpPr>
            <p:cNvPr id="229" name="Google Shape;229;p18"/>
            <p:cNvSpPr txBox="1"/>
            <p:nvPr/>
          </p:nvSpPr>
          <p:spPr>
            <a:xfrm>
              <a:off x="1285852" y="3357562"/>
              <a:ext cx="1893467"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0000FF"/>
                  </a:solidFill>
                  <a:latin typeface="Aharoni"/>
                  <a:ea typeface="Aharoni"/>
                  <a:cs typeface="Aharoni"/>
                  <a:sym typeface="Aharoni"/>
                </a:rPr>
                <a:t>Middle Managers</a:t>
              </a:r>
              <a:endParaRPr b="1" sz="1600">
                <a:solidFill>
                  <a:srgbClr val="0000FF"/>
                </a:solidFill>
                <a:latin typeface="Aharoni"/>
                <a:ea typeface="Aharoni"/>
                <a:cs typeface="Aharoni"/>
                <a:sym typeface="Aharoni"/>
              </a:endParaRPr>
            </a:p>
          </p:txBody>
        </p:sp>
        <p:sp>
          <p:nvSpPr>
            <p:cNvPr id="230" name="Google Shape;230;p18"/>
            <p:cNvSpPr txBox="1"/>
            <p:nvPr/>
          </p:nvSpPr>
          <p:spPr>
            <a:xfrm>
              <a:off x="1000100" y="4643446"/>
              <a:ext cx="2199641"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0000FF"/>
                  </a:solidFill>
                  <a:latin typeface="Aharoni"/>
                  <a:ea typeface="Aharoni"/>
                  <a:cs typeface="Aharoni"/>
                  <a:sym typeface="Aharoni"/>
                </a:rPr>
                <a:t>Low-Level Managers</a:t>
              </a:r>
              <a:endParaRPr b="1" sz="1600">
                <a:solidFill>
                  <a:srgbClr val="0000FF"/>
                </a:solidFill>
                <a:latin typeface="Aharoni"/>
                <a:ea typeface="Aharoni"/>
                <a:cs typeface="Aharoni"/>
                <a:sym typeface="Aharoni"/>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0066"/>
              </a:buClr>
              <a:buSzPts val="4400"/>
              <a:buFont typeface="Aharoni"/>
              <a:buNone/>
            </a:pPr>
            <a:r>
              <a:rPr b="1" lang="en-US">
                <a:solidFill>
                  <a:srgbClr val="FF0066"/>
                </a:solidFill>
                <a:latin typeface="Aharoni"/>
                <a:ea typeface="Aharoni"/>
                <a:cs typeface="Aharoni"/>
                <a:sym typeface="Aharoni"/>
              </a:rPr>
              <a:t>Managerial Roles</a:t>
            </a:r>
            <a:endParaRPr b="1">
              <a:solidFill>
                <a:srgbClr val="FF0066"/>
              </a:solidFill>
              <a:latin typeface="Aharoni"/>
              <a:ea typeface="Aharoni"/>
              <a:cs typeface="Aharoni"/>
              <a:sym typeface="Aharoni"/>
            </a:endParaRPr>
          </a:p>
        </p:txBody>
      </p:sp>
      <p:sp>
        <p:nvSpPr>
          <p:cNvPr id="236" name="Google Shape;236;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None/>
            </a:pPr>
            <a:r>
              <a:t/>
            </a:r>
            <a:endParaRPr b="1">
              <a:latin typeface="Century Gothic"/>
              <a:ea typeface="Century Gothic"/>
              <a:cs typeface="Century Gothic"/>
              <a:sym typeface="Century Gothic"/>
            </a:endParaRPr>
          </a:p>
          <a:p>
            <a:pPr indent="-139700" lvl="0" marL="342900" rtl="0" algn="just">
              <a:spcBef>
                <a:spcPts val="640"/>
              </a:spcBef>
              <a:spcAft>
                <a:spcPts val="0"/>
              </a:spcAft>
              <a:buClr>
                <a:schemeClr val="dk1"/>
              </a:buClr>
              <a:buSzPts val="3200"/>
              <a:buNone/>
            </a:pPr>
            <a:r>
              <a:t/>
            </a:r>
            <a:endParaRPr>
              <a:latin typeface="Century Gothic"/>
              <a:ea typeface="Century Gothic"/>
              <a:cs typeface="Century Gothic"/>
              <a:sym typeface="Century Gothic"/>
            </a:endParaRPr>
          </a:p>
          <a:p>
            <a:pPr indent="-342900" lvl="0" marL="342900" rtl="0" algn="just">
              <a:spcBef>
                <a:spcPts val="640"/>
              </a:spcBef>
              <a:spcAft>
                <a:spcPts val="0"/>
              </a:spcAft>
              <a:buClr>
                <a:schemeClr val="dk1"/>
              </a:buClr>
              <a:buSzPts val="3200"/>
              <a:buChar char="•"/>
            </a:pPr>
            <a:r>
              <a:rPr b="1" lang="en-US">
                <a:latin typeface="Century Gothic"/>
                <a:ea typeface="Century Gothic"/>
                <a:cs typeface="Century Gothic"/>
                <a:sym typeface="Century Gothic"/>
              </a:rPr>
              <a:t>3 types of managerial roles</a:t>
            </a:r>
            <a:r>
              <a:rPr lang="en-US">
                <a:latin typeface="Century Gothic"/>
                <a:ea typeface="Century Gothic"/>
                <a:cs typeface="Century Gothic"/>
                <a:sym typeface="Century Gothic"/>
              </a:rPr>
              <a:t>:</a:t>
            </a:r>
            <a:endParaRPr/>
          </a:p>
          <a:p>
            <a:pPr indent="-285750" lvl="1" marL="742950" rtl="0" algn="just">
              <a:spcBef>
                <a:spcPts val="560"/>
              </a:spcBef>
              <a:spcAft>
                <a:spcPts val="0"/>
              </a:spcAft>
              <a:buClr>
                <a:srgbClr val="00B050"/>
              </a:buClr>
              <a:buSzPts val="2800"/>
              <a:buChar char="–"/>
            </a:pPr>
            <a:r>
              <a:rPr b="1" lang="en-US">
                <a:solidFill>
                  <a:srgbClr val="00B050"/>
                </a:solidFill>
                <a:latin typeface="Century Gothic"/>
                <a:ea typeface="Century Gothic"/>
                <a:cs typeface="Century Gothic"/>
                <a:sym typeface="Century Gothic"/>
              </a:rPr>
              <a:t>Interpersonal</a:t>
            </a:r>
            <a:endParaRPr/>
          </a:p>
          <a:p>
            <a:pPr indent="-285750" lvl="1" marL="742950" rtl="0" algn="just">
              <a:spcBef>
                <a:spcPts val="560"/>
              </a:spcBef>
              <a:spcAft>
                <a:spcPts val="0"/>
              </a:spcAft>
              <a:buClr>
                <a:srgbClr val="00B050"/>
              </a:buClr>
              <a:buSzPts val="2800"/>
              <a:buChar char="–"/>
            </a:pPr>
            <a:r>
              <a:rPr b="1" lang="en-US">
                <a:solidFill>
                  <a:srgbClr val="00B050"/>
                </a:solidFill>
                <a:latin typeface="Century Gothic"/>
                <a:ea typeface="Century Gothic"/>
                <a:cs typeface="Century Gothic"/>
                <a:sym typeface="Century Gothic"/>
              </a:rPr>
              <a:t>Informational</a:t>
            </a:r>
            <a:endParaRPr/>
          </a:p>
          <a:p>
            <a:pPr indent="-285750" lvl="1" marL="742950" rtl="0" algn="just">
              <a:spcBef>
                <a:spcPts val="560"/>
              </a:spcBef>
              <a:spcAft>
                <a:spcPts val="0"/>
              </a:spcAft>
              <a:buClr>
                <a:srgbClr val="00B050"/>
              </a:buClr>
              <a:buSzPts val="2800"/>
              <a:buChar char="–"/>
            </a:pPr>
            <a:r>
              <a:rPr b="1" lang="en-US">
                <a:solidFill>
                  <a:srgbClr val="00B050"/>
                </a:solidFill>
                <a:latin typeface="Century Gothic"/>
                <a:ea typeface="Century Gothic"/>
                <a:cs typeface="Century Gothic"/>
                <a:sym typeface="Century Gothic"/>
              </a:rPr>
              <a:t>Decisional</a:t>
            </a:r>
            <a:endParaRPr b="1">
              <a:solidFill>
                <a:srgbClr val="00B050"/>
              </a:solidFill>
              <a:latin typeface="Century Gothic"/>
              <a:ea typeface="Century Gothic"/>
              <a:cs typeface="Century Gothic"/>
              <a:sym typeface="Century Gothic"/>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0066"/>
              </a:buClr>
              <a:buSzPts val="4400"/>
              <a:buFont typeface="Aharoni"/>
              <a:buNone/>
            </a:pPr>
            <a:r>
              <a:rPr b="1" lang="en-US">
                <a:solidFill>
                  <a:srgbClr val="FF0066"/>
                </a:solidFill>
                <a:latin typeface="Aharoni"/>
                <a:ea typeface="Aharoni"/>
                <a:cs typeface="Aharoni"/>
                <a:sym typeface="Aharoni"/>
              </a:rPr>
              <a:t>Mintzberg’s Managerial Roles</a:t>
            </a:r>
            <a:endParaRPr b="1">
              <a:solidFill>
                <a:srgbClr val="FF0066"/>
              </a:solidFill>
              <a:latin typeface="Aharoni"/>
              <a:ea typeface="Aharoni"/>
              <a:cs typeface="Aharoni"/>
              <a:sym typeface="Aharoni"/>
            </a:endParaRPr>
          </a:p>
        </p:txBody>
      </p:sp>
      <p:sp>
        <p:nvSpPr>
          <p:cNvPr id="243" name="Google Shape;243;p20"/>
          <p:cNvSpPr txBox="1"/>
          <p:nvPr>
            <p:ph idx="1" type="body"/>
          </p:nvPr>
        </p:nvSpPr>
        <p:spPr>
          <a:xfrm>
            <a:off x="457200" y="1600200"/>
            <a:ext cx="8229600" cy="4829196"/>
          </a:xfrm>
          <a:prstGeom prst="rect">
            <a:avLst/>
          </a:prstGeom>
          <a:noFill/>
          <a:ln>
            <a:noFill/>
          </a:ln>
        </p:spPr>
        <p:txBody>
          <a:bodyPr anchorCtr="0" anchor="t" bIns="45700" lIns="91425" spcFirstLastPara="1" rIns="91425" wrap="square" tIns="45700">
            <a:normAutofit/>
          </a:bodyPr>
          <a:lstStyle/>
          <a:p>
            <a:pPr indent="-342900" lvl="0" marL="342900" rtl="0" algn="just">
              <a:lnSpc>
                <a:spcPct val="80000"/>
              </a:lnSpc>
              <a:spcBef>
                <a:spcPts val="0"/>
              </a:spcBef>
              <a:spcAft>
                <a:spcPts val="0"/>
              </a:spcAft>
              <a:buClr>
                <a:srgbClr val="00B0F0"/>
              </a:buClr>
              <a:buSzPts val="2960"/>
              <a:buChar char="•"/>
            </a:pPr>
            <a:r>
              <a:rPr b="1" lang="en-US" sz="2960">
                <a:solidFill>
                  <a:srgbClr val="00B0F0"/>
                </a:solidFill>
                <a:latin typeface="Century"/>
                <a:ea typeface="Century"/>
                <a:cs typeface="Century"/>
                <a:sym typeface="Century"/>
              </a:rPr>
              <a:t>Interpersonal Roles: </a:t>
            </a:r>
            <a:endParaRPr b="1" sz="2960">
              <a:solidFill>
                <a:srgbClr val="00B0F0"/>
              </a:solidFill>
              <a:latin typeface="Century"/>
              <a:ea typeface="Century"/>
              <a:cs typeface="Century"/>
              <a:sym typeface="Century"/>
            </a:endParaRPr>
          </a:p>
          <a:p>
            <a:pPr indent="-342900" lvl="0" marL="342900" rtl="0" algn="just">
              <a:lnSpc>
                <a:spcPct val="80000"/>
              </a:lnSpc>
              <a:spcBef>
                <a:spcPts val="592"/>
              </a:spcBef>
              <a:spcAft>
                <a:spcPts val="0"/>
              </a:spcAft>
              <a:buClr>
                <a:schemeClr val="dk1"/>
              </a:buClr>
              <a:buSzPts val="2960"/>
              <a:buNone/>
            </a:pPr>
            <a:r>
              <a:rPr lang="en-US" sz="2960">
                <a:latin typeface="Times New Roman"/>
                <a:ea typeface="Times New Roman"/>
                <a:cs typeface="Times New Roman"/>
                <a:sym typeface="Times New Roman"/>
              </a:rPr>
              <a:t>Involve people </a:t>
            </a:r>
            <a:r>
              <a:rPr lang="en-US" sz="2960">
                <a:solidFill>
                  <a:srgbClr val="0000FF"/>
                </a:solidFill>
                <a:latin typeface="Times New Roman"/>
                <a:ea typeface="Times New Roman"/>
                <a:cs typeface="Times New Roman"/>
                <a:sym typeface="Times New Roman"/>
              </a:rPr>
              <a:t>(subordinates and person outside the organization)</a:t>
            </a:r>
            <a:r>
              <a:rPr lang="en-US" sz="2960">
                <a:solidFill>
                  <a:srgbClr val="66FF33"/>
                </a:solidFill>
                <a:latin typeface="Times New Roman"/>
                <a:ea typeface="Times New Roman"/>
                <a:cs typeface="Times New Roman"/>
                <a:sym typeface="Times New Roman"/>
              </a:rPr>
              <a:t> </a:t>
            </a:r>
            <a:r>
              <a:rPr lang="en-US" sz="2960">
                <a:latin typeface="Times New Roman"/>
                <a:ea typeface="Times New Roman"/>
                <a:cs typeface="Times New Roman"/>
                <a:sym typeface="Times New Roman"/>
              </a:rPr>
              <a:t>and other duties that are official and symbolic in nature. </a:t>
            </a:r>
            <a:endParaRPr sz="2960">
              <a:latin typeface="Times New Roman"/>
              <a:ea typeface="Times New Roman"/>
              <a:cs typeface="Times New Roman"/>
              <a:sym typeface="Times New Roman"/>
            </a:endParaRPr>
          </a:p>
          <a:p>
            <a:pPr indent="-154940" lvl="0" marL="342900" rtl="0" algn="just">
              <a:lnSpc>
                <a:spcPct val="80000"/>
              </a:lnSpc>
              <a:spcBef>
                <a:spcPts val="592"/>
              </a:spcBef>
              <a:spcAft>
                <a:spcPts val="0"/>
              </a:spcAft>
              <a:buClr>
                <a:schemeClr val="dk1"/>
              </a:buClr>
              <a:buSzPts val="2960"/>
              <a:buNone/>
            </a:pPr>
            <a:r>
              <a:t/>
            </a:r>
            <a:endParaRPr sz="2960"/>
          </a:p>
          <a:p>
            <a:pPr indent="-342900" lvl="0" marL="342900" rtl="0" algn="just">
              <a:lnSpc>
                <a:spcPct val="80000"/>
              </a:lnSpc>
              <a:spcBef>
                <a:spcPts val="592"/>
              </a:spcBef>
              <a:spcAft>
                <a:spcPts val="0"/>
              </a:spcAft>
              <a:buClr>
                <a:srgbClr val="00B0F0"/>
              </a:buClr>
              <a:buSzPts val="2960"/>
              <a:buChar char="•"/>
            </a:pPr>
            <a:r>
              <a:rPr b="1" lang="en-US" sz="2960">
                <a:solidFill>
                  <a:srgbClr val="00B0F0"/>
                </a:solidFill>
                <a:latin typeface="Century"/>
                <a:ea typeface="Century"/>
                <a:cs typeface="Century"/>
                <a:sym typeface="Century"/>
              </a:rPr>
              <a:t>Informational Roles: </a:t>
            </a:r>
            <a:endParaRPr b="1" sz="2960">
              <a:solidFill>
                <a:srgbClr val="00B0F0"/>
              </a:solidFill>
              <a:latin typeface="Century"/>
              <a:ea typeface="Century"/>
              <a:cs typeface="Century"/>
              <a:sym typeface="Century"/>
            </a:endParaRPr>
          </a:p>
          <a:p>
            <a:pPr indent="-342900" lvl="0" marL="342900" rtl="0" algn="just">
              <a:lnSpc>
                <a:spcPct val="80000"/>
              </a:lnSpc>
              <a:spcBef>
                <a:spcPts val="592"/>
              </a:spcBef>
              <a:spcAft>
                <a:spcPts val="0"/>
              </a:spcAft>
              <a:buClr>
                <a:schemeClr val="dk1"/>
              </a:buClr>
              <a:buSzPts val="2960"/>
              <a:buNone/>
            </a:pPr>
            <a:r>
              <a:rPr lang="en-US" sz="2960">
                <a:latin typeface="Times New Roman"/>
                <a:ea typeface="Times New Roman"/>
                <a:cs typeface="Times New Roman"/>
                <a:sym typeface="Times New Roman"/>
              </a:rPr>
              <a:t>Involve collecting, receiving, and disseminating information </a:t>
            </a:r>
            <a:endParaRPr/>
          </a:p>
          <a:p>
            <a:pPr indent="-154940" lvl="0" marL="342900" rtl="0" algn="just">
              <a:lnSpc>
                <a:spcPct val="80000"/>
              </a:lnSpc>
              <a:spcBef>
                <a:spcPts val="592"/>
              </a:spcBef>
              <a:spcAft>
                <a:spcPts val="0"/>
              </a:spcAft>
              <a:buClr>
                <a:schemeClr val="dk1"/>
              </a:buClr>
              <a:buSzPts val="2960"/>
              <a:buNone/>
            </a:pPr>
            <a:r>
              <a:t/>
            </a:r>
            <a:endParaRPr sz="2960"/>
          </a:p>
          <a:p>
            <a:pPr indent="-342900" lvl="0" marL="342900" rtl="0" algn="just">
              <a:lnSpc>
                <a:spcPct val="80000"/>
              </a:lnSpc>
              <a:spcBef>
                <a:spcPts val="592"/>
              </a:spcBef>
              <a:spcAft>
                <a:spcPts val="0"/>
              </a:spcAft>
              <a:buClr>
                <a:srgbClr val="00B0F0"/>
              </a:buClr>
              <a:buSzPts val="2960"/>
              <a:buChar char="•"/>
            </a:pPr>
            <a:r>
              <a:rPr b="1" lang="en-US" sz="2960">
                <a:solidFill>
                  <a:srgbClr val="00B0F0"/>
                </a:solidFill>
                <a:latin typeface="Century"/>
                <a:ea typeface="Century"/>
                <a:cs typeface="Century"/>
                <a:sym typeface="Century"/>
              </a:rPr>
              <a:t>Decisional Roles: </a:t>
            </a:r>
            <a:endParaRPr b="1" sz="2960">
              <a:solidFill>
                <a:srgbClr val="00B0F0"/>
              </a:solidFill>
              <a:latin typeface="Century"/>
              <a:ea typeface="Century"/>
              <a:cs typeface="Century"/>
              <a:sym typeface="Century"/>
            </a:endParaRPr>
          </a:p>
          <a:p>
            <a:pPr indent="-342900" lvl="0" marL="342900" rtl="0" algn="just">
              <a:lnSpc>
                <a:spcPct val="80000"/>
              </a:lnSpc>
              <a:spcBef>
                <a:spcPts val="592"/>
              </a:spcBef>
              <a:spcAft>
                <a:spcPts val="0"/>
              </a:spcAft>
              <a:buClr>
                <a:schemeClr val="dk1"/>
              </a:buClr>
              <a:buSzPts val="2960"/>
              <a:buNone/>
            </a:pPr>
            <a:r>
              <a:rPr lang="en-US" sz="2960">
                <a:latin typeface="Times New Roman"/>
                <a:ea typeface="Times New Roman"/>
                <a:cs typeface="Times New Roman"/>
                <a:sym typeface="Times New Roman"/>
              </a:rPr>
              <a:t>Involve making decisions or choices</a:t>
            </a:r>
            <a:endParaRPr sz="2960">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1"/>
          <p:cNvSpPr txBox="1"/>
          <p:nvPr>
            <p:ph type="title"/>
          </p:nvPr>
        </p:nvSpPr>
        <p:spPr>
          <a:xfrm>
            <a:off x="457200" y="274638"/>
            <a:ext cx="8229600" cy="36828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00FF"/>
              </a:buClr>
              <a:buSzPts val="2160"/>
              <a:buFont typeface="Arial"/>
              <a:buNone/>
            </a:pPr>
            <a:r>
              <a:rPr lang="en-US" sz="2160">
                <a:solidFill>
                  <a:srgbClr val="0000FF"/>
                </a:solidFill>
                <a:latin typeface="Arial"/>
                <a:ea typeface="Arial"/>
                <a:cs typeface="Arial"/>
                <a:sym typeface="Arial"/>
              </a:rPr>
              <a:t>Further elaboration…</a:t>
            </a:r>
            <a:endParaRPr sz="3959">
              <a:latin typeface="Arial"/>
              <a:ea typeface="Arial"/>
              <a:cs typeface="Arial"/>
              <a:sym typeface="Arial"/>
            </a:endParaRPr>
          </a:p>
        </p:txBody>
      </p:sp>
      <p:graphicFrame>
        <p:nvGraphicFramePr>
          <p:cNvPr id="249" name="Google Shape;249;p21"/>
          <p:cNvGraphicFramePr/>
          <p:nvPr/>
        </p:nvGraphicFramePr>
        <p:xfrm>
          <a:off x="857224" y="1142984"/>
          <a:ext cx="3000000" cy="3000000"/>
        </p:xfrm>
        <a:graphic>
          <a:graphicData uri="http://schemas.openxmlformats.org/drawingml/2006/table">
            <a:tbl>
              <a:tblPr>
                <a:noFill/>
                <a:tableStyleId>{9840F9BB-31FC-47BC-8EF9-502747837A30}</a:tableStyleId>
              </a:tblPr>
              <a:tblGrid>
                <a:gridCol w="3457600"/>
                <a:gridCol w="4400575"/>
              </a:tblGrid>
              <a:tr h="436450">
                <a:tc>
                  <a:txBody>
                    <a:bodyPr/>
                    <a:lstStyle/>
                    <a:p>
                      <a:pPr indent="0" lvl="0" marL="0" marR="0" rtl="0" algn="l">
                        <a:spcBef>
                          <a:spcPts val="0"/>
                        </a:spcBef>
                        <a:spcAft>
                          <a:spcPts val="0"/>
                        </a:spcAft>
                        <a:buNone/>
                      </a:pPr>
                      <a:r>
                        <a:rPr b="1" lang="en-US" sz="1800" u="none" cap="none" strike="noStrike">
                          <a:latin typeface="Century Gothic"/>
                          <a:ea typeface="Century Gothic"/>
                          <a:cs typeface="Century Gothic"/>
                          <a:sym typeface="Century Gothic"/>
                        </a:rPr>
                        <a:t>Managerial activities</a:t>
                      </a:r>
                      <a:r>
                        <a:rPr lang="en-US" sz="1800" u="none" cap="none" strike="noStrike">
                          <a:latin typeface="Century Gothic"/>
                          <a:ea typeface="Century Gothic"/>
                          <a:cs typeface="Century Gothic"/>
                          <a:sym typeface="Century Gothic"/>
                        </a:rPr>
                        <a:t> </a:t>
                      </a:r>
                      <a:endParaRPr/>
                    </a:p>
                  </a:txBody>
                  <a:tcPr marT="28575" marB="28575" marR="28575" marL="2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lang="en-US" sz="1800">
                          <a:latin typeface="Century Gothic"/>
                          <a:ea typeface="Century Gothic"/>
                          <a:cs typeface="Century Gothic"/>
                          <a:sym typeface="Century Gothic"/>
                        </a:rPr>
                        <a:t>Associated roles</a:t>
                      </a:r>
                      <a:endParaRPr sz="1800">
                        <a:latin typeface="Century Gothic"/>
                        <a:ea typeface="Century Gothic"/>
                        <a:cs typeface="Century Gothic"/>
                        <a:sym typeface="Century Gothic"/>
                      </a:endParaRPr>
                    </a:p>
                  </a:txBody>
                  <a:tcPr marT="28575" marB="28575" marR="28575" marL="2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42475">
                <a:tc>
                  <a:txBody>
                    <a:bodyPr/>
                    <a:lstStyle/>
                    <a:p>
                      <a:pPr indent="0" lvl="0" marL="0" marR="0" rtl="0" algn="l">
                        <a:spcBef>
                          <a:spcPts val="0"/>
                        </a:spcBef>
                        <a:spcAft>
                          <a:spcPts val="0"/>
                        </a:spcAft>
                        <a:buNone/>
                      </a:pPr>
                      <a:r>
                        <a:rPr b="1" lang="en-US" sz="1800" u="sng">
                          <a:solidFill>
                            <a:srgbClr val="0000FF"/>
                          </a:solidFill>
                          <a:latin typeface="Century"/>
                          <a:ea typeface="Century"/>
                          <a:cs typeface="Century"/>
                          <a:sym typeface="Century"/>
                        </a:rPr>
                        <a:t>Interpersonal roles</a:t>
                      </a:r>
                      <a:endParaRPr sz="1800"/>
                    </a:p>
                  </a:txBody>
                  <a:tcPr marT="28575" marB="28575" marR="28575" marL="2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0" marR="0" rtl="0" algn="l">
                        <a:spcBef>
                          <a:spcPts val="0"/>
                        </a:spcBef>
                        <a:spcAft>
                          <a:spcPts val="0"/>
                        </a:spcAft>
                        <a:buClr>
                          <a:schemeClr val="dk1"/>
                        </a:buClr>
                        <a:buSzPts val="1800"/>
                        <a:buFont typeface="Arial"/>
                        <a:buChar char="•"/>
                      </a:pPr>
                      <a:r>
                        <a:rPr lang="en-US" sz="1800">
                          <a:latin typeface="Century Gothic"/>
                          <a:ea typeface="Century Gothic"/>
                          <a:cs typeface="Century Gothic"/>
                          <a:sym typeface="Century Gothic"/>
                        </a:rPr>
                        <a:t>figurehead </a:t>
                      </a:r>
                      <a:endParaRPr/>
                    </a:p>
                    <a:p>
                      <a:pPr indent="-114300" lvl="0" marL="0" marR="0" rtl="0" algn="l">
                        <a:spcBef>
                          <a:spcPts val="0"/>
                        </a:spcBef>
                        <a:spcAft>
                          <a:spcPts val="0"/>
                        </a:spcAft>
                        <a:buClr>
                          <a:schemeClr val="dk1"/>
                        </a:buClr>
                        <a:buSzPts val="1800"/>
                        <a:buFont typeface="Arial"/>
                        <a:buChar char="•"/>
                      </a:pPr>
                      <a:r>
                        <a:rPr lang="en-US" sz="1800">
                          <a:latin typeface="Century Gothic"/>
                          <a:ea typeface="Century Gothic"/>
                          <a:cs typeface="Century Gothic"/>
                          <a:sym typeface="Century Gothic"/>
                        </a:rPr>
                        <a:t>liaison </a:t>
                      </a:r>
                      <a:endParaRPr/>
                    </a:p>
                    <a:p>
                      <a:pPr indent="-114300" lvl="0" marL="0" marR="0" rtl="0" algn="l">
                        <a:spcBef>
                          <a:spcPts val="0"/>
                        </a:spcBef>
                        <a:spcAft>
                          <a:spcPts val="0"/>
                        </a:spcAft>
                        <a:buClr>
                          <a:schemeClr val="dk1"/>
                        </a:buClr>
                        <a:buSzPts val="1800"/>
                        <a:buFont typeface="Arial"/>
                        <a:buChar char="•"/>
                      </a:pPr>
                      <a:r>
                        <a:rPr lang="en-US" sz="1800">
                          <a:latin typeface="Century Gothic"/>
                          <a:ea typeface="Century Gothic"/>
                          <a:cs typeface="Century Gothic"/>
                          <a:sym typeface="Century Gothic"/>
                        </a:rPr>
                        <a:t>leader</a:t>
                      </a:r>
                      <a:endParaRPr/>
                    </a:p>
                  </a:txBody>
                  <a:tcPr marT="28575" marB="28575" marR="28575" marL="2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158850">
                <a:tc>
                  <a:txBody>
                    <a:bodyPr/>
                    <a:lstStyle/>
                    <a:p>
                      <a:pPr indent="0" lvl="0" marL="0" marR="0" rtl="0" algn="l">
                        <a:spcBef>
                          <a:spcPts val="0"/>
                        </a:spcBef>
                        <a:spcAft>
                          <a:spcPts val="0"/>
                        </a:spcAft>
                        <a:buNone/>
                      </a:pPr>
                      <a:r>
                        <a:rPr b="1" lang="en-US" sz="1800" u="sng">
                          <a:solidFill>
                            <a:srgbClr val="0000FF"/>
                          </a:solidFill>
                          <a:latin typeface="Century"/>
                          <a:ea typeface="Century"/>
                          <a:cs typeface="Century"/>
                          <a:sym typeface="Century"/>
                        </a:rPr>
                        <a:t>Informational roles</a:t>
                      </a:r>
                      <a:r>
                        <a:rPr lang="en-US" sz="1800" u="sng">
                          <a:solidFill>
                            <a:srgbClr val="0000FF"/>
                          </a:solidFill>
                          <a:latin typeface="Century"/>
                          <a:ea typeface="Century"/>
                          <a:cs typeface="Century"/>
                          <a:sym typeface="Century"/>
                        </a:rPr>
                        <a:t> </a:t>
                      </a:r>
                      <a:endParaRPr sz="1800" u="sng">
                        <a:solidFill>
                          <a:srgbClr val="0000FF"/>
                        </a:solidFill>
                        <a:latin typeface="Century"/>
                        <a:ea typeface="Century"/>
                        <a:cs typeface="Century"/>
                        <a:sym typeface="Century"/>
                      </a:endParaRPr>
                    </a:p>
                  </a:txBody>
                  <a:tcPr marT="28575" marB="28575" marR="28575" marL="2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0" marR="0" rtl="0" algn="l">
                        <a:spcBef>
                          <a:spcPts val="0"/>
                        </a:spcBef>
                        <a:spcAft>
                          <a:spcPts val="0"/>
                        </a:spcAft>
                        <a:buClr>
                          <a:schemeClr val="dk1"/>
                        </a:buClr>
                        <a:buSzPts val="1800"/>
                        <a:buFont typeface="Arial"/>
                        <a:buChar char="•"/>
                      </a:pPr>
                      <a:r>
                        <a:rPr lang="en-US" sz="1800">
                          <a:latin typeface="Century Gothic"/>
                          <a:ea typeface="Century Gothic"/>
                          <a:cs typeface="Century Gothic"/>
                          <a:sym typeface="Century Gothic"/>
                        </a:rPr>
                        <a:t>monitor </a:t>
                      </a:r>
                      <a:endParaRPr/>
                    </a:p>
                    <a:p>
                      <a:pPr indent="-114300" lvl="0" marL="0" marR="0" rtl="0" algn="l">
                        <a:spcBef>
                          <a:spcPts val="0"/>
                        </a:spcBef>
                        <a:spcAft>
                          <a:spcPts val="0"/>
                        </a:spcAft>
                        <a:buClr>
                          <a:schemeClr val="dk1"/>
                        </a:buClr>
                        <a:buSzPts val="1800"/>
                        <a:buFont typeface="Arial"/>
                        <a:buChar char="•"/>
                      </a:pPr>
                      <a:r>
                        <a:rPr lang="en-US" sz="1800">
                          <a:latin typeface="Century Gothic"/>
                          <a:ea typeface="Century Gothic"/>
                          <a:cs typeface="Century Gothic"/>
                          <a:sym typeface="Century Gothic"/>
                        </a:rPr>
                        <a:t>disseminator </a:t>
                      </a:r>
                      <a:endParaRPr/>
                    </a:p>
                    <a:p>
                      <a:pPr indent="-114300" lvl="0" marL="0" marR="0" rtl="0" algn="l">
                        <a:spcBef>
                          <a:spcPts val="0"/>
                        </a:spcBef>
                        <a:spcAft>
                          <a:spcPts val="0"/>
                        </a:spcAft>
                        <a:buClr>
                          <a:schemeClr val="dk1"/>
                        </a:buClr>
                        <a:buSzPts val="1800"/>
                        <a:buFont typeface="Arial"/>
                        <a:buChar char="•"/>
                      </a:pPr>
                      <a:r>
                        <a:rPr lang="en-US" sz="1800">
                          <a:latin typeface="Century Gothic"/>
                          <a:ea typeface="Century Gothic"/>
                          <a:cs typeface="Century Gothic"/>
                          <a:sym typeface="Century Gothic"/>
                        </a:rPr>
                        <a:t>spokesperson </a:t>
                      </a:r>
                      <a:endParaRPr sz="1800">
                        <a:latin typeface="Century Gothic"/>
                        <a:ea typeface="Century Gothic"/>
                        <a:cs typeface="Century Gothic"/>
                        <a:sym typeface="Century Gothic"/>
                      </a:endParaRPr>
                    </a:p>
                  </a:txBody>
                  <a:tcPr marT="28575" marB="28575" marR="28575" marL="2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520075">
                <a:tc>
                  <a:txBody>
                    <a:bodyPr/>
                    <a:lstStyle/>
                    <a:p>
                      <a:pPr indent="0" lvl="0" marL="0" marR="0" rtl="0" algn="l">
                        <a:spcBef>
                          <a:spcPts val="0"/>
                        </a:spcBef>
                        <a:spcAft>
                          <a:spcPts val="0"/>
                        </a:spcAft>
                        <a:buNone/>
                      </a:pPr>
                      <a:r>
                        <a:rPr b="1" lang="en-US" sz="1800" u="sng">
                          <a:solidFill>
                            <a:srgbClr val="0000FF"/>
                          </a:solidFill>
                          <a:latin typeface="Century"/>
                          <a:ea typeface="Century"/>
                          <a:cs typeface="Century"/>
                          <a:sym typeface="Century"/>
                        </a:rPr>
                        <a:t>Decisional roles</a:t>
                      </a:r>
                      <a:endParaRPr sz="1800">
                        <a:latin typeface="Century"/>
                        <a:ea typeface="Century"/>
                        <a:cs typeface="Century"/>
                        <a:sym typeface="Century"/>
                      </a:endParaRPr>
                    </a:p>
                  </a:txBody>
                  <a:tcPr marT="28575" marB="28575" marR="28575" marL="2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0" marR="0" rtl="0" algn="l">
                        <a:spcBef>
                          <a:spcPts val="0"/>
                        </a:spcBef>
                        <a:spcAft>
                          <a:spcPts val="0"/>
                        </a:spcAft>
                        <a:buClr>
                          <a:schemeClr val="dk1"/>
                        </a:buClr>
                        <a:buSzPts val="1800"/>
                        <a:buFont typeface="Arial"/>
                        <a:buChar char="•"/>
                      </a:pPr>
                      <a:r>
                        <a:rPr lang="en-US" sz="1800">
                          <a:latin typeface="Century Gothic"/>
                          <a:ea typeface="Century Gothic"/>
                          <a:cs typeface="Century Gothic"/>
                          <a:sym typeface="Century Gothic"/>
                        </a:rPr>
                        <a:t>improver/changer  (entrepreneur)</a:t>
                      </a:r>
                      <a:endParaRPr sz="1800">
                        <a:latin typeface="Century Gothic"/>
                        <a:ea typeface="Century Gothic"/>
                        <a:cs typeface="Century Gothic"/>
                        <a:sym typeface="Century Gothic"/>
                      </a:endParaRPr>
                    </a:p>
                    <a:p>
                      <a:pPr indent="-114300" lvl="0" marL="0" marR="0" rtl="0" algn="l">
                        <a:spcBef>
                          <a:spcPts val="0"/>
                        </a:spcBef>
                        <a:spcAft>
                          <a:spcPts val="0"/>
                        </a:spcAft>
                        <a:buClr>
                          <a:schemeClr val="dk1"/>
                        </a:buClr>
                        <a:buSzPts val="1800"/>
                        <a:buFont typeface="Arial"/>
                        <a:buChar char="•"/>
                      </a:pPr>
                      <a:r>
                        <a:rPr lang="en-US" sz="1800">
                          <a:latin typeface="Century Gothic"/>
                          <a:ea typeface="Century Gothic"/>
                          <a:cs typeface="Century Gothic"/>
                          <a:sym typeface="Century Gothic"/>
                        </a:rPr>
                        <a:t>disturbance handler </a:t>
                      </a:r>
                      <a:endParaRPr/>
                    </a:p>
                    <a:p>
                      <a:pPr indent="-114300" lvl="0" marL="0" marR="0" rtl="0" algn="l">
                        <a:spcBef>
                          <a:spcPts val="0"/>
                        </a:spcBef>
                        <a:spcAft>
                          <a:spcPts val="0"/>
                        </a:spcAft>
                        <a:buClr>
                          <a:schemeClr val="dk1"/>
                        </a:buClr>
                        <a:buSzPts val="1800"/>
                        <a:buFont typeface="Arial"/>
                        <a:buChar char="•"/>
                      </a:pPr>
                      <a:r>
                        <a:rPr lang="en-US" sz="1800">
                          <a:latin typeface="Century Gothic"/>
                          <a:ea typeface="Century Gothic"/>
                          <a:cs typeface="Century Gothic"/>
                          <a:sym typeface="Century Gothic"/>
                        </a:rPr>
                        <a:t>resource allocator </a:t>
                      </a:r>
                      <a:endParaRPr/>
                    </a:p>
                    <a:p>
                      <a:pPr indent="-114300" lvl="0" marL="0" marR="0" rtl="0" algn="l">
                        <a:spcBef>
                          <a:spcPts val="0"/>
                        </a:spcBef>
                        <a:spcAft>
                          <a:spcPts val="0"/>
                        </a:spcAft>
                        <a:buClr>
                          <a:schemeClr val="dk1"/>
                        </a:buClr>
                        <a:buSzPts val="1800"/>
                        <a:buFont typeface="Arial"/>
                        <a:buChar char="•"/>
                      </a:pPr>
                      <a:r>
                        <a:rPr lang="en-US" sz="1800">
                          <a:latin typeface="Century Gothic"/>
                          <a:ea typeface="Century Gothic"/>
                          <a:cs typeface="Century Gothic"/>
                          <a:sym typeface="Century Gothic"/>
                        </a:rPr>
                        <a:t>negotiator </a:t>
                      </a:r>
                      <a:endParaRPr/>
                    </a:p>
                  </a:txBody>
                  <a:tcPr marT="28575" marB="28575" marR="28575" marL="2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cxnSp>
        <p:nvCxnSpPr>
          <p:cNvPr id="250" name="Google Shape;250;p21"/>
          <p:cNvCxnSpPr/>
          <p:nvPr/>
        </p:nvCxnSpPr>
        <p:spPr>
          <a:xfrm rot="5400000">
            <a:off x="1500166" y="4000504"/>
            <a:ext cx="5429288" cy="1588"/>
          </a:xfrm>
          <a:prstGeom prst="straightConnector1">
            <a:avLst/>
          </a:prstGeom>
          <a:noFill/>
          <a:ln cap="flat" cmpd="sng" w="9525">
            <a:solidFill>
              <a:srgbClr val="4A7DBA"/>
            </a:solidFill>
            <a:prstDash val="solid"/>
            <a:round/>
            <a:headEnd len="sm" w="sm" type="none"/>
            <a:tailEnd len="sm" w="sm" type="none"/>
          </a:ln>
        </p:spPr>
      </p:cxnSp>
      <p:cxnSp>
        <p:nvCxnSpPr>
          <p:cNvPr id="251" name="Google Shape;251;p21"/>
          <p:cNvCxnSpPr/>
          <p:nvPr/>
        </p:nvCxnSpPr>
        <p:spPr>
          <a:xfrm>
            <a:off x="1071538" y="3786190"/>
            <a:ext cx="7143800" cy="1588"/>
          </a:xfrm>
          <a:prstGeom prst="straightConnector1">
            <a:avLst/>
          </a:prstGeom>
          <a:noFill/>
          <a:ln cap="flat" cmpd="sng" w="9525">
            <a:solidFill>
              <a:srgbClr val="4A7DBA"/>
            </a:solidFill>
            <a:prstDash val="solid"/>
            <a:round/>
            <a:headEnd len="sm" w="sm" type="none"/>
            <a:tailEnd len="sm" w="sm" type="none"/>
          </a:ln>
        </p:spPr>
      </p:cxnSp>
      <p:cxnSp>
        <p:nvCxnSpPr>
          <p:cNvPr id="252" name="Google Shape;252;p21"/>
          <p:cNvCxnSpPr/>
          <p:nvPr/>
        </p:nvCxnSpPr>
        <p:spPr>
          <a:xfrm>
            <a:off x="1071538" y="5000636"/>
            <a:ext cx="7143800" cy="1588"/>
          </a:xfrm>
          <a:prstGeom prst="straightConnector1">
            <a:avLst/>
          </a:prstGeom>
          <a:noFill/>
          <a:ln cap="flat" cmpd="sng" w="9525">
            <a:solidFill>
              <a:srgbClr val="4A7DBA"/>
            </a:solidFill>
            <a:prstDash val="solid"/>
            <a:round/>
            <a:headEnd len="sm" w="sm" type="none"/>
            <a:tailEnd len="sm" w="sm" type="non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entury"/>
              <a:buNone/>
            </a:pPr>
            <a:r>
              <a:rPr b="1" lang="en-US">
                <a:latin typeface="Century"/>
                <a:ea typeface="Century"/>
                <a:cs typeface="Century"/>
                <a:sym typeface="Century"/>
              </a:rPr>
              <a:t> </a:t>
            </a:r>
            <a:r>
              <a:rPr b="1" lang="en-US">
                <a:solidFill>
                  <a:srgbClr val="FF0066"/>
                </a:solidFill>
                <a:latin typeface="Century"/>
                <a:ea typeface="Century"/>
                <a:cs typeface="Century"/>
                <a:sym typeface="Century"/>
              </a:rPr>
              <a:t>Interpersonal Roles</a:t>
            </a:r>
            <a:endParaRPr b="1">
              <a:solidFill>
                <a:srgbClr val="FF0066"/>
              </a:solidFill>
              <a:latin typeface="Century"/>
              <a:ea typeface="Century"/>
              <a:cs typeface="Century"/>
              <a:sym typeface="Century"/>
            </a:endParaRPr>
          </a:p>
        </p:txBody>
      </p:sp>
      <p:sp>
        <p:nvSpPr>
          <p:cNvPr id="258" name="Google Shape;258;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80000"/>
              </a:lnSpc>
              <a:spcBef>
                <a:spcPts val="0"/>
              </a:spcBef>
              <a:spcAft>
                <a:spcPts val="0"/>
              </a:spcAft>
              <a:buClr>
                <a:srgbClr val="9933FF"/>
              </a:buClr>
              <a:buSzPts val="2960"/>
              <a:buChar char="•"/>
            </a:pPr>
            <a:r>
              <a:rPr b="1" lang="en-US" sz="2960">
                <a:solidFill>
                  <a:srgbClr val="9933FF"/>
                </a:solidFill>
                <a:latin typeface="Times New Roman"/>
                <a:ea typeface="Times New Roman"/>
                <a:cs typeface="Times New Roman"/>
                <a:sym typeface="Times New Roman"/>
              </a:rPr>
              <a:t>Figurehead:</a:t>
            </a:r>
            <a:r>
              <a:rPr lang="en-US" sz="2960">
                <a:solidFill>
                  <a:srgbClr val="9933FF"/>
                </a:solidFill>
                <a:latin typeface="Times New Roman"/>
                <a:ea typeface="Times New Roman"/>
                <a:cs typeface="Times New Roman"/>
                <a:sym typeface="Times New Roman"/>
              </a:rPr>
              <a:t> </a:t>
            </a:r>
            <a:r>
              <a:rPr lang="en-US" sz="2960">
                <a:latin typeface="Times New Roman"/>
                <a:ea typeface="Times New Roman"/>
                <a:cs typeface="Times New Roman"/>
                <a:sym typeface="Times New Roman"/>
              </a:rPr>
              <a:t>perform ceremonial duties like greeting company visitors, speaking at the opening of a new facility, or representing the company at a community </a:t>
            </a:r>
            <a:endParaRPr sz="2960">
              <a:latin typeface="Times New Roman"/>
              <a:ea typeface="Times New Roman"/>
              <a:cs typeface="Times New Roman"/>
              <a:sym typeface="Times New Roman"/>
            </a:endParaRPr>
          </a:p>
          <a:p>
            <a:pPr indent="-342900" lvl="0" marL="342900" rtl="0" algn="just">
              <a:lnSpc>
                <a:spcPct val="80000"/>
              </a:lnSpc>
              <a:spcBef>
                <a:spcPts val="592"/>
              </a:spcBef>
              <a:spcAft>
                <a:spcPts val="0"/>
              </a:spcAft>
              <a:buClr>
                <a:schemeClr val="dk1"/>
              </a:buClr>
              <a:buSzPts val="2960"/>
              <a:buNone/>
            </a:pPr>
            <a:r>
              <a:t/>
            </a:r>
            <a:endParaRPr sz="2960">
              <a:latin typeface="Times New Roman"/>
              <a:ea typeface="Times New Roman"/>
              <a:cs typeface="Times New Roman"/>
              <a:sym typeface="Times New Roman"/>
            </a:endParaRPr>
          </a:p>
          <a:p>
            <a:pPr indent="-342900" lvl="0" marL="342900" rtl="0" algn="just">
              <a:lnSpc>
                <a:spcPct val="80000"/>
              </a:lnSpc>
              <a:spcBef>
                <a:spcPts val="592"/>
              </a:spcBef>
              <a:spcAft>
                <a:spcPts val="0"/>
              </a:spcAft>
              <a:buClr>
                <a:srgbClr val="9933FF"/>
              </a:buClr>
              <a:buSzPts val="2960"/>
              <a:buChar char="•"/>
            </a:pPr>
            <a:r>
              <a:rPr b="1" lang="en-US" sz="2960">
                <a:solidFill>
                  <a:srgbClr val="9933FF"/>
                </a:solidFill>
                <a:latin typeface="Times New Roman"/>
                <a:ea typeface="Times New Roman"/>
                <a:cs typeface="Times New Roman"/>
                <a:sym typeface="Times New Roman"/>
              </a:rPr>
              <a:t>Leader:</a:t>
            </a:r>
            <a:r>
              <a:rPr lang="en-US" sz="2960">
                <a:solidFill>
                  <a:srgbClr val="9933FF"/>
                </a:solidFill>
                <a:latin typeface="Times New Roman"/>
                <a:ea typeface="Times New Roman"/>
                <a:cs typeface="Times New Roman"/>
                <a:sym typeface="Times New Roman"/>
              </a:rPr>
              <a:t> </a:t>
            </a:r>
            <a:r>
              <a:rPr lang="en-US" sz="2960">
                <a:latin typeface="Times New Roman"/>
                <a:ea typeface="Times New Roman"/>
                <a:cs typeface="Times New Roman"/>
                <a:sym typeface="Times New Roman"/>
              </a:rPr>
              <a:t>motivate and encourage workers to accomplish organizational objectives</a:t>
            </a:r>
            <a:endParaRPr/>
          </a:p>
          <a:p>
            <a:pPr indent="-154940" lvl="0" marL="342900" rtl="0" algn="just">
              <a:lnSpc>
                <a:spcPct val="80000"/>
              </a:lnSpc>
              <a:spcBef>
                <a:spcPts val="592"/>
              </a:spcBef>
              <a:spcAft>
                <a:spcPts val="0"/>
              </a:spcAft>
              <a:buClr>
                <a:schemeClr val="dk1"/>
              </a:buClr>
              <a:buSzPts val="2960"/>
              <a:buNone/>
            </a:pPr>
            <a:r>
              <a:t/>
            </a:r>
            <a:endParaRPr sz="2960">
              <a:latin typeface="Times New Roman"/>
              <a:ea typeface="Times New Roman"/>
              <a:cs typeface="Times New Roman"/>
              <a:sym typeface="Times New Roman"/>
            </a:endParaRPr>
          </a:p>
          <a:p>
            <a:pPr indent="-342900" lvl="0" marL="342900" rtl="0" algn="just">
              <a:lnSpc>
                <a:spcPct val="80000"/>
              </a:lnSpc>
              <a:spcBef>
                <a:spcPts val="592"/>
              </a:spcBef>
              <a:spcAft>
                <a:spcPts val="0"/>
              </a:spcAft>
              <a:buClr>
                <a:srgbClr val="9933FF"/>
              </a:buClr>
              <a:buSzPts val="2960"/>
              <a:buChar char="•"/>
            </a:pPr>
            <a:r>
              <a:rPr b="1" lang="en-US" sz="2960">
                <a:solidFill>
                  <a:srgbClr val="9933FF"/>
                </a:solidFill>
                <a:latin typeface="Times New Roman"/>
                <a:ea typeface="Times New Roman"/>
                <a:cs typeface="Times New Roman"/>
                <a:sym typeface="Times New Roman"/>
              </a:rPr>
              <a:t>Liaison: </a:t>
            </a:r>
            <a:r>
              <a:rPr lang="en-US" sz="2960">
                <a:latin typeface="Times New Roman"/>
                <a:ea typeface="Times New Roman"/>
                <a:cs typeface="Times New Roman"/>
                <a:sym typeface="Times New Roman"/>
              </a:rPr>
              <a:t>deal with people outside their units to develop alliances that will help in organisational goal achievement</a:t>
            </a:r>
            <a:endParaRPr/>
          </a:p>
          <a:p>
            <a:pPr indent="-154940" lvl="0" marL="342900" rtl="0" algn="l">
              <a:lnSpc>
                <a:spcPct val="80000"/>
              </a:lnSpc>
              <a:spcBef>
                <a:spcPts val="592"/>
              </a:spcBef>
              <a:spcAft>
                <a:spcPts val="0"/>
              </a:spcAft>
              <a:buClr>
                <a:schemeClr val="dk1"/>
              </a:buClr>
              <a:buSzPts val="2960"/>
              <a:buNone/>
            </a:pPr>
            <a:r>
              <a:t/>
            </a:r>
            <a:endParaRPr sz="2960"/>
          </a:p>
          <a:p>
            <a:pPr indent="-154940" lvl="0" marL="342900" rtl="0" algn="l">
              <a:lnSpc>
                <a:spcPct val="80000"/>
              </a:lnSpc>
              <a:spcBef>
                <a:spcPts val="592"/>
              </a:spcBef>
              <a:spcAft>
                <a:spcPts val="0"/>
              </a:spcAft>
              <a:buClr>
                <a:schemeClr val="dk1"/>
              </a:buClr>
              <a:buSzPts val="2960"/>
              <a:buNone/>
            </a:pPr>
            <a:r>
              <a:t/>
            </a:r>
            <a:endParaRPr sz="296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 </a:t>
            </a:r>
            <a:r>
              <a:rPr b="1" lang="en-US">
                <a:solidFill>
                  <a:srgbClr val="FF0066"/>
                </a:solidFill>
                <a:latin typeface="Century"/>
                <a:ea typeface="Century"/>
                <a:cs typeface="Century"/>
                <a:sym typeface="Century"/>
              </a:rPr>
              <a:t>Informational Roles</a:t>
            </a:r>
            <a:endParaRPr b="1">
              <a:solidFill>
                <a:srgbClr val="FF0066"/>
              </a:solidFill>
              <a:latin typeface="Century"/>
              <a:ea typeface="Century"/>
              <a:cs typeface="Century"/>
              <a:sym typeface="Century"/>
            </a:endParaRPr>
          </a:p>
        </p:txBody>
      </p:sp>
      <p:sp>
        <p:nvSpPr>
          <p:cNvPr id="264" name="Google Shape;264;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90000"/>
              </a:lnSpc>
              <a:spcBef>
                <a:spcPts val="0"/>
              </a:spcBef>
              <a:spcAft>
                <a:spcPts val="0"/>
              </a:spcAft>
              <a:buClr>
                <a:srgbClr val="7030A0"/>
              </a:buClr>
              <a:buSzPts val="3200"/>
              <a:buChar char="•"/>
            </a:pPr>
            <a:r>
              <a:rPr b="1" lang="en-US">
                <a:solidFill>
                  <a:srgbClr val="7030A0"/>
                </a:solidFill>
                <a:latin typeface="Times New Roman"/>
                <a:ea typeface="Times New Roman"/>
                <a:cs typeface="Times New Roman"/>
                <a:sym typeface="Times New Roman"/>
              </a:rPr>
              <a:t>Monitor:</a:t>
            </a:r>
            <a:r>
              <a:rPr lang="en-US">
                <a:solidFill>
                  <a:srgbClr val="FFFF00"/>
                </a:solidFill>
                <a:latin typeface="Times New Roman"/>
                <a:ea typeface="Times New Roman"/>
                <a:cs typeface="Times New Roman"/>
                <a:sym typeface="Times New Roman"/>
              </a:rPr>
              <a:t> </a:t>
            </a:r>
            <a:r>
              <a:rPr lang="en-US">
                <a:latin typeface="Times New Roman"/>
                <a:ea typeface="Times New Roman"/>
                <a:cs typeface="Times New Roman"/>
                <a:sym typeface="Times New Roman"/>
              </a:rPr>
              <a:t>scan environment for information, actively contact others for information, continually update news/ stories related to their business (inside and outside org.)</a:t>
            </a:r>
            <a:endParaRPr>
              <a:latin typeface="Times New Roman"/>
              <a:ea typeface="Times New Roman"/>
              <a:cs typeface="Times New Roman"/>
              <a:sym typeface="Times New Roman"/>
            </a:endParaRPr>
          </a:p>
          <a:p>
            <a:pPr indent="-342900" lvl="0" marL="342900" rtl="0" algn="just">
              <a:lnSpc>
                <a:spcPct val="90000"/>
              </a:lnSpc>
              <a:spcBef>
                <a:spcPts val="640"/>
              </a:spcBef>
              <a:spcAft>
                <a:spcPts val="0"/>
              </a:spcAft>
              <a:buClr>
                <a:srgbClr val="7030A0"/>
              </a:buClr>
              <a:buSzPts val="3200"/>
              <a:buChar char="•"/>
            </a:pPr>
            <a:r>
              <a:rPr b="1" lang="en-US">
                <a:solidFill>
                  <a:srgbClr val="7030A0"/>
                </a:solidFill>
                <a:latin typeface="Times New Roman"/>
                <a:ea typeface="Times New Roman"/>
                <a:cs typeface="Times New Roman"/>
                <a:sym typeface="Times New Roman"/>
              </a:rPr>
              <a:t>Disseminator:</a:t>
            </a:r>
            <a:r>
              <a:rPr b="1" lang="en-US">
                <a:solidFill>
                  <a:srgbClr val="9933FF"/>
                </a:solidFill>
                <a:latin typeface="Times New Roman"/>
                <a:ea typeface="Times New Roman"/>
                <a:cs typeface="Times New Roman"/>
                <a:sym typeface="Times New Roman"/>
              </a:rPr>
              <a:t> </a:t>
            </a:r>
            <a:r>
              <a:rPr lang="en-US">
                <a:latin typeface="Times New Roman"/>
                <a:ea typeface="Times New Roman"/>
                <a:cs typeface="Times New Roman"/>
                <a:sym typeface="Times New Roman"/>
              </a:rPr>
              <a:t>share the information they have collected with their subordinates and others in the company</a:t>
            </a:r>
            <a:endParaRPr/>
          </a:p>
          <a:p>
            <a:pPr indent="-342900" lvl="0" marL="342900" rtl="0" algn="just">
              <a:lnSpc>
                <a:spcPct val="90000"/>
              </a:lnSpc>
              <a:spcBef>
                <a:spcPts val="640"/>
              </a:spcBef>
              <a:spcAft>
                <a:spcPts val="0"/>
              </a:spcAft>
              <a:buClr>
                <a:srgbClr val="7030A0"/>
              </a:buClr>
              <a:buSzPts val="3200"/>
              <a:buChar char="•"/>
            </a:pPr>
            <a:r>
              <a:rPr b="1" lang="en-US">
                <a:solidFill>
                  <a:srgbClr val="7030A0"/>
                </a:solidFill>
                <a:latin typeface="Times New Roman"/>
                <a:ea typeface="Times New Roman"/>
                <a:cs typeface="Times New Roman"/>
                <a:sym typeface="Times New Roman"/>
              </a:rPr>
              <a:t>Spokesperson:</a:t>
            </a:r>
            <a:r>
              <a:rPr lang="en-US">
                <a:solidFill>
                  <a:srgbClr val="FFFF00"/>
                </a:solidFill>
                <a:latin typeface="Times New Roman"/>
                <a:ea typeface="Times New Roman"/>
                <a:cs typeface="Times New Roman"/>
                <a:sym typeface="Times New Roman"/>
              </a:rPr>
              <a:t> </a:t>
            </a:r>
            <a:r>
              <a:rPr lang="en-US">
                <a:latin typeface="Times New Roman"/>
                <a:ea typeface="Times New Roman"/>
                <a:cs typeface="Times New Roman"/>
                <a:sym typeface="Times New Roman"/>
              </a:rPr>
              <a:t>share information with people outside their departments and companies</a:t>
            </a:r>
            <a:endParaRPr/>
          </a:p>
          <a:p>
            <a:pPr indent="-342900" lvl="0" marL="342900" rtl="0" algn="just">
              <a:lnSpc>
                <a:spcPct val="90000"/>
              </a:lnSpc>
              <a:spcBef>
                <a:spcPts val="640"/>
              </a:spcBef>
              <a:spcAft>
                <a:spcPts val="0"/>
              </a:spcAft>
              <a:buClr>
                <a:schemeClr val="dk1"/>
              </a:buClr>
              <a:buSzPts val="3200"/>
              <a:buNone/>
            </a:pPr>
            <a:r>
              <a:t/>
            </a:r>
            <a:endParaRPr>
              <a:latin typeface="Times New Roman"/>
              <a:ea typeface="Times New Roman"/>
              <a:cs typeface="Times New Roman"/>
              <a:sym typeface="Times New Roman"/>
            </a:endParaRPr>
          </a:p>
          <a:p>
            <a:pPr indent="-139700" lvl="0" marL="342900" rtl="0" algn="just">
              <a:lnSpc>
                <a:spcPct val="90000"/>
              </a:lnSpc>
              <a:spcBef>
                <a:spcPts val="640"/>
              </a:spcBef>
              <a:spcAft>
                <a:spcPts val="0"/>
              </a:spcAft>
              <a:buClr>
                <a:schemeClr val="dk1"/>
              </a:buClr>
              <a:buSzPts val="3200"/>
              <a:buNone/>
            </a:pPr>
            <a:r>
              <a:t/>
            </a:r>
            <a:endParaRPr>
              <a:latin typeface="Times New Roman"/>
              <a:ea typeface="Times New Roman"/>
              <a:cs typeface="Times New Roman"/>
              <a:sym typeface="Times New Roman"/>
            </a:endParaRPr>
          </a:p>
          <a:p>
            <a:pPr indent="-139700" lvl="0" marL="342900" rtl="0" algn="l">
              <a:lnSpc>
                <a:spcPct val="90000"/>
              </a:lnSpc>
              <a:spcBef>
                <a:spcPts val="640"/>
              </a:spcBef>
              <a:spcAft>
                <a:spcPts val="0"/>
              </a:spcAft>
              <a:buClr>
                <a:schemeClr val="dk1"/>
              </a:buClr>
              <a:buSzPts val="3200"/>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 </a:t>
            </a:r>
            <a:r>
              <a:rPr b="1" lang="en-US">
                <a:solidFill>
                  <a:srgbClr val="FF0066"/>
                </a:solidFill>
                <a:latin typeface="Century"/>
                <a:ea typeface="Century"/>
                <a:cs typeface="Century"/>
                <a:sym typeface="Century"/>
              </a:rPr>
              <a:t>Decisional Roles</a:t>
            </a:r>
            <a:endParaRPr b="1">
              <a:solidFill>
                <a:srgbClr val="FF0066"/>
              </a:solidFill>
              <a:latin typeface="Century"/>
              <a:ea typeface="Century"/>
              <a:cs typeface="Century"/>
              <a:sym typeface="Century"/>
            </a:endParaRPr>
          </a:p>
        </p:txBody>
      </p:sp>
      <p:sp>
        <p:nvSpPr>
          <p:cNvPr id="270" name="Google Shape;270;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rgbClr val="7030A0"/>
              </a:buClr>
              <a:buSzPts val="3200"/>
              <a:buChar char="•"/>
            </a:pPr>
            <a:r>
              <a:rPr b="1" lang="en-US">
                <a:solidFill>
                  <a:srgbClr val="7030A0"/>
                </a:solidFill>
                <a:latin typeface="Times New Roman"/>
                <a:ea typeface="Times New Roman"/>
                <a:cs typeface="Times New Roman"/>
                <a:sym typeface="Times New Roman"/>
              </a:rPr>
              <a:t>Entrepreneur:</a:t>
            </a:r>
            <a:r>
              <a:rPr lang="en-US">
                <a:solidFill>
                  <a:srgbClr val="7030A0"/>
                </a:solidFill>
                <a:latin typeface="Times New Roman"/>
                <a:ea typeface="Times New Roman"/>
                <a:cs typeface="Times New Roman"/>
                <a:sym typeface="Times New Roman"/>
              </a:rPr>
              <a:t> </a:t>
            </a:r>
            <a:r>
              <a:rPr lang="en-US">
                <a:latin typeface="Times New Roman"/>
                <a:ea typeface="Times New Roman"/>
                <a:cs typeface="Times New Roman"/>
                <a:sym typeface="Times New Roman"/>
              </a:rPr>
              <a:t>adapt themselves, their subordinates, and their units to change/ innovation </a:t>
            </a:r>
            <a:endParaRPr/>
          </a:p>
          <a:p>
            <a:pPr indent="-139700" lvl="0" marL="342900" rtl="0" algn="just">
              <a:spcBef>
                <a:spcPts val="640"/>
              </a:spcBef>
              <a:spcAft>
                <a:spcPts val="0"/>
              </a:spcAft>
              <a:buClr>
                <a:schemeClr val="dk1"/>
              </a:buClr>
              <a:buSzPts val="3200"/>
              <a:buNone/>
            </a:pPr>
            <a:r>
              <a:t/>
            </a:r>
            <a:endParaRPr>
              <a:latin typeface="Times New Roman"/>
              <a:ea typeface="Times New Roman"/>
              <a:cs typeface="Times New Roman"/>
              <a:sym typeface="Times New Roman"/>
            </a:endParaRPr>
          </a:p>
          <a:p>
            <a:pPr indent="-342900" lvl="0" marL="342900" rtl="0" algn="just">
              <a:spcBef>
                <a:spcPts val="640"/>
              </a:spcBef>
              <a:spcAft>
                <a:spcPts val="0"/>
              </a:spcAft>
              <a:buClr>
                <a:srgbClr val="7030A0"/>
              </a:buClr>
              <a:buSzPts val="3200"/>
              <a:buChar char="•"/>
            </a:pPr>
            <a:r>
              <a:rPr b="1" lang="en-US">
                <a:solidFill>
                  <a:srgbClr val="7030A0"/>
                </a:solidFill>
                <a:latin typeface="Times New Roman"/>
                <a:ea typeface="Times New Roman"/>
                <a:cs typeface="Times New Roman"/>
                <a:sym typeface="Times New Roman"/>
              </a:rPr>
              <a:t>Disturbance Handler: </a:t>
            </a:r>
            <a:r>
              <a:rPr lang="en-US">
                <a:latin typeface="Times New Roman"/>
                <a:ea typeface="Times New Roman"/>
                <a:cs typeface="Times New Roman"/>
                <a:sym typeface="Times New Roman"/>
              </a:rPr>
              <a:t>respond to pressures and problems demand immediate attention and action</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rgbClr val="7030A0"/>
              </a:buClr>
              <a:buSzPts val="3200"/>
              <a:buChar char="•"/>
            </a:pPr>
            <a:r>
              <a:rPr b="1" lang="en-US">
                <a:solidFill>
                  <a:srgbClr val="7030A0"/>
                </a:solidFill>
                <a:latin typeface="Times New Roman"/>
                <a:ea typeface="Times New Roman"/>
                <a:cs typeface="Times New Roman"/>
                <a:sym typeface="Times New Roman"/>
              </a:rPr>
              <a:t>Resource Allocator:</a:t>
            </a:r>
            <a:r>
              <a:rPr lang="en-US">
                <a:solidFill>
                  <a:srgbClr val="7030A0"/>
                </a:solidFill>
                <a:latin typeface="Times New Roman"/>
                <a:ea typeface="Times New Roman"/>
                <a:cs typeface="Times New Roman"/>
                <a:sym typeface="Times New Roman"/>
              </a:rPr>
              <a:t> </a:t>
            </a:r>
            <a:r>
              <a:rPr lang="en-US">
                <a:latin typeface="Times New Roman"/>
                <a:ea typeface="Times New Roman"/>
                <a:cs typeface="Times New Roman"/>
                <a:sym typeface="Times New Roman"/>
              </a:rPr>
              <a:t>set priorities and decide about use of resources</a:t>
            </a:r>
            <a:endParaRPr/>
          </a:p>
          <a:p>
            <a:pPr indent="-139700" lvl="0" marL="342900" rtl="0" algn="just">
              <a:spcBef>
                <a:spcPts val="640"/>
              </a:spcBef>
              <a:spcAft>
                <a:spcPts val="0"/>
              </a:spcAft>
              <a:buClr>
                <a:schemeClr val="dk1"/>
              </a:buClr>
              <a:buSzPts val="3200"/>
              <a:buNone/>
            </a:pPr>
            <a:r>
              <a:t/>
            </a:r>
            <a:endParaRPr>
              <a:latin typeface="Times New Roman"/>
              <a:ea typeface="Times New Roman"/>
              <a:cs typeface="Times New Roman"/>
              <a:sym typeface="Times New Roman"/>
            </a:endParaRPr>
          </a:p>
          <a:p>
            <a:pPr indent="-342900" lvl="0" marL="342900" rtl="0" algn="just">
              <a:spcBef>
                <a:spcPts val="640"/>
              </a:spcBef>
              <a:spcAft>
                <a:spcPts val="0"/>
              </a:spcAft>
              <a:buClr>
                <a:srgbClr val="7030A0"/>
              </a:buClr>
              <a:buSzPts val="3200"/>
              <a:buChar char="•"/>
            </a:pPr>
            <a:r>
              <a:rPr b="1" lang="en-US">
                <a:solidFill>
                  <a:srgbClr val="7030A0"/>
                </a:solidFill>
                <a:latin typeface="Times New Roman"/>
                <a:ea typeface="Times New Roman"/>
                <a:cs typeface="Times New Roman"/>
                <a:sym typeface="Times New Roman"/>
              </a:rPr>
              <a:t>Negotiator: </a:t>
            </a:r>
            <a:r>
              <a:rPr lang="en-US">
                <a:latin typeface="Times New Roman"/>
                <a:ea typeface="Times New Roman"/>
                <a:cs typeface="Times New Roman"/>
                <a:sym typeface="Times New Roman"/>
              </a:rPr>
              <a:t>continual negotiate schedules, projects, goals, outcomes, resources, and employee raises in order to accomplish the goals</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2020-10-29T15:32:43Z</dcterms:created>
  <dc:creator>User</dc:creator>
</cp:coreProperties>
</file>