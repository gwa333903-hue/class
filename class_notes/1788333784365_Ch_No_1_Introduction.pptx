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24" autoAdjust="0"/>
  </p:normalViewPr>
  <p:slideViewPr>
    <p:cSldViewPr>
      <p:cViewPr varScale="1">
        <p:scale>
          <a:sx n="69" d="100"/>
          <a:sy n="69" d="100"/>
        </p:scale>
        <p:origin x="-858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56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0FC5E-39EC-4AAC-9FEA-A8D76DB693A9}" type="datetimeFigureOut">
              <a:rPr lang="en-IN" smtClean="0"/>
              <a:pPr/>
              <a:t>03-02-2019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07F2F0-B07F-4E6B-ACB5-2A9F4D950399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05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B2A0FD7-CA71-4D8F-AA7D-CFF19E19A051}" type="slidenum">
              <a:rPr lang="en-GB" smtClean="0"/>
              <a:pPr/>
              <a:t>1</a:t>
            </a:fld>
            <a:endParaRPr lang="en-GB" smtClean="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C62FD7D-E98B-4AD8-B8F0-337870159CC0}" type="slidenum">
              <a:rPr lang="en-GB" smtClean="0"/>
              <a:pPr/>
              <a:t>18</a:t>
            </a:fld>
            <a:endParaRPr lang="en-GB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E27043F-F942-4F3E-AE77-B70951E33046}" type="slidenum">
              <a:rPr lang="en-GB" smtClean="0"/>
              <a:pPr/>
              <a:t>28</a:t>
            </a:fld>
            <a:endParaRPr lang="en-GB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E83AE-4C97-46ED-B826-2FF94E0B5872}" type="datetimeFigureOut">
              <a:rPr lang="en-IN" smtClean="0"/>
              <a:pPr/>
              <a:t>03-02-2019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E01BD-7B6A-47B8-B310-4D54AF317C6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E83AE-4C97-46ED-B826-2FF94E0B5872}" type="datetimeFigureOut">
              <a:rPr lang="en-IN" smtClean="0"/>
              <a:pPr/>
              <a:t>03-02-2019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E01BD-7B6A-47B8-B310-4D54AF317C6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E83AE-4C97-46ED-B826-2FF94E0B5872}" type="datetimeFigureOut">
              <a:rPr lang="en-IN" smtClean="0"/>
              <a:pPr/>
              <a:t>03-02-2019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E01BD-7B6A-47B8-B310-4D54AF317C6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E83AE-4C97-46ED-B826-2FF94E0B5872}" type="datetimeFigureOut">
              <a:rPr lang="en-IN" smtClean="0"/>
              <a:pPr/>
              <a:t>03-02-2019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E01BD-7B6A-47B8-B310-4D54AF317C6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E83AE-4C97-46ED-B826-2FF94E0B5872}" type="datetimeFigureOut">
              <a:rPr lang="en-IN" smtClean="0"/>
              <a:pPr/>
              <a:t>03-02-2019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E01BD-7B6A-47B8-B310-4D54AF317C6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E83AE-4C97-46ED-B826-2FF94E0B5872}" type="datetimeFigureOut">
              <a:rPr lang="en-IN" smtClean="0"/>
              <a:pPr/>
              <a:t>03-02-2019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E01BD-7B6A-47B8-B310-4D54AF317C6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E83AE-4C97-46ED-B826-2FF94E0B5872}" type="datetimeFigureOut">
              <a:rPr lang="en-IN" smtClean="0"/>
              <a:pPr/>
              <a:t>03-02-2019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E01BD-7B6A-47B8-B310-4D54AF317C6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E83AE-4C97-46ED-B826-2FF94E0B5872}" type="datetimeFigureOut">
              <a:rPr lang="en-IN" smtClean="0"/>
              <a:pPr/>
              <a:t>03-02-2019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E01BD-7B6A-47B8-B310-4D54AF317C6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E83AE-4C97-46ED-B826-2FF94E0B5872}" type="datetimeFigureOut">
              <a:rPr lang="en-IN" smtClean="0"/>
              <a:pPr/>
              <a:t>03-02-2019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E01BD-7B6A-47B8-B310-4D54AF317C6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E83AE-4C97-46ED-B826-2FF94E0B5872}" type="datetimeFigureOut">
              <a:rPr lang="en-IN" smtClean="0"/>
              <a:pPr/>
              <a:t>03-02-2019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E01BD-7B6A-47B8-B310-4D54AF317C6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E83AE-4C97-46ED-B826-2FF94E0B5872}" type="datetimeFigureOut">
              <a:rPr lang="en-IN" smtClean="0"/>
              <a:pPr/>
              <a:t>03-02-2019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E01BD-7B6A-47B8-B310-4D54AF317C6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7E83AE-4C97-46ED-B826-2FF94E0B5872}" type="datetimeFigureOut">
              <a:rPr lang="en-IN" smtClean="0"/>
              <a:pPr/>
              <a:t>03-02-2019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CE01BD-7B6A-47B8-B310-4D54AF317C60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ubtitle 9"/>
          <p:cNvSpPr>
            <a:spLocks noGrp="1"/>
          </p:cNvSpPr>
          <p:nvPr>
            <p:ph type="subTitle" idx="1"/>
          </p:nvPr>
        </p:nvSpPr>
        <p:spPr>
          <a:xfrm>
            <a:off x="395536" y="1988840"/>
            <a:ext cx="8672264" cy="1296144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NATURE OF FINANCIAL MANAGEMENT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5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LEARNING OBJECTIVES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F556C19B-82F3-42F2-B09A-5896CAC998B4}" type="slidenum">
              <a:rPr lang="en-US"/>
              <a:pPr>
                <a:defRPr/>
              </a:pPr>
              <a:t>2</a:t>
            </a:fld>
            <a:endParaRPr lang="en-US"/>
          </a:p>
        </p:txBody>
      </p:sp>
      <p:sp>
        <p:nvSpPr>
          <p:cNvPr id="12292" name="Content Placeholder 6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algn="just" eaLnBrk="1" hangingPunct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Explain the nature of finance and its interaction with other management functions</a:t>
            </a:r>
          </a:p>
          <a:p>
            <a:pPr algn="just" eaLnBrk="1" hangingPunct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Review the changing role of the finance manager and his/her position in the management hierarchy</a:t>
            </a:r>
          </a:p>
          <a:p>
            <a:pPr algn="just" eaLnBrk="1" hangingPunct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Focus on the Shareholders’ Wealth Maximization (SWM) principle as an operationally desirable finance decision criterion</a:t>
            </a:r>
          </a:p>
          <a:p>
            <a:pPr algn="just" eaLnBrk="1" hangingPunct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Discuss agency problems arising from the relationship between shareholders and managers</a:t>
            </a:r>
          </a:p>
          <a:p>
            <a:pPr algn="just" eaLnBrk="1" hangingPunct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Illustrate the organization of finance function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Important Business Activities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9183DE9B-70F4-42B2-91AE-F1447F25007C}" type="slidenum">
              <a:rPr lang="en-GB"/>
              <a:pPr>
                <a:defRPr/>
              </a:pPr>
              <a:t>3</a:t>
            </a:fld>
            <a:endParaRPr lang="en-GB"/>
          </a:p>
        </p:txBody>
      </p:sp>
      <p:sp>
        <p:nvSpPr>
          <p:cNvPr id="13316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algn="just"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Production </a:t>
            </a:r>
          </a:p>
          <a:p>
            <a:pPr algn="just"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Marketing</a:t>
            </a:r>
          </a:p>
          <a:p>
            <a:pPr algn="just"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Finance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Real And Financial Assets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8912A2FE-8E4A-4A72-AE63-ED124C597823}" type="slidenum">
              <a:rPr lang="en-GB"/>
              <a:pPr>
                <a:defRPr/>
              </a:pPr>
              <a:t>4</a:t>
            </a:fld>
            <a:endParaRPr lang="en-GB"/>
          </a:p>
        </p:txBody>
      </p:sp>
      <p:sp>
        <p:nvSpPr>
          <p:cNvPr id="14340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124744"/>
            <a:ext cx="8153400" cy="4971256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Real Assets: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Can be Tangible or Intangible</a:t>
            </a:r>
          </a:p>
          <a:p>
            <a:pPr lvl="1" algn="just" eaLnBrk="1" hangingPunct="1"/>
            <a:r>
              <a:rPr lang="en-GB" b="1" dirty="0" smtClean="0">
                <a:latin typeface="Times New Roman" pitchFamily="18" charset="0"/>
                <a:cs typeface="Times New Roman" pitchFamily="18" charset="0"/>
              </a:rPr>
              <a:t>Tangible real assets 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are physical assets that include plant, machinery, office, factory, furniture and building.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 eaLnBrk="1" hangingPunct="1"/>
            <a:r>
              <a:rPr lang="en-GB" b="1" dirty="0" smtClean="0">
                <a:latin typeface="Times New Roman" pitchFamily="18" charset="0"/>
                <a:cs typeface="Times New Roman" pitchFamily="18" charset="0"/>
              </a:rPr>
              <a:t>Intangible real assets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 include technical know-how, technological collaborations, patents and copyrights. </a:t>
            </a:r>
          </a:p>
          <a:p>
            <a:pPr algn="just" eaLnBrk="1" hangingPunct="1"/>
            <a:r>
              <a:rPr lang="en-GB" b="1" dirty="0" smtClean="0">
                <a:latin typeface="Times New Roman" pitchFamily="18" charset="0"/>
                <a:cs typeface="Times New Roman" pitchFamily="18" charset="0"/>
              </a:rPr>
              <a:t>Financial Assets 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are</a:t>
            </a:r>
            <a:r>
              <a:rPr lang="en-GB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also called </a:t>
            </a:r>
            <a:r>
              <a:rPr lang="en-GB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securities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, are financial papers or instruments such as shares and bonds or debentures.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Equity and Borrowed Funds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07EBDD37-7DDA-4A43-9FCB-7413D683B594}" type="slidenum">
              <a:rPr lang="en-GB"/>
              <a:pPr>
                <a:defRPr/>
              </a:pPr>
              <a:t>5</a:t>
            </a:fld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268760"/>
            <a:ext cx="8153400" cy="4827240"/>
          </a:xfrm>
        </p:spPr>
        <p:txBody>
          <a:bodyPr>
            <a:normAutofit/>
          </a:bodyPr>
          <a:lstStyle/>
          <a:p>
            <a:pPr marL="320040" indent="-320040" algn="just" eaLnBrk="1" fontAlgn="auto" hangingPunct="1">
              <a:spcAft>
                <a:spcPts val="0"/>
              </a:spcAft>
              <a:defRPr/>
            </a:pPr>
            <a:r>
              <a:rPr lang="en-GB" b="1" dirty="0" smtClean="0">
                <a:latin typeface="Times New Roman" pitchFamily="18" charset="0"/>
                <a:cs typeface="Times New Roman" pitchFamily="18" charset="0"/>
              </a:rPr>
              <a:t>Shares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 represent ownership rights of their holders. Shareholders are owners of the company. Shares can of two types: </a:t>
            </a:r>
          </a:p>
          <a:p>
            <a:pPr marL="640080" lvl="1" indent="-274320" algn="just" eaLnBrk="1" fontAlgn="auto" hangingPunct="1">
              <a:spcAft>
                <a:spcPts val="0"/>
              </a:spcAft>
              <a:defRPr/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Equity Shares</a:t>
            </a:r>
          </a:p>
          <a:p>
            <a:pPr marL="640080" lvl="1" indent="-274320" algn="just" eaLnBrk="1" fontAlgn="auto" hangingPunct="1">
              <a:spcAft>
                <a:spcPts val="0"/>
              </a:spcAft>
              <a:defRPr/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Preference Shares</a:t>
            </a:r>
          </a:p>
          <a:p>
            <a:pPr marL="320040" indent="-320040" algn="just" eaLnBrk="1" fontAlgn="auto" hangingPunct="1">
              <a:spcAft>
                <a:spcPts val="0"/>
              </a:spcAft>
              <a:defRPr/>
            </a:pPr>
            <a:r>
              <a:rPr lang="en-GB" b="1" dirty="0" smtClean="0">
                <a:latin typeface="Times New Roman" pitchFamily="18" charset="0"/>
                <a:cs typeface="Times New Roman" pitchFamily="18" charset="0"/>
              </a:rPr>
              <a:t>Loans, Bonds or Debts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: represent liability of the firm towards outsiders. Lenders are not owners of the company. These provide </a:t>
            </a:r>
            <a:r>
              <a:rPr lang="en-GB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interest tax shield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320040" indent="-320040" algn="just" eaLnBrk="1" fontAlgn="auto" hangingPunct="1">
              <a:spcAft>
                <a:spcPts val="0"/>
              </a:spcAft>
              <a:defRPr/>
            </a:pP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Equity and Preference Shares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B5BFAE09-0C30-4B07-923D-660BED413610}" type="slidenum">
              <a:rPr lang="en-GB"/>
              <a:pPr>
                <a:defRPr/>
              </a:pPr>
              <a:t>6</a:t>
            </a:fld>
            <a:endParaRPr lang="en-GB"/>
          </a:p>
        </p:txBody>
      </p:sp>
      <p:sp>
        <p:nvSpPr>
          <p:cNvPr id="16388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124744"/>
            <a:ext cx="8153400" cy="4971256"/>
          </a:xfrm>
        </p:spPr>
        <p:txBody>
          <a:bodyPr>
            <a:normAutofit lnSpcReduction="10000"/>
          </a:bodyPr>
          <a:lstStyle/>
          <a:p>
            <a:pPr algn="just" eaLnBrk="1" hangingPunct="1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Equity Shares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are also known as </a:t>
            </a:r>
            <a:r>
              <a:rPr lang="en-US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ordinary shares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lvl="1" algn="just"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 not have fixed rate of dividend. </a:t>
            </a:r>
          </a:p>
          <a:p>
            <a:pPr lvl="1" algn="just"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There is no legal obligation to pay dividends to equity shareholders.</a:t>
            </a:r>
          </a:p>
          <a:p>
            <a:pPr algn="just" eaLnBrk="1" hangingPunct="1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Preference Shares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have preference for dividend payment over ordinary shareholders. </a:t>
            </a:r>
          </a:p>
          <a:p>
            <a:pPr lvl="1" algn="just"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They get fixed rate of dividends. </a:t>
            </a:r>
          </a:p>
          <a:p>
            <a:pPr lvl="1" algn="just"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They also have preference of repayment at the time of liquidation.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Finance and Management Func</a:t>
            </a:r>
            <a:r>
              <a:rPr lang="en-US" b="1" dirty="0" smtClean="0"/>
              <a:t>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3527A666-6081-48E9-B4FB-57FE1AB6F280}" type="slidenum">
              <a:rPr lang="en-GB"/>
              <a:pPr>
                <a:defRPr/>
              </a:pPr>
              <a:t>7</a:t>
            </a:fld>
            <a:endParaRPr lang="en-GB"/>
          </a:p>
        </p:txBody>
      </p:sp>
      <p:sp>
        <p:nvSpPr>
          <p:cNvPr id="17412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268760"/>
            <a:ext cx="8153400" cy="4827240"/>
          </a:xfrm>
        </p:spPr>
        <p:txBody>
          <a:bodyPr/>
          <a:lstStyle/>
          <a:p>
            <a:pPr algn="just"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All business activities involve acquisition and use of funds. </a:t>
            </a:r>
          </a:p>
          <a:p>
            <a:pPr algn="just" eaLnBrk="1" hangingPunct="1"/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Finance function makes money available to meet the costs of production and marketing operations.</a:t>
            </a:r>
          </a:p>
          <a:p>
            <a:pPr algn="just" eaLnBrk="1" hangingPunct="1"/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Financial policies are devised to fit production and marketing decisions of a firm in practice.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/>
            <a:endParaRPr lang="en-US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Finance Functions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1FFB9423-ECCA-416F-AD25-582B1642F422}" type="slidenum">
              <a:rPr lang="en-GB"/>
              <a:pPr>
                <a:defRPr/>
              </a:pPr>
              <a:t>8</a:t>
            </a:fld>
            <a:endParaRPr lang="en-GB"/>
          </a:p>
        </p:txBody>
      </p:sp>
      <p:sp>
        <p:nvSpPr>
          <p:cNvPr id="512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23528" y="1196752"/>
            <a:ext cx="8442647" cy="5040560"/>
          </a:xfrm>
        </p:spPr>
        <p:txBody>
          <a:bodyPr>
            <a:normAutofit/>
          </a:bodyPr>
          <a:lstStyle/>
          <a:p>
            <a:pPr marL="320040" indent="-320040" algn="just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Finance functions or decisions can be divided as follows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 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640080" lvl="1" indent="-274320" algn="just" eaLnBrk="1" fontAlgn="auto" hangingPunct="1">
              <a:spcAft>
                <a:spcPts val="0"/>
              </a:spcAft>
              <a:defRPr/>
            </a:pPr>
            <a:r>
              <a:rPr lang="en-GB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Long-term financial decisions</a:t>
            </a:r>
            <a:endParaRPr lang="en-US" b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2" algn="just" eaLnBrk="1" fontAlgn="auto" hangingPunct="1">
              <a:spcAft>
                <a:spcPts val="0"/>
              </a:spcAft>
              <a:defRPr/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Long-term asset-mix or investment decision or capital budgeting decisions.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2" algn="just" eaLnBrk="1" fontAlgn="auto" hangingPunct="1">
              <a:spcAft>
                <a:spcPts val="0"/>
              </a:spcAft>
              <a:defRPr/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Capital-mix or financing decision or capital structure and leverage decisions.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2" algn="just" eaLnBrk="1" fontAlgn="auto" hangingPunct="1">
              <a:spcAft>
                <a:spcPts val="0"/>
              </a:spcAft>
              <a:defRPr/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Profit allocation or dividend decision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640080" lvl="1" indent="-274320" algn="just" eaLnBrk="1" fontAlgn="auto" hangingPunct="1">
              <a:spcAft>
                <a:spcPts val="0"/>
              </a:spcAft>
              <a:defRPr/>
            </a:pPr>
            <a:r>
              <a:rPr lang="en-GB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Short-term financial decisions</a:t>
            </a:r>
            <a:endParaRPr lang="en-US" b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2" algn="just" eaLnBrk="1" fontAlgn="auto" hangingPunct="1">
              <a:spcAft>
                <a:spcPts val="0"/>
              </a:spcAft>
              <a:defRPr/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Short-term asset-mix or liquidity decision or working capital management.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Financial Procedures and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B252DD5A-AB79-403B-B9B2-A60B429EADB7}" type="slidenum">
              <a:rPr lang="en-GB"/>
              <a:pPr>
                <a:defRPr/>
              </a:pPr>
              <a:t>9</a:t>
            </a:fld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340768"/>
            <a:ext cx="8153400" cy="4755232"/>
          </a:xfrm>
        </p:spPr>
        <p:txBody>
          <a:bodyPr>
            <a:normAutofit/>
          </a:bodyPr>
          <a:lstStyle/>
          <a:p>
            <a:pPr marL="320040" indent="-320040" algn="just" eaLnBrk="1" fontAlgn="auto" hangingPunct="1">
              <a:spcAft>
                <a:spcPts val="0"/>
              </a:spcAft>
              <a:defRPr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For effective finance function some routine functions have to be performed. Some of these are: </a:t>
            </a:r>
          </a:p>
          <a:p>
            <a:pPr lvl="2" algn="just" eaLnBrk="1" fontAlgn="auto" hangingPunct="1"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Supervision receipts and payments and safeguarding of cash balances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2" algn="just" eaLnBrk="1" fontAlgn="auto" hangingPunct="1"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Custody and safeguarding of securities, insurance policies and other valuable papers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2" algn="just" eaLnBrk="1" fontAlgn="auto" hangingPunct="1"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Taking care of the mechanical details of new outside financing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2" algn="just" eaLnBrk="1" fontAlgn="auto" hangingPunct="1"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Record keeping and reporting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050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Finance Manager’s Role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893CAD92-71D6-44FA-9245-028240A1ECED}" type="slidenum">
              <a:rPr lang="en-GB"/>
              <a:pPr>
                <a:defRPr/>
              </a:pPr>
              <a:t>10</a:t>
            </a:fld>
            <a:endParaRPr lang="en-GB"/>
          </a:p>
        </p:txBody>
      </p:sp>
      <p:sp>
        <p:nvSpPr>
          <p:cNvPr id="20484" name="Rectangle 2051"/>
          <p:cNvSpPr>
            <a:spLocks noGrp="1" noChangeArrowheads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algn="just"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Raising of Funds</a:t>
            </a:r>
          </a:p>
          <a:p>
            <a:pPr algn="just"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Allocation of Funds</a:t>
            </a:r>
          </a:p>
          <a:p>
            <a:pPr algn="just"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Profit Planning</a:t>
            </a:r>
          </a:p>
          <a:p>
            <a:pPr algn="just"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Understanding Capital Markets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Financial Goals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B10F22AA-54F0-496E-A929-CFDD11D69096}" type="slidenum">
              <a:rPr lang="en-GB"/>
              <a:pPr>
                <a:defRPr/>
              </a:pPr>
              <a:t>11</a:t>
            </a:fld>
            <a:endParaRPr lang="en-GB"/>
          </a:p>
        </p:txBody>
      </p:sp>
      <p:sp>
        <p:nvSpPr>
          <p:cNvPr id="21508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algn="r"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Profit maximization (profit after tax)</a:t>
            </a:r>
          </a:p>
          <a:p>
            <a:pPr algn="r"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Maximizing earnings per share</a:t>
            </a:r>
          </a:p>
          <a:p>
            <a:pPr algn="r"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Wealth maximization</a:t>
            </a:r>
          </a:p>
        </p:txBody>
      </p:sp>
      <p:pic>
        <p:nvPicPr>
          <p:cNvPr id="21509" name="Picture 7" descr="http://decisionstats.files.wordpress.com/2009/12/wealth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81000" y="2438400"/>
            <a:ext cx="36576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Profit Maximization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A28BE7BA-BBEB-4B56-AE4A-48242658EC5A}" type="slidenum">
              <a:rPr lang="en-GB"/>
              <a:pPr>
                <a:defRPr/>
              </a:pPr>
              <a:t>12</a:t>
            </a:fld>
            <a:endParaRPr lang="en-GB"/>
          </a:p>
        </p:txBody>
      </p:sp>
      <p:sp>
        <p:nvSpPr>
          <p:cNvPr id="22532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algn="just" eaLnBrk="1" hangingPunct="1"/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Maximizing the rupee income of firm </a:t>
            </a:r>
          </a:p>
          <a:p>
            <a:pPr lvl="1" algn="just" eaLnBrk="1" hangingPunct="1">
              <a:buSzPct val="100000"/>
              <a:buFont typeface="Wingdings" pitchFamily="2" charset="2"/>
              <a:buChar char="ü"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Resources are efficiently utilized</a:t>
            </a:r>
          </a:p>
          <a:p>
            <a:pPr lvl="1" algn="just" eaLnBrk="1" hangingPunct="1">
              <a:buSzPct val="100000"/>
              <a:buFont typeface="Wingdings" pitchFamily="2" charset="2"/>
              <a:buChar char="ü"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Appropriate measure of firm performance</a:t>
            </a:r>
          </a:p>
          <a:p>
            <a:pPr lvl="1" algn="just" eaLnBrk="1" hangingPunct="1">
              <a:buSzPct val="100000"/>
              <a:buFont typeface="Wingdings" pitchFamily="2" charset="2"/>
              <a:buChar char="ü"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Serves interest of society also</a:t>
            </a:r>
          </a:p>
          <a:p>
            <a:pPr eaLnBrk="1" hangingPunct="1"/>
            <a:endParaRPr lang="en-US" sz="2400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Objections to Profit Maximization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2284A9DF-8A63-4009-9F0A-3E88DDBB5172}" type="slidenum">
              <a:rPr lang="en-GB"/>
              <a:pPr>
                <a:defRPr/>
              </a:pPr>
              <a:t>13</a:t>
            </a:fld>
            <a:endParaRPr lang="en-GB"/>
          </a:p>
        </p:txBody>
      </p:sp>
      <p:sp>
        <p:nvSpPr>
          <p:cNvPr id="23556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12775" y="1340768"/>
            <a:ext cx="8153400" cy="4755232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90000"/>
              </a:lnSpc>
              <a:buClr>
                <a:srgbClr val="FF0000"/>
              </a:buClr>
              <a:buSzPct val="125000"/>
              <a:buFont typeface="Wingdings 2" pitchFamily="18" charset="2"/>
              <a:buChar char=""/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It is Vague</a:t>
            </a:r>
          </a:p>
          <a:p>
            <a:pPr algn="just" eaLnBrk="1" hangingPunct="1">
              <a:lnSpc>
                <a:spcPct val="90000"/>
              </a:lnSpc>
              <a:buClr>
                <a:srgbClr val="FF0000"/>
              </a:buClr>
              <a:buSzPct val="125000"/>
              <a:buFont typeface="Wingdings 2" pitchFamily="18" charset="2"/>
              <a:buChar char=""/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It Ignores the Timing of Returns</a:t>
            </a:r>
          </a:p>
          <a:p>
            <a:pPr algn="just" eaLnBrk="1" hangingPunct="1">
              <a:lnSpc>
                <a:spcPct val="90000"/>
              </a:lnSpc>
              <a:buClr>
                <a:srgbClr val="FF0000"/>
              </a:buClr>
              <a:buSzPct val="125000"/>
              <a:buFont typeface="Wingdings 2" pitchFamily="18" charset="2"/>
              <a:buChar char=""/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It Ignores Risk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>
              <a:lnSpc>
                <a:spcPct val="90000"/>
              </a:lnSpc>
              <a:buClr>
                <a:srgbClr val="FF0000"/>
              </a:buClr>
              <a:buSzPct val="125000"/>
              <a:buFont typeface="Wingdings 2" pitchFamily="18" charset="2"/>
              <a:buChar char="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Assumes Perfect Competition</a:t>
            </a:r>
          </a:p>
          <a:p>
            <a:pPr algn="just" eaLnBrk="1" hangingPunct="1">
              <a:lnSpc>
                <a:spcPct val="90000"/>
              </a:lnSpc>
              <a:buClr>
                <a:srgbClr val="FF0000"/>
              </a:buClr>
              <a:buSzPct val="125000"/>
              <a:buFont typeface="Wingdings 2" pitchFamily="18" charset="2"/>
              <a:buChar char="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 new business environment profit maximization is regarded as     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Unrealistic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Difficult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Inappropriate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Maximizing Profit after Taxes or EPS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17476409-98AB-4A14-93AC-4520129CCFDD}" type="slidenum">
              <a:rPr lang="en-GB"/>
              <a:pPr>
                <a:defRPr/>
              </a:pPr>
              <a:t>14</a:t>
            </a:fld>
            <a:endParaRPr lang="en-GB"/>
          </a:p>
        </p:txBody>
      </p:sp>
      <p:sp>
        <p:nvSpPr>
          <p:cNvPr id="24580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12775" y="1124744"/>
            <a:ext cx="8153400" cy="4971256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endParaRPr lang="en-GB" dirty="0" smtClean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Maximising PAT or EPS does not maximise the economic welfare of the owners. 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Ignores timing and risk of the expected benefit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Market value is not a function of EPS. 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Maximizing EPS implies that the firm should make no dividend payment so long as funds can be invested at positive rate of return—such a policy may not always work.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Shareholders’ Wealth Maximization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234C949F-AF7D-4C7B-AD3F-EA012CA1F5D4}" type="slidenum">
              <a:rPr lang="en-GB"/>
              <a:pPr>
                <a:defRPr/>
              </a:pPr>
              <a:t>15</a:t>
            </a:fld>
            <a:endParaRPr lang="en-GB"/>
          </a:p>
        </p:txBody>
      </p:sp>
      <p:sp>
        <p:nvSpPr>
          <p:cNvPr id="25604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algn="just"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Maximizes the net present value of a course of action to shareholders.</a:t>
            </a:r>
          </a:p>
          <a:p>
            <a:pPr algn="just"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Accounts for the timing and risk of the expected benefits.</a:t>
            </a:r>
          </a:p>
          <a:p>
            <a:pPr algn="just"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Benefits are measured in terms of cash flows.</a:t>
            </a:r>
          </a:p>
          <a:p>
            <a:pPr algn="just" eaLnBrk="1" hangingPunct="1"/>
            <a:r>
              <a:rPr lang="en-US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Fundamental objective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—maximize the  market value of the firm’s shares.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Need for a Valuation Approach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DFC3DAF1-AE59-45AF-9B6B-B0D6B931F4CE}" type="slidenum">
              <a:rPr lang="en-US"/>
              <a:pPr>
                <a:defRPr/>
              </a:pPr>
              <a:t>16</a:t>
            </a:fld>
            <a:endParaRPr lang="en-US"/>
          </a:p>
        </p:txBody>
      </p:sp>
      <p:sp>
        <p:nvSpPr>
          <p:cNvPr id="26628" name="Content Placeholder 3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algn="just"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SWM requires a valuation model.</a:t>
            </a:r>
          </a:p>
          <a:p>
            <a:pPr algn="just"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financial manager must know,</a:t>
            </a:r>
          </a:p>
          <a:p>
            <a:pPr lvl="1" algn="just"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How much should a particular share be worth? </a:t>
            </a:r>
          </a:p>
          <a:p>
            <a:pPr lvl="1" algn="just"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Upon what factor or factors should its value depend?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GB" b="1" dirty="0" smtClean="0">
                <a:latin typeface="Times New Roman" pitchFamily="18" charset="0"/>
                <a:cs typeface="Times New Roman" pitchFamily="18" charset="0"/>
              </a:rPr>
              <a:t>Risk-return Trade-off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86567000-AB8F-47BB-900E-A6491EBC55FB}" type="slidenum">
              <a:rPr lang="en-GB"/>
              <a:pPr>
                <a:defRPr/>
              </a:pPr>
              <a:t>17</a:t>
            </a:fld>
            <a:endParaRPr lang="en-GB"/>
          </a:p>
        </p:txBody>
      </p:sp>
      <p:sp>
        <p:nvSpPr>
          <p:cNvPr id="27652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algn="just" eaLnBrk="1" hangingPunct="1"/>
            <a:r>
              <a:rPr lang="en-GB" dirty="0" smtClean="0"/>
              <a:t> 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Financial decisions of the firm are guided by the </a:t>
            </a:r>
            <a:r>
              <a:rPr lang="en-GB" b="1" dirty="0" smtClean="0">
                <a:latin typeface="Times New Roman" pitchFamily="18" charset="0"/>
                <a:cs typeface="Times New Roman" pitchFamily="18" charset="0"/>
              </a:rPr>
              <a:t>risk-return trade-off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 eaLnBrk="1" hangingPunct="1"/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The return and risk relationship:                                                           </a:t>
            </a:r>
            <a:r>
              <a:rPr lang="en-GB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Return = Risk-free rate + Risk premium</a:t>
            </a:r>
          </a:p>
          <a:p>
            <a:pPr algn="just" eaLnBrk="1" hangingPunct="1"/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Risk-free rate is a compensation for time and risk premium for risk. 	</a:t>
            </a:r>
            <a:r>
              <a:rPr lang="en-GB" sz="2400" dirty="0" smtClean="0"/>
              <a:t> </a:t>
            </a:r>
            <a:endParaRPr lang="en-US" sz="2400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Risk Return Trade-off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5761E619-EB20-4B5B-AA4F-4DC4EC4FDC28}" type="slidenum">
              <a:rPr lang="en-GB"/>
              <a:pPr>
                <a:defRPr/>
              </a:pPr>
              <a:t>18</a:t>
            </a:fld>
            <a:endParaRPr lang="en-GB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51520" y="1772816"/>
            <a:ext cx="8640960" cy="4272047"/>
            <a:chOff x="0" y="1772816"/>
            <a:chExt cx="9144000" cy="4272047"/>
          </a:xfrm>
        </p:grpSpPr>
        <p:sp>
          <p:nvSpPr>
            <p:cNvPr id="28677" name="Rectangle 6"/>
            <p:cNvSpPr>
              <a:spLocks noChangeArrowheads="1"/>
            </p:cNvSpPr>
            <p:nvPr/>
          </p:nvSpPr>
          <p:spPr bwMode="auto">
            <a:xfrm>
              <a:off x="0" y="5029200"/>
              <a:ext cx="9144000" cy="1015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GB" sz="2000" b="1" dirty="0">
                  <a:solidFill>
                    <a:srgbClr val="0070C0"/>
                  </a:solidFill>
                  <a:latin typeface="Times New Roman" pitchFamily="18" charset="0"/>
                  <a:cs typeface="Times New Roman" pitchFamily="18" charset="0"/>
                </a:rPr>
                <a:t>Risk and expected return move in tandem; </a:t>
              </a:r>
              <a:endParaRPr lang="en-GB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endParaRPr>
            </a:p>
            <a:p>
              <a:pPr algn="ctr"/>
              <a:r>
                <a:rPr lang="en-GB" sz="2000" b="1" dirty="0" smtClean="0">
                  <a:solidFill>
                    <a:srgbClr val="0070C0"/>
                  </a:solidFill>
                  <a:latin typeface="Times New Roman" pitchFamily="18" charset="0"/>
                  <a:cs typeface="Times New Roman" pitchFamily="18" charset="0"/>
                </a:rPr>
                <a:t>the </a:t>
              </a:r>
              <a:r>
                <a:rPr lang="en-GB" sz="2000" b="1" dirty="0">
                  <a:solidFill>
                    <a:srgbClr val="0070C0"/>
                  </a:solidFill>
                  <a:latin typeface="Times New Roman" pitchFamily="18" charset="0"/>
                  <a:cs typeface="Times New Roman" pitchFamily="18" charset="0"/>
                </a:rPr>
                <a:t>greater the risk, </a:t>
              </a:r>
              <a:endParaRPr lang="en-GB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endParaRPr>
            </a:p>
            <a:p>
              <a:pPr algn="ctr"/>
              <a:r>
                <a:rPr lang="en-GB" sz="2000" b="1" dirty="0" smtClean="0">
                  <a:solidFill>
                    <a:srgbClr val="0070C0"/>
                  </a:solidFill>
                  <a:latin typeface="Times New Roman" pitchFamily="18" charset="0"/>
                  <a:cs typeface="Times New Roman" pitchFamily="18" charset="0"/>
                </a:rPr>
                <a:t>the </a:t>
              </a:r>
              <a:r>
                <a:rPr lang="en-GB" sz="2000" b="1" dirty="0">
                  <a:solidFill>
                    <a:srgbClr val="0070C0"/>
                  </a:solidFill>
                  <a:latin typeface="Times New Roman" pitchFamily="18" charset="0"/>
                  <a:cs typeface="Times New Roman" pitchFamily="18" charset="0"/>
                </a:rPr>
                <a:t>greater the expected return.</a:t>
              </a:r>
              <a:endParaRPr lang="en-US" sz="20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pic>
          <p:nvPicPr>
            <p:cNvPr id="18439" name="Picture 7"/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rcRect/>
            <a:stretch>
              <a:fillRect/>
            </a:stretch>
          </p:blipFill>
          <p:spPr bwMode="auto">
            <a:xfrm>
              <a:off x="1752600" y="1772816"/>
              <a:ext cx="4800600" cy="277653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Overview of Financial Management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3D05394D-B049-45A2-905E-0A928C5D9AAD}" type="slidenum">
              <a:rPr lang="en-GB"/>
              <a:pPr>
                <a:defRPr/>
              </a:pPr>
              <a:t>19</a:t>
            </a:fld>
            <a:endParaRPr lang="en-GB"/>
          </a:p>
        </p:txBody>
      </p:sp>
      <p:pic>
        <p:nvPicPr>
          <p:cNvPr id="19463" name="Picture 7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980"/>
          <a:stretch>
            <a:fillRect/>
          </a:stretch>
        </p:blipFill>
        <p:spPr bwMode="auto">
          <a:xfrm>
            <a:off x="467544" y="1268760"/>
            <a:ext cx="8352928" cy="4896543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b="1" dirty="0" smtClean="0">
                <a:latin typeface="Times New Roman" pitchFamily="18" charset="0"/>
                <a:cs typeface="Times New Roman" pitchFamily="18" charset="0"/>
              </a:rPr>
              <a:t>Agency Problems: </a:t>
            </a:r>
            <a:br>
              <a:rPr lang="en-GB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GB" sz="3600" b="1" dirty="0" smtClean="0">
                <a:latin typeface="Times New Roman" pitchFamily="18" charset="0"/>
                <a:cs typeface="Times New Roman" pitchFamily="18" charset="0"/>
              </a:rPr>
              <a:t>Managers Versus Shareholders’ Goals</a:t>
            </a:r>
            <a:endParaRPr lang="en-US" sz="36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0D5CA771-7117-48E7-8BE8-DA5EDAEDB198}" type="slidenum">
              <a:rPr lang="en-GB"/>
              <a:pPr>
                <a:defRPr/>
              </a:pPr>
              <a:t>20</a:t>
            </a:fld>
            <a:endParaRPr lang="en-GB"/>
          </a:p>
        </p:txBody>
      </p:sp>
      <p:sp>
        <p:nvSpPr>
          <p:cNvPr id="30724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</a:pP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There is a Principal Agent relationship between managers and shareholders. 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</a:pPr>
            <a:endParaRPr lang="en-GB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>
              <a:lnSpc>
                <a:spcPct val="80000"/>
              </a:lnSpc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In theory, Managers should act in the best interests of shareholders.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</a:pPr>
            <a:endParaRPr lang="en-GB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>
              <a:lnSpc>
                <a:spcPct val="80000"/>
              </a:lnSpc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In practice, managers may maximise their own wealth (in the form of high salaries and perks) at the cost of shareholders.  </a:t>
            </a:r>
          </a:p>
          <a:p>
            <a:pPr algn="just" eaLnBrk="1" hangingPunct="1">
              <a:lnSpc>
                <a:spcPct val="80000"/>
              </a:lnSpc>
            </a:pPr>
            <a:endParaRPr lang="en-GB" sz="2800" dirty="0" smtClean="0"/>
          </a:p>
          <a:p>
            <a:pPr algn="just" eaLnBrk="1" hangingPunct="1">
              <a:lnSpc>
                <a:spcPct val="80000"/>
              </a:lnSpc>
            </a:pPr>
            <a:endParaRPr lang="en-US" sz="2800" i="1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b="1" dirty="0" smtClean="0">
                <a:latin typeface="Times New Roman" pitchFamily="18" charset="0"/>
                <a:cs typeface="Times New Roman" pitchFamily="18" charset="0"/>
              </a:rPr>
              <a:t>Agency Problems: </a:t>
            </a:r>
            <a:br>
              <a:rPr lang="en-GB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GB" sz="4000" b="1" dirty="0" smtClean="0">
                <a:latin typeface="Times New Roman" pitchFamily="18" charset="0"/>
                <a:cs typeface="Times New Roman" pitchFamily="18" charset="0"/>
              </a:rPr>
              <a:t>Managers Versus Shareholders’ Goals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82743B66-84F1-44F6-B3BF-9D0A21A46095}" type="slidenum">
              <a:rPr lang="en-GB"/>
              <a:pPr>
                <a:defRPr/>
              </a:pPr>
              <a:t>21</a:t>
            </a:fld>
            <a:endParaRPr lang="en-GB"/>
          </a:p>
        </p:txBody>
      </p:sp>
      <p:sp>
        <p:nvSpPr>
          <p:cNvPr id="31748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Managers may perceive their role as reconciling conflicting objectives of stakeholders. This stakeholders’ view of managers’ role may compromise with the objective of SWM.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</a:pPr>
            <a:endParaRPr lang="en-GB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>
              <a:lnSpc>
                <a:spcPct val="80000"/>
              </a:lnSpc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Managers may avoid taking high investment and financing risks that may otherwise be needed to maximize shareholders’ wealth. Such “satisfying” behaviour of managers will frustrate the objective of SWM as a normative guide</a:t>
            </a:r>
            <a:r>
              <a:rPr lang="en-GB" sz="2400" i="1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</a:pPr>
            <a:endParaRPr lang="en-GB" sz="2400" b="1" i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>
              <a:lnSpc>
                <a:spcPct val="80000"/>
              </a:lnSpc>
            </a:pPr>
            <a:r>
              <a:rPr lang="en-GB" sz="24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This conflict is known as </a:t>
            </a:r>
            <a:r>
              <a:rPr lang="en-GB" sz="2400" b="1" i="1" u="sng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Agency problem </a:t>
            </a:r>
            <a:r>
              <a:rPr lang="en-GB" sz="24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and it results into </a:t>
            </a:r>
            <a:r>
              <a:rPr lang="en-GB" sz="2400" b="1" i="1" u="sng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Agency costs</a:t>
            </a:r>
            <a:r>
              <a:rPr lang="en-GB" sz="24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b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Agency Costs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06EF0F86-BCB6-421E-8401-F5E603BDC7B3}" type="slidenum">
              <a:rPr lang="en-US"/>
              <a:pPr>
                <a:defRPr/>
              </a:pPr>
              <a:t>22</a:t>
            </a:fld>
            <a:endParaRPr lang="en-US"/>
          </a:p>
        </p:txBody>
      </p:sp>
      <p:sp>
        <p:nvSpPr>
          <p:cNvPr id="32772" name="Content Placeholder 3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algn="just"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Agency costs include the less than optimum share value for shareholders and costs incurred by them to monitor the actions of managers and control their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behaviour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1256184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sz="3800" b="1" dirty="0" smtClean="0">
                <a:latin typeface="Times New Roman" pitchFamily="18" charset="0"/>
                <a:cs typeface="Times New Roman" pitchFamily="18" charset="0"/>
              </a:rPr>
              <a:t>Financial Goals </a:t>
            </a:r>
            <a:r>
              <a:rPr lang="en-GB" sz="38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GB" sz="38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GB" sz="3800" b="1" dirty="0" smtClean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GB" sz="38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GB" sz="38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GB" sz="3800" b="1" dirty="0" smtClean="0">
                <a:latin typeface="Times New Roman" pitchFamily="18" charset="0"/>
                <a:cs typeface="Times New Roman" pitchFamily="18" charset="0"/>
              </a:rPr>
              <a:t>Firm’s Mission and Objectives</a:t>
            </a:r>
            <a:endParaRPr lang="en-US" sz="38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ACE247AB-A56B-4126-A98D-917C61BFADE1}" type="slidenum">
              <a:rPr lang="en-GB"/>
              <a:pPr>
                <a:defRPr/>
              </a:pPr>
              <a:t>23</a:t>
            </a:fld>
            <a:endParaRPr lang="en-GB"/>
          </a:p>
        </p:txBody>
      </p:sp>
      <p:sp>
        <p:nvSpPr>
          <p:cNvPr id="33796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>
            <a:normAutofit lnSpcReduction="10000"/>
          </a:bodyPr>
          <a:lstStyle/>
          <a:p>
            <a:pPr algn="just" eaLnBrk="1" hangingPunct="1"/>
            <a:endParaRPr lang="en-GB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/>
            <a:r>
              <a:rPr lang="en-GB" sz="2600" dirty="0" smtClean="0">
                <a:latin typeface="Times New Roman" pitchFamily="18" charset="0"/>
                <a:cs typeface="Times New Roman" pitchFamily="18" charset="0"/>
              </a:rPr>
              <a:t>Firms</a:t>
            </a:r>
            <a:r>
              <a:rPr lang="en-GB" sz="2600" dirty="0" smtClean="0">
                <a:latin typeface="Times New Roman" pitchFamily="18" charset="0"/>
                <a:cs typeface="Times New Roman" pitchFamily="18" charset="0"/>
              </a:rPr>
              <a:t>’ primary objective is maximizing the welfare of owners, but, in operational terms, they focus on the satisfaction of its customers through the production of goods and services needed by them.</a:t>
            </a:r>
          </a:p>
          <a:p>
            <a:pPr algn="just" eaLnBrk="1" hangingPunct="1"/>
            <a:r>
              <a:rPr lang="en-GB" sz="2600" dirty="0" smtClean="0">
                <a:latin typeface="Times New Roman" pitchFamily="18" charset="0"/>
                <a:cs typeface="Times New Roman" pitchFamily="18" charset="0"/>
              </a:rPr>
              <a:t>Firms state their vision, mission and values in broad terms.</a:t>
            </a:r>
          </a:p>
          <a:p>
            <a:pPr algn="just" eaLnBrk="1" hangingPunct="1"/>
            <a:r>
              <a:rPr lang="en-GB" sz="2600" dirty="0" smtClean="0">
                <a:latin typeface="Times New Roman" pitchFamily="18" charset="0"/>
                <a:cs typeface="Times New Roman" pitchFamily="18" charset="0"/>
              </a:rPr>
              <a:t>Wealth maximization is more appropriately a </a:t>
            </a:r>
            <a:r>
              <a:rPr lang="en-GB" sz="2600" i="1" dirty="0" smtClean="0">
                <a:latin typeface="Times New Roman" pitchFamily="18" charset="0"/>
                <a:cs typeface="Times New Roman" pitchFamily="18" charset="0"/>
              </a:rPr>
              <a:t>decision criterion</a:t>
            </a:r>
            <a:r>
              <a:rPr lang="en-GB" sz="2600" dirty="0" smtClean="0">
                <a:latin typeface="Times New Roman" pitchFamily="18" charset="0"/>
                <a:cs typeface="Times New Roman" pitchFamily="18" charset="0"/>
              </a:rPr>
              <a:t>, rather than an </a:t>
            </a:r>
            <a:r>
              <a:rPr lang="en-GB" sz="2600" i="1" dirty="0" smtClean="0">
                <a:latin typeface="Times New Roman" pitchFamily="18" charset="0"/>
                <a:cs typeface="Times New Roman" pitchFamily="18" charset="0"/>
              </a:rPr>
              <a:t>objective</a:t>
            </a:r>
            <a:r>
              <a:rPr lang="en-GB" sz="2600" dirty="0" smtClean="0">
                <a:latin typeface="Times New Roman" pitchFamily="18" charset="0"/>
                <a:cs typeface="Times New Roman" pitchFamily="18" charset="0"/>
              </a:rPr>
              <a:t> or a </a:t>
            </a:r>
            <a:r>
              <a:rPr lang="en-GB" sz="2600" i="1" dirty="0" smtClean="0">
                <a:latin typeface="Times New Roman" pitchFamily="18" charset="0"/>
                <a:cs typeface="Times New Roman" pitchFamily="18" charset="0"/>
              </a:rPr>
              <a:t>goal</a:t>
            </a:r>
            <a:r>
              <a:rPr lang="en-GB" sz="26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 eaLnBrk="1" hangingPunct="1"/>
            <a:r>
              <a:rPr lang="en-GB" sz="2600" dirty="0" smtClean="0">
                <a:latin typeface="Times New Roman" pitchFamily="18" charset="0"/>
                <a:cs typeface="Times New Roman" pitchFamily="18" charset="0"/>
              </a:rPr>
              <a:t>Goals or objectives are missions or basic purposes of a firm’s existence.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14002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sz="3800" b="1" dirty="0" smtClean="0">
                <a:latin typeface="Times New Roman" pitchFamily="18" charset="0"/>
                <a:cs typeface="Times New Roman" pitchFamily="18" charset="0"/>
              </a:rPr>
              <a:t>Financial Goals </a:t>
            </a:r>
            <a:br>
              <a:rPr lang="en-GB" sz="38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GB" sz="3800" b="1" dirty="0" smtClean="0">
                <a:latin typeface="Times New Roman" pitchFamily="18" charset="0"/>
                <a:cs typeface="Times New Roman" pitchFamily="18" charset="0"/>
              </a:rPr>
              <a:t>and </a:t>
            </a:r>
            <a:br>
              <a:rPr lang="en-GB" sz="38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GB" sz="3800" b="1" dirty="0" smtClean="0">
                <a:latin typeface="Times New Roman" pitchFamily="18" charset="0"/>
                <a:cs typeface="Times New Roman" pitchFamily="18" charset="0"/>
              </a:rPr>
              <a:t>Firm’s Mission and Objectives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7B029160-3D9D-45DB-8CDD-ED007423971C}" type="slidenum">
              <a:rPr lang="en-GB"/>
              <a:pPr>
                <a:defRPr/>
              </a:pPr>
              <a:t>24</a:t>
            </a:fld>
            <a:endParaRPr lang="en-GB"/>
          </a:p>
        </p:txBody>
      </p:sp>
      <p:sp>
        <p:nvSpPr>
          <p:cNvPr id="34820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1600200"/>
            <a:ext cx="8537575" cy="4495800"/>
          </a:xfrm>
        </p:spPr>
        <p:txBody>
          <a:bodyPr>
            <a:normAutofit fontScale="92500" lnSpcReduction="10000"/>
          </a:bodyPr>
          <a:lstStyle/>
          <a:p>
            <a:pPr algn="just" eaLnBrk="1" hangingPunct="1"/>
            <a:endParaRPr lang="en-GB" dirty="0" smtClean="0"/>
          </a:p>
          <a:p>
            <a:pPr algn="just" eaLnBrk="1" hangingPunct="1"/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The shareholders’ wealth maximization is the second-level criterion ensuring that the decision meets the minimum standard of the economic performance. </a:t>
            </a:r>
          </a:p>
          <a:p>
            <a:pPr algn="just" eaLnBrk="1" hangingPunct="1"/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In the final decision-making, the judgement of management plays the crucial role. </a:t>
            </a:r>
          </a:p>
          <a:p>
            <a:pPr algn="just" eaLnBrk="1" hangingPunct="1"/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The wealth maximization criterion would simply indicate whether an action is economically viable or not.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GB" sz="3800" b="1" dirty="0" smtClean="0">
                <a:latin typeface="Times New Roman" pitchFamily="18" charset="0"/>
                <a:cs typeface="Times New Roman" pitchFamily="18" charset="0"/>
              </a:rPr>
              <a:t>Organisation of the Finance Functions</a:t>
            </a:r>
            <a:r>
              <a:rPr lang="en-US" sz="3800" b="1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A0AFE238-85DE-4281-8840-4EA6B20C6381}" type="slidenum">
              <a:rPr lang="en-GB"/>
              <a:pPr>
                <a:defRPr/>
              </a:pPr>
              <a:t>25</a:t>
            </a:fld>
            <a:endParaRPr lang="en-GB"/>
          </a:p>
        </p:txBody>
      </p:sp>
      <p:sp>
        <p:nvSpPr>
          <p:cNvPr id="35844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algn="just" eaLnBrk="1" hangingPunct="1"/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Reason for placing the finance functions in the hands of top management </a:t>
            </a:r>
            <a:endParaRPr lang="en-GB" i="1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 eaLnBrk="1" hangingPunct="1"/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Financial decisions are crucial for the survival of the firm.</a:t>
            </a:r>
            <a:endParaRPr lang="en-GB" sz="2400" i="1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 eaLnBrk="1" hangingPunct="1"/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The financial actions determine solvency of the firm</a:t>
            </a:r>
            <a:endParaRPr lang="en-GB" sz="2400" i="1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 eaLnBrk="1" hangingPunct="1"/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Centralisation of the finance functions can result in a number of economies to the firm.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Organisation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of Finance Function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87E00DA1-3D22-47F7-818E-BA2B41AC4BF2}" type="slidenum">
              <a:rPr lang="en-GB"/>
              <a:pPr>
                <a:defRPr/>
              </a:pPr>
              <a:t>26</a:t>
            </a:fld>
            <a:endParaRPr lang="en-GB"/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666750" y="1752600"/>
            <a:ext cx="7791450" cy="4394200"/>
            <a:chOff x="228600" y="1752600"/>
            <a:chExt cx="7791450" cy="4394200"/>
          </a:xfrm>
        </p:grpSpPr>
        <p:pic>
          <p:nvPicPr>
            <p:cNvPr id="25607" name="Picture 7"/>
            <p:cNvPicPr>
              <a:picLocks noChangeAspect="1" noChangeArrowheads="1"/>
            </p:cNvPicPr>
            <p:nvPr/>
          </p:nvPicPr>
          <p:blipFill>
            <a:blip r:embed="rId2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rcRect l="2015"/>
            <a:stretch>
              <a:fillRect/>
            </a:stretch>
          </p:blipFill>
          <p:spPr bwMode="auto">
            <a:xfrm>
              <a:off x="228600" y="1752600"/>
              <a:ext cx="3705225" cy="381000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36870" name="TextBox 9"/>
            <p:cNvSpPr txBox="1">
              <a:spLocks noChangeArrowheads="1"/>
            </p:cNvSpPr>
            <p:nvPr/>
          </p:nvSpPr>
          <p:spPr bwMode="auto">
            <a:xfrm>
              <a:off x="304800" y="5715000"/>
              <a:ext cx="3733800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600" b="1" dirty="0">
                  <a:latin typeface="Times New Roman" pitchFamily="18" charset="0"/>
                  <a:cs typeface="Times New Roman" pitchFamily="18" charset="0"/>
                </a:rPr>
                <a:t>Organization for finance function</a:t>
              </a:r>
            </a:p>
          </p:txBody>
        </p:sp>
        <p:pic>
          <p:nvPicPr>
            <p:cNvPr id="25608" name="Picture 8"/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prstClr val="black"/>
                <a:srgbClr val="FFFF00">
                  <a:tint val="45000"/>
                  <a:satMod val="400000"/>
                </a:srgbClr>
              </a:duotone>
            </a:blip>
            <a:srcRect/>
            <a:stretch>
              <a:fillRect/>
            </a:stretch>
          </p:blipFill>
          <p:spPr bwMode="auto">
            <a:xfrm>
              <a:off x="4267200" y="1752600"/>
              <a:ext cx="3752850" cy="373380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36872" name="TextBox 11"/>
            <p:cNvSpPr txBox="1">
              <a:spLocks noChangeArrowheads="1"/>
            </p:cNvSpPr>
            <p:nvPr/>
          </p:nvSpPr>
          <p:spPr bwMode="auto">
            <a:xfrm>
              <a:off x="4133850" y="5562600"/>
              <a:ext cx="3505200" cy="584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600" b="1" i="1" dirty="0">
                  <a:latin typeface="Times New Roman" pitchFamily="18" charset="0"/>
                  <a:cs typeface="Times New Roman" pitchFamily="18" charset="0"/>
                </a:rPr>
                <a:t>Organization for finance function in a multidivisional company</a:t>
              </a:r>
              <a:endParaRPr lang="en-US" sz="1600" b="1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3800" b="1" dirty="0" smtClean="0">
                <a:latin typeface="Times New Roman" pitchFamily="18" charset="0"/>
                <a:cs typeface="Times New Roman" pitchFamily="18" charset="0"/>
              </a:rPr>
              <a:t>Status and Duties of Finance Executives</a:t>
            </a:r>
            <a:endParaRPr lang="en-US" sz="38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8B910348-1D20-4E28-A23A-54CAA1BA8545}" type="slidenum">
              <a:rPr lang="en-GB"/>
              <a:pPr>
                <a:defRPr/>
              </a:pPr>
              <a:t>27</a:t>
            </a:fld>
            <a:endParaRPr lang="en-GB"/>
          </a:p>
        </p:txBody>
      </p:sp>
      <p:sp>
        <p:nvSpPr>
          <p:cNvPr id="37892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algn="just" eaLnBrk="1" hangingPunct="1"/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The exact organisation structure for financial management will differ across firms. </a:t>
            </a:r>
          </a:p>
          <a:p>
            <a:pPr algn="just" eaLnBrk="1" hangingPunct="1"/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The financial officer may be known as the financial manager in some organisations, while in others as the vice-president of finance or the director of finance or the financial controller</a:t>
            </a:r>
            <a:r>
              <a:rPr lang="en-GB" dirty="0" smtClean="0"/>
              <a:t>. </a:t>
            </a:r>
            <a:endParaRPr lang="en-US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GB" b="1" dirty="0" smtClean="0">
                <a:latin typeface="Times New Roman" pitchFamily="18" charset="0"/>
                <a:cs typeface="Times New Roman" pitchFamily="18" charset="0"/>
              </a:rPr>
              <a:t>Role of Treasurer and Controller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43EAEC64-D104-4EC8-886D-EFC07EACC84A}" type="slidenum">
              <a:rPr lang="en-GB"/>
              <a:pPr>
                <a:defRPr/>
              </a:pPr>
              <a:t>28</a:t>
            </a:fld>
            <a:endParaRPr lang="en-GB"/>
          </a:p>
        </p:txBody>
      </p:sp>
      <p:sp>
        <p:nvSpPr>
          <p:cNvPr id="38916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algn="just" eaLnBrk="1" hangingPunct="1"/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Two officers—the </a:t>
            </a:r>
            <a:r>
              <a:rPr lang="en-GB" b="1" dirty="0" smtClean="0">
                <a:latin typeface="Times New Roman" pitchFamily="18" charset="0"/>
                <a:cs typeface="Times New Roman" pitchFamily="18" charset="0"/>
              </a:rPr>
              <a:t>treasurer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 and the </a:t>
            </a:r>
            <a:r>
              <a:rPr lang="en-GB" b="1" dirty="0" smtClean="0">
                <a:latin typeface="Times New Roman" pitchFamily="18" charset="0"/>
                <a:cs typeface="Times New Roman" pitchFamily="18" charset="0"/>
              </a:rPr>
              <a:t>controller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—may be appointed under the direct supervision of CFO to assist him or her.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/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The treasurer’s function is to raise and manage company funds while the controller oversees whether funds are correctly ap</a:t>
            </a:r>
            <a:r>
              <a:rPr lang="en-GB" dirty="0" smtClean="0"/>
              <a:t>plied.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1162</Words>
  <Application>Microsoft Office PowerPoint</Application>
  <PresentationFormat>On-screen Show (4:3)</PresentationFormat>
  <Paragraphs>163</Paragraphs>
  <Slides>28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Slide 1</vt:lpstr>
      <vt:lpstr>LEARNING OBJECTIVES</vt:lpstr>
      <vt:lpstr>Important Business Activities</vt:lpstr>
      <vt:lpstr>Real And Financial Assets</vt:lpstr>
      <vt:lpstr>Equity and Borrowed Funds</vt:lpstr>
      <vt:lpstr>Equity and Preference Shares</vt:lpstr>
      <vt:lpstr>Finance and Management Functions</vt:lpstr>
      <vt:lpstr>Finance Functions</vt:lpstr>
      <vt:lpstr>Financial Procedures and Systems</vt:lpstr>
      <vt:lpstr>Finance Manager’s Role</vt:lpstr>
      <vt:lpstr>Financial Goals</vt:lpstr>
      <vt:lpstr>Profit Maximization</vt:lpstr>
      <vt:lpstr>Objections to Profit Maximization</vt:lpstr>
      <vt:lpstr>Maximizing Profit after Taxes or EPS</vt:lpstr>
      <vt:lpstr>Shareholders’ Wealth Maximization</vt:lpstr>
      <vt:lpstr>Need for a Valuation Approach</vt:lpstr>
      <vt:lpstr>Risk-return Trade-off</vt:lpstr>
      <vt:lpstr>Risk Return Trade-off</vt:lpstr>
      <vt:lpstr>Overview of Financial Management</vt:lpstr>
      <vt:lpstr>Agency Problems:  Managers Versus Shareholders’ Goals</vt:lpstr>
      <vt:lpstr>Agency Problems:  Managers Versus Shareholders’ Goals</vt:lpstr>
      <vt:lpstr>Agency Costs</vt:lpstr>
      <vt:lpstr>Financial Goals  and  Firm’s Mission and Objectives</vt:lpstr>
      <vt:lpstr>Financial Goals  and  Firm’s Mission and Objectives</vt:lpstr>
      <vt:lpstr>Organisation of the Finance Functions </vt:lpstr>
      <vt:lpstr>Organisation of Finance Function</vt:lpstr>
      <vt:lpstr>Status and Duties of Finance Executives</vt:lpstr>
      <vt:lpstr>Role of Treasurer and Controller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Windows User</cp:lastModifiedBy>
  <cp:revision>4</cp:revision>
  <dcterms:created xsi:type="dcterms:W3CDTF">2019-02-03T11:02:23Z</dcterms:created>
  <dcterms:modified xsi:type="dcterms:W3CDTF">2019-02-03T11:16:53Z</dcterms:modified>
</cp:coreProperties>
</file>