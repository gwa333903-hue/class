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y="6858000" cx="9144000"/>
  <p:notesSz cx="6858000" cy="9144000"/>
  <p:embeddedFontLst>
    <p:embeddedFont>
      <p:font typeface="Book Antiqua"/>
      <p:regular r:id="rId36"/>
      <p:bold r:id="rId37"/>
      <p:italic r:id="rId38"/>
      <p:boldItalic r:id="rId39"/>
    </p:embeddedFont>
    <p:embeddedFont>
      <p:font typeface="Arial Black"/>
      <p:regular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1" roundtripDataSignature="AMtx7mhlDuw1pS07Mr+P9BHMsRj3+xo4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CB5D72-E40D-4128-AE8A-08E5C456A0FB}">
  <a:tblStyle styleId="{84CB5D72-E40D-4128-AE8A-08E5C456A0FB}" styleName="Table_0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dk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dk1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alBlack-regular.fntdata"/><Relationship Id="rId20" Type="http://schemas.openxmlformats.org/officeDocument/2006/relationships/slide" Target="slides/slide13.xml"/><Relationship Id="rId41" Type="http://customschemas.google.com/relationships/presentationmetadata" Target="meta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BookAntiqua-bold.fntdata"/><Relationship Id="rId14" Type="http://schemas.openxmlformats.org/officeDocument/2006/relationships/slide" Target="slides/slide7.xml"/><Relationship Id="rId36" Type="http://schemas.openxmlformats.org/officeDocument/2006/relationships/font" Target="fonts/BookAntiqua-regular.fntdata"/><Relationship Id="rId17" Type="http://schemas.openxmlformats.org/officeDocument/2006/relationships/slide" Target="slides/slide10.xml"/><Relationship Id="rId39" Type="http://schemas.openxmlformats.org/officeDocument/2006/relationships/font" Target="fonts/BookAntiqua-boldItalic.fntdata"/><Relationship Id="rId16" Type="http://schemas.openxmlformats.org/officeDocument/2006/relationships/slide" Target="slides/slide9.xml"/><Relationship Id="rId38" Type="http://schemas.openxmlformats.org/officeDocument/2006/relationships/font" Target="fonts/BookAntiqua-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dk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2"/>
          <p:cNvSpPr/>
          <p:nvPr/>
        </p:nvSpPr>
        <p:spPr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" name="Google Shape;16;p32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" name="Google Shape;17;p32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" name="Google Shape;18;p32"/>
          <p:cNvSpPr txBox="1"/>
          <p:nvPr>
            <p:ph type="ctrTitle"/>
          </p:nvPr>
        </p:nvSpPr>
        <p:spPr>
          <a:xfrm>
            <a:off x="2362200" y="4038600"/>
            <a:ext cx="6477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wentieth Century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" type="subTitle"/>
          </p:nvPr>
        </p:nvSpPr>
        <p:spPr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560"/>
              <a:buNone/>
              <a:defRPr sz="2600">
                <a:solidFill>
                  <a:srgbClr val="FFFFFF"/>
                </a:solidFill>
              </a:defRPr>
            </a:lvl1pPr>
            <a:lvl2pPr lvl="1" algn="ctr">
              <a:spcBef>
                <a:spcPts val="55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5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0" type="dt"/>
          </p:nvPr>
        </p:nvSpPr>
        <p:spPr>
          <a:xfrm>
            <a:off x="76200" y="6068699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11" type="ftr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12" type="sldNum"/>
          </p:nvPr>
        </p:nvSpPr>
        <p:spPr>
          <a:xfrm>
            <a:off x="8001000" y="2286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3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3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33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dk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1"/>
          <p:cNvSpPr/>
          <p:nvPr/>
        </p:nvSpPr>
        <p:spPr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" name="Google Shape;40;p31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1" name="Google Shape;41;p31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2" name="Google Shape;42;p31"/>
          <p:cNvSpPr txBox="1"/>
          <p:nvPr>
            <p:ph type="ctrTitle"/>
          </p:nvPr>
        </p:nvSpPr>
        <p:spPr>
          <a:xfrm>
            <a:off x="2362200" y="4038600"/>
            <a:ext cx="6477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wentieth Century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" type="subTitle"/>
          </p:nvPr>
        </p:nvSpPr>
        <p:spPr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560"/>
              <a:buNone/>
              <a:defRPr sz="2600">
                <a:solidFill>
                  <a:srgbClr val="FFFFFF"/>
                </a:solidFill>
              </a:defRPr>
            </a:lvl1pPr>
            <a:lvl2pPr lvl="1" algn="ctr">
              <a:spcBef>
                <a:spcPts val="55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5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0" type="dt"/>
          </p:nvPr>
        </p:nvSpPr>
        <p:spPr>
          <a:xfrm>
            <a:off x="76200" y="6068699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1"/>
          <p:cNvSpPr txBox="1"/>
          <p:nvPr>
            <p:ph idx="11" type="ftr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2" type="sldNum"/>
          </p:nvPr>
        </p:nvSpPr>
        <p:spPr>
          <a:xfrm>
            <a:off x="8001000" y="2286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blipFill rotWithShape="1">
          <a:blip r:embed="rId2">
            <a:alphaModFix/>
          </a:blip>
          <a:tile algn="tl" flip="none" tx="0" sx="100000" ty="0" sy="100000"/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4"/>
          <p:cNvSpPr txBox="1"/>
          <p:nvPr>
            <p:ph idx="1" type="body"/>
          </p:nvPr>
        </p:nvSpPr>
        <p:spPr>
          <a:xfrm>
            <a:off x="1371600" y="2743200"/>
            <a:ext cx="7123113" cy="167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680"/>
              <a:buNone/>
              <a:defRPr sz="2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550"/>
              </a:spcBef>
              <a:spcAft>
                <a:spcPts val="0"/>
              </a:spcAft>
              <a:buSzPts val="126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91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49" name="Google Shape;49;p34"/>
          <p:cNvSpPr/>
          <p:nvPr/>
        </p:nvSpPr>
        <p:spPr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" name="Google Shape;50;p3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1" name="Google Shape;51;p34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" name="Google Shape;52;p34"/>
          <p:cNvSpPr txBox="1"/>
          <p:nvPr>
            <p:ph type="title"/>
          </p:nvPr>
        </p:nvSpPr>
        <p:spPr>
          <a:xfrm>
            <a:off x="1371600" y="1600200"/>
            <a:ext cx="7620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wentieth Century"/>
              <a:buNone/>
              <a:defRPr b="0" sz="4400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4"/>
          <p:cNvSpPr txBox="1"/>
          <p:nvPr>
            <p:ph idx="12" type="sldNum"/>
          </p:nvPr>
        </p:nvSpPr>
        <p:spPr>
          <a:xfrm>
            <a:off x="0" y="1752600"/>
            <a:ext cx="1295400" cy="701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34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5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5"/>
          <p:cNvSpPr txBox="1"/>
          <p:nvPr>
            <p:ph idx="1" type="body"/>
          </p:nvPr>
        </p:nvSpPr>
        <p:spPr>
          <a:xfrm>
            <a:off x="609600" y="1589567"/>
            <a:ext cx="3886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2" type="body"/>
          </p:nvPr>
        </p:nvSpPr>
        <p:spPr>
          <a:xfrm>
            <a:off x="4844901" y="1589567"/>
            <a:ext cx="3886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5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35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6"/>
          <p:cNvSpPr txBox="1"/>
          <p:nvPr>
            <p:ph type="title"/>
          </p:nvPr>
        </p:nvSpPr>
        <p:spPr>
          <a:xfrm>
            <a:off x="533400" y="273050"/>
            <a:ext cx="8153400" cy="86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6"/>
          <p:cNvSpPr txBox="1"/>
          <p:nvPr>
            <p:ph idx="1" type="body"/>
          </p:nvPr>
        </p:nvSpPr>
        <p:spPr>
          <a:xfrm>
            <a:off x="609600" y="2438400"/>
            <a:ext cx="3886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2" type="body"/>
          </p:nvPr>
        </p:nvSpPr>
        <p:spPr>
          <a:xfrm>
            <a:off x="4800600" y="2438400"/>
            <a:ext cx="3886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6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36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3" type="body"/>
          </p:nvPr>
        </p:nvSpPr>
        <p:spPr>
          <a:xfrm>
            <a:off x="609600" y="1752600"/>
            <a:ext cx="3886200" cy="64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200"/>
              <a:buFont typeface="Twentieth Century"/>
              <a:buNone/>
              <a:defRPr b="1" sz="2000">
                <a:solidFill>
                  <a:srgbClr val="FFFFFF"/>
                </a:solidFill>
              </a:defRPr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4" type="body"/>
          </p:nvPr>
        </p:nvSpPr>
        <p:spPr>
          <a:xfrm>
            <a:off x="4800600" y="1752600"/>
            <a:ext cx="3886200" cy="6400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200"/>
              <a:buFont typeface="Twentieth Century"/>
              <a:buNone/>
              <a:defRPr b="1" sz="2000">
                <a:solidFill>
                  <a:srgbClr val="FFFFFF"/>
                </a:solidFill>
              </a:defRPr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7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7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8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8"/>
          <p:cNvSpPr txBox="1"/>
          <p:nvPr>
            <p:ph idx="12" type="sldNum"/>
          </p:nvPr>
        </p:nvSpPr>
        <p:spPr>
          <a:xfrm>
            <a:off x="0" y="62484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9"/>
          <p:cNvSpPr txBox="1"/>
          <p:nvPr>
            <p:ph type="title"/>
          </p:nvPr>
        </p:nvSpPr>
        <p:spPr>
          <a:xfrm>
            <a:off x="609600" y="273050"/>
            <a:ext cx="8077200" cy="86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 b="0"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9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9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39"/>
          <p:cNvSpPr txBox="1"/>
          <p:nvPr>
            <p:ph idx="1" type="body"/>
          </p:nvPr>
        </p:nvSpPr>
        <p:spPr>
          <a:xfrm>
            <a:off x="609600" y="1752600"/>
            <a:ext cx="1600200" cy="4343400"/>
          </a:xfrm>
          <a:prstGeom prst="rect">
            <a:avLst/>
          </a:prstGeom>
          <a:solidFill>
            <a:schemeClr val="accent2"/>
          </a:solidFill>
          <a:ln cap="sq" cmpd="dbl" w="508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1425" lIns="137150" spcFirstLastPara="1" rIns="137150" wrap="square" tIns="182875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080"/>
              <a:buNone/>
              <a:def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750"/>
              <a:buNone/>
              <a:defRPr sz="1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675"/>
              <a:buNone/>
              <a:defRPr sz="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585"/>
              <a:buNone/>
              <a:defRPr sz="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7" name="Google Shape;87;p39"/>
          <p:cNvSpPr txBox="1"/>
          <p:nvPr>
            <p:ph idx="2" type="body"/>
          </p:nvPr>
        </p:nvSpPr>
        <p:spPr>
          <a:xfrm>
            <a:off x="2362200" y="1752600"/>
            <a:ext cx="64008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blipFill rotWithShape="1">
          <a:blip r:embed="rId2">
            <a:alphaModFix/>
          </a:blip>
          <a:tile algn="tl" flip="none" tx="0" sx="100000" ty="0" sy="100000"/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0"/>
          <p:cNvSpPr txBox="1"/>
          <p:nvPr>
            <p:ph idx="1" type="body"/>
          </p:nvPr>
        </p:nvSpPr>
        <p:spPr>
          <a:xfrm>
            <a:off x="1600200" y="54864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020"/>
              <a:buFont typeface="Twentieth Century"/>
              <a:buNone/>
              <a:defRPr sz="1700"/>
            </a:lvl1pPr>
            <a:lvl2pPr indent="-228600" lvl="1" marL="914400" algn="l">
              <a:spcBef>
                <a:spcPts val="550"/>
              </a:spcBef>
              <a:spcAft>
                <a:spcPts val="0"/>
              </a:spcAft>
              <a:buSzPts val="840"/>
              <a:buFont typeface="Twentieth Century"/>
              <a:buNone/>
              <a:defRPr sz="12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750"/>
              <a:buFont typeface="Twentieth Century"/>
              <a:buNone/>
              <a:defRPr sz="10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675"/>
              <a:buFont typeface="Twentieth Century"/>
              <a:buNone/>
              <a:defRPr sz="9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585"/>
              <a:buFont typeface="Twentieth Century"/>
              <a:buNone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90" name="Google Shape;90;p40"/>
          <p:cNvSpPr/>
          <p:nvPr/>
        </p:nvSpPr>
        <p:spPr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1" name="Google Shape;91;p40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2" name="Google Shape;92;p40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3" name="Google Shape;93;p40"/>
          <p:cNvSpPr txBox="1"/>
          <p:nvPr>
            <p:ph type="title"/>
          </p:nvPr>
        </p:nvSpPr>
        <p:spPr>
          <a:xfrm>
            <a:off x="1600200" y="4648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wentieth Century"/>
              <a:buNone/>
              <a:defRPr b="0" sz="2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0"/>
          <p:cNvSpPr/>
          <p:nvPr/>
        </p:nvSpPr>
        <p:spPr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5" name="Google Shape;95;p40"/>
          <p:cNvSpPr txBox="1"/>
          <p:nvPr>
            <p:ph idx="10" type="dt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0"/>
          <p:cNvSpPr txBox="1"/>
          <p:nvPr>
            <p:ph idx="12" type="sldNum"/>
          </p:nvPr>
        </p:nvSpPr>
        <p:spPr>
          <a:xfrm>
            <a:off x="0" y="4667249"/>
            <a:ext cx="1447800" cy="663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40"/>
          <p:cNvSpPr txBox="1"/>
          <p:nvPr>
            <p:ph idx="11" type="ftr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0"/>
          <p:cNvSpPr/>
          <p:nvPr>
            <p:ph idx="2" type="pic"/>
          </p:nvPr>
        </p:nvSpPr>
        <p:spPr>
          <a:xfrm>
            <a:off x="1560576" y="0"/>
            <a:ext cx="7583424" cy="4568952"/>
          </a:xfrm>
          <a:prstGeom prst="rect">
            <a:avLst/>
          </a:prstGeom>
          <a:solidFill>
            <a:srgbClr val="E6CDD2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🞑"/>
              <a:defRPr b="0" i="0" sz="2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b="0" i="0" sz="23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1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1"/>
          <p:cNvSpPr txBox="1"/>
          <p:nvPr>
            <p:ph idx="1" type="body"/>
          </p:nvPr>
        </p:nvSpPr>
        <p:spPr>
          <a:xfrm rot="5400000">
            <a:off x="2426208" y="-213360"/>
            <a:ext cx="4526280" cy="81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02" name="Google Shape;102;p41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1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1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2"/>
          <p:cNvSpPr txBox="1"/>
          <p:nvPr>
            <p:ph type="title"/>
          </p:nvPr>
        </p:nvSpPr>
        <p:spPr>
          <a:xfrm rot="5400000">
            <a:off x="4823619" y="2339181"/>
            <a:ext cx="55165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2"/>
          <p:cNvSpPr txBox="1"/>
          <p:nvPr>
            <p:ph idx="1" type="body"/>
          </p:nvPr>
        </p:nvSpPr>
        <p:spPr>
          <a:xfrm rot="5400000">
            <a:off x="480218" y="586582"/>
            <a:ext cx="5516564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08" name="Google Shape;108;p42"/>
          <p:cNvSpPr txBox="1"/>
          <p:nvPr>
            <p:ph idx="10" type="dt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2"/>
          <p:cNvSpPr txBox="1"/>
          <p:nvPr>
            <p:ph idx="11" type="ftr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2"/>
          <p:cNvSpPr/>
          <p:nvPr/>
        </p:nvSpPr>
        <p:spPr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1" name="Google Shape;111;p42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2" name="Google Shape;112;p42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3" name="Google Shape;113;p42"/>
          <p:cNvSpPr txBox="1"/>
          <p:nvPr>
            <p:ph idx="12" type="sldNum"/>
          </p:nvPr>
        </p:nvSpPr>
        <p:spPr>
          <a:xfrm rot="5400000">
            <a:off x="5989638" y="14446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wentieth Century"/>
              <a:buNone/>
              <a:defRPr b="0" i="0" sz="4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9090" lvl="0" marL="45720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  <a:defRPr b="0" i="0" sz="29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4170" lvl="1" marL="914400" marR="0" rtl="0" algn="l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🞑"/>
              <a:defRPr b="0" i="0" sz="2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8138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b="0" i="0" sz="23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" name="Google Shape;9;p30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0" name="Google Shape;10;p30"/>
          <p:cNvSpPr/>
          <p:nvPr/>
        </p:nvSpPr>
        <p:spPr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" name="Google Shape;11;p30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" name="Google Shape;12;p30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" name="Google Shape;13;p30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 b="0" i="0" sz="4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29"/>
          <p:cNvSpPr txBox="1"/>
          <p:nvPr>
            <p:ph idx="1" type="body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9090" lvl="0" marL="45720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  <a:defRPr b="0" i="0" sz="29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4170" lvl="1" marL="914400" marR="0" rtl="0" algn="l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🞑"/>
              <a:defRPr b="0" i="0" sz="2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8138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b="0" i="0" sz="23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26" name="Google Shape;26;p29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27" name="Google Shape;27;p29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28" name="Google Shape;28;p29"/>
          <p:cNvSpPr/>
          <p:nvPr/>
        </p:nvSpPr>
        <p:spPr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" name="Google Shape;29;p29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" name="Google Shape;30;p29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" name="Google Shape;31;p29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"/>
          <p:cNvSpPr txBox="1"/>
          <p:nvPr>
            <p:ph type="ctrTitle"/>
          </p:nvPr>
        </p:nvSpPr>
        <p:spPr>
          <a:xfrm>
            <a:off x="685800" y="1357298"/>
            <a:ext cx="7772400" cy="32147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Book Antiqua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THE CLASSICAL THEORY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/>
          <p:cNvSpPr txBox="1"/>
          <p:nvPr>
            <p:ph type="title"/>
          </p:nvPr>
        </p:nvSpPr>
        <p:spPr>
          <a:xfrm>
            <a:off x="0" y="274638"/>
            <a:ext cx="9144000" cy="1011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59"/>
              <a:buFont typeface="Book Antiqua"/>
              <a:buNone/>
            </a:pPr>
            <a:r>
              <a:rPr lang="en-US" sz="3960">
                <a:latin typeface="Book Antiqua"/>
                <a:ea typeface="Book Antiqua"/>
                <a:cs typeface="Book Antiqua"/>
                <a:sym typeface="Book Antiqua"/>
              </a:rPr>
              <a:t>Management Theories</a:t>
            </a:r>
            <a:br>
              <a:rPr lang="en-US" sz="3960"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lang="en-US" sz="3960">
                <a:latin typeface="Book Antiqua"/>
                <a:ea typeface="Book Antiqua"/>
                <a:cs typeface="Book Antiqua"/>
                <a:sym typeface="Book Antiqua"/>
              </a:rPr>
              <a:t>Four different schools of thought</a:t>
            </a:r>
            <a:endParaRPr sz="396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24" name="Google Shape;124;p2"/>
          <p:cNvSpPr txBox="1"/>
          <p:nvPr>
            <p:ph idx="1" type="body"/>
          </p:nvPr>
        </p:nvSpPr>
        <p:spPr>
          <a:xfrm>
            <a:off x="0" y="1571612"/>
            <a:ext cx="9144000" cy="5286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79"/>
              <a:buChar char="◻"/>
            </a:pPr>
            <a:r>
              <a:rPr b="1" lang="en-US" sz="2465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Pre- Scientific Management Theory</a:t>
            </a:r>
            <a:endParaRPr/>
          </a:p>
          <a:p>
            <a:pPr indent="-320040" lvl="0" marL="32004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479"/>
              <a:buChar char="◻"/>
            </a:pPr>
            <a:r>
              <a:rPr b="1" lang="en-US" sz="2465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Classical Theory</a:t>
            </a:r>
            <a:endParaRPr/>
          </a:p>
          <a:p>
            <a:pPr indent="-514350" lvl="0" marL="51435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479"/>
              <a:buFont typeface="Twentieth Century"/>
              <a:buAutoNum type="arabicPeriod"/>
            </a:pPr>
            <a:r>
              <a:rPr lang="en-US" sz="2465">
                <a:latin typeface="Book Antiqua"/>
                <a:ea typeface="Book Antiqua"/>
                <a:cs typeface="Book Antiqua"/>
                <a:sym typeface="Book Antiqua"/>
              </a:rPr>
              <a:t>Taylor’ Scientific Management Theory</a:t>
            </a:r>
            <a:endParaRPr/>
          </a:p>
          <a:p>
            <a:pPr indent="-514350" lvl="0" marL="51435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479"/>
              <a:buFont typeface="Twentieth Century"/>
              <a:buAutoNum type="arabicPeriod"/>
            </a:pPr>
            <a:r>
              <a:rPr lang="en-US" sz="2465">
                <a:latin typeface="Book Antiqua"/>
                <a:ea typeface="Book Antiqua"/>
                <a:cs typeface="Book Antiqua"/>
                <a:sym typeface="Book Antiqua"/>
              </a:rPr>
              <a:t>Fayol’s Administrative Management Theory</a:t>
            </a:r>
            <a:endParaRPr/>
          </a:p>
          <a:p>
            <a:pPr indent="-514350" lvl="0" marL="51435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479"/>
              <a:buFont typeface="Twentieth Century"/>
              <a:buAutoNum type="arabicPeriod"/>
            </a:pPr>
            <a:r>
              <a:rPr lang="en-US" sz="2465">
                <a:latin typeface="Book Antiqua"/>
                <a:ea typeface="Book Antiqua"/>
                <a:cs typeface="Book Antiqua"/>
                <a:sym typeface="Book Antiqua"/>
              </a:rPr>
              <a:t>Weber’s Beureaucracy Theory</a:t>
            </a:r>
            <a:endParaRPr/>
          </a:p>
          <a:p>
            <a:pPr indent="-514350" lvl="0" marL="51435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479"/>
              <a:buChar char="◻"/>
            </a:pPr>
            <a:r>
              <a:rPr b="1" lang="en-US" sz="2465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Behavioral Theory</a:t>
            </a:r>
            <a:endParaRPr/>
          </a:p>
          <a:p>
            <a:pPr indent="-514350" lvl="0" marL="51435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479"/>
              <a:buFont typeface="Twentieth Century"/>
              <a:buAutoNum type="arabicPeriod"/>
            </a:pPr>
            <a:r>
              <a:rPr lang="en-US" sz="2465">
                <a:latin typeface="Book Antiqua"/>
                <a:ea typeface="Book Antiqua"/>
                <a:cs typeface="Book Antiqua"/>
                <a:sym typeface="Book Antiqua"/>
              </a:rPr>
              <a:t>Human Relations Theory or Neo-Classical Theory</a:t>
            </a:r>
            <a:endParaRPr/>
          </a:p>
          <a:p>
            <a:pPr indent="-514350" lvl="0" marL="51435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479"/>
              <a:buFont typeface="Twentieth Century"/>
              <a:buAutoNum type="arabicPeriod"/>
            </a:pPr>
            <a:r>
              <a:rPr lang="en-US" sz="2465">
                <a:latin typeface="Book Antiqua"/>
                <a:ea typeface="Book Antiqua"/>
                <a:cs typeface="Book Antiqua"/>
                <a:sym typeface="Book Antiqua"/>
              </a:rPr>
              <a:t>Behavioral Science Theory</a:t>
            </a:r>
            <a:endParaRPr/>
          </a:p>
          <a:p>
            <a:pPr indent="-514350" lvl="0" marL="51435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479"/>
              <a:buChar char="◻"/>
            </a:pPr>
            <a:r>
              <a:rPr b="1" lang="en-US" sz="2465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Modern Management Theory</a:t>
            </a:r>
            <a:endParaRPr/>
          </a:p>
          <a:p>
            <a:pPr indent="-514350" lvl="0" marL="51435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479"/>
              <a:buFont typeface="Twentieth Century"/>
              <a:buAutoNum type="arabicPeriod"/>
            </a:pPr>
            <a:r>
              <a:rPr lang="en-US" sz="2465">
                <a:latin typeface="Book Antiqua"/>
                <a:ea typeface="Book Antiqua"/>
                <a:cs typeface="Book Antiqua"/>
                <a:sym typeface="Book Antiqua"/>
              </a:rPr>
              <a:t>Quantitative Theory</a:t>
            </a:r>
            <a:endParaRPr/>
          </a:p>
          <a:p>
            <a:pPr indent="-514350" lvl="0" marL="51435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479"/>
              <a:buFont typeface="Twentieth Century"/>
              <a:buAutoNum type="arabicPeriod"/>
            </a:pPr>
            <a:r>
              <a:rPr lang="en-US" sz="2465">
                <a:latin typeface="Book Antiqua"/>
                <a:ea typeface="Book Antiqua"/>
                <a:cs typeface="Book Antiqua"/>
                <a:sym typeface="Book Antiqua"/>
              </a:rPr>
              <a:t>Systems Theory</a:t>
            </a:r>
            <a:endParaRPr/>
          </a:p>
          <a:p>
            <a:pPr indent="-514350" lvl="0" marL="51435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479"/>
              <a:buFont typeface="Twentieth Century"/>
              <a:buAutoNum type="arabicPeriod"/>
            </a:pPr>
            <a:r>
              <a:rPr lang="en-US" sz="2465">
                <a:latin typeface="Book Antiqua"/>
                <a:ea typeface="Book Antiqua"/>
                <a:cs typeface="Book Antiqua"/>
                <a:sym typeface="Book Antiqua"/>
              </a:rPr>
              <a:t>Contingency  Theory</a:t>
            </a:r>
            <a:endParaRPr/>
          </a:p>
          <a:p>
            <a:pPr indent="-514350" lvl="0" marL="51435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479"/>
              <a:buFont typeface="Twentieth Century"/>
              <a:buAutoNum type="arabicPeriod"/>
            </a:pPr>
            <a:r>
              <a:rPr lang="en-US" sz="2465">
                <a:latin typeface="Book Antiqua"/>
                <a:ea typeface="Book Antiqua"/>
                <a:cs typeface="Book Antiqua"/>
                <a:sym typeface="Book Antiqua"/>
              </a:rPr>
              <a:t>Operational Theory </a:t>
            </a:r>
            <a:endParaRPr sz="2465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>
            <p:ph type="title"/>
          </p:nvPr>
        </p:nvSpPr>
        <p:spPr>
          <a:xfrm>
            <a:off x="0" y="0"/>
            <a:ext cx="9144000" cy="79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Book Antiqua"/>
              <a:buNone/>
            </a:pPr>
            <a:r>
              <a:rPr lang="en-US" sz="4000">
                <a:latin typeface="Book Antiqua"/>
                <a:ea typeface="Book Antiqua"/>
                <a:cs typeface="Book Antiqua"/>
                <a:sym typeface="Book Antiqua"/>
              </a:rPr>
              <a:t>Pre-Scientific Management Theory</a:t>
            </a:r>
            <a:endParaRPr sz="40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graphicFrame>
        <p:nvGraphicFramePr>
          <p:cNvPr id="130" name="Google Shape;130;p3"/>
          <p:cNvGraphicFramePr/>
          <p:nvPr/>
        </p:nvGraphicFramePr>
        <p:xfrm>
          <a:off x="0" y="9286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{84CB5D72-E40D-4128-AE8A-08E5C456A0FB}</a:tableStyleId>
              </a:tblPr>
              <a:tblGrid>
                <a:gridCol w="1857350"/>
                <a:gridCol w="2643200"/>
                <a:gridCol w="4643425"/>
              </a:tblGrid>
              <a:tr h="54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Name </a:t>
                      </a:r>
                      <a:endParaRPr sz="24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Background </a:t>
                      </a:r>
                      <a:endParaRPr sz="24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Contribution</a:t>
                      </a:r>
                      <a:endParaRPr sz="24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  <a:tr h="137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Charles Babbage: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Early British thinker of management</a:t>
                      </a:r>
                      <a:endParaRPr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He introduced methods</a:t>
                      </a: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 like work measurement, cost determination, bonus plans and profit sharing to improve industrial productivity</a:t>
                      </a:r>
                      <a:endParaRPr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  <a:tr h="83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James Montgomery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Was a textile owner-</a:t>
                      </a: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 manager in Scotland</a:t>
                      </a:r>
                      <a:endParaRPr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Focused on planning, organizing and controlling</a:t>
                      </a: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 of business </a:t>
                      </a:r>
                      <a:endParaRPr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  <a:tr h="169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Robert Owens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Was a Textile entrepreneur and</a:t>
                      </a: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 is known as father of Personnel Management</a:t>
                      </a:r>
                      <a:endParaRPr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Focus on development of people , giving</a:t>
                      </a: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 respect to their values, improving living conditions, higher wages, participation in decision making</a:t>
                      </a:r>
                      <a:endParaRPr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  <a:tr h="74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Andrew Ure</a:t>
                      </a:r>
                      <a:endParaRPr sz="20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Was</a:t>
                      </a: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 an English Industrialist</a:t>
                      </a:r>
                      <a:endParaRPr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Focused on educating managers through training and moral education</a:t>
                      </a:r>
                      <a:endParaRPr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  <a:tr h="74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Book Antiqua"/>
                        <a:buNone/>
                      </a:pPr>
                      <a:r>
                        <a:rPr lang="en-US" sz="20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Charles Dupin</a:t>
                      </a:r>
                      <a:endParaRPr sz="20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Was an Industrial educator in Finance</a:t>
                      </a:r>
                      <a:endParaRPr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Management</a:t>
                      </a: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 skills are more important than technical skill</a:t>
                      </a:r>
                      <a:endParaRPr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/>
          <p:nvPr>
            <p:ph type="title"/>
          </p:nvPr>
        </p:nvSpPr>
        <p:spPr>
          <a:xfrm>
            <a:off x="142844" y="142852"/>
            <a:ext cx="8786874" cy="714380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38100" rotWithShape="0" dir="5400000" dist="254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ook Antiqua"/>
              <a:buNone/>
            </a:pPr>
            <a:r>
              <a:rPr lang="en-US" sz="3600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rPr>
              <a:t>Classical Theory</a:t>
            </a:r>
            <a:endParaRPr sz="36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36" name="Google Shape;136;p4"/>
          <p:cNvSpPr txBox="1"/>
          <p:nvPr>
            <p:ph idx="1" type="body"/>
          </p:nvPr>
        </p:nvSpPr>
        <p:spPr>
          <a:xfrm>
            <a:off x="214282" y="857232"/>
            <a:ext cx="8715436" cy="5857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spcBef>
                <a:spcPts val="0"/>
              </a:spcBef>
              <a:spcAft>
                <a:spcPts val="0"/>
              </a:spcAft>
              <a:buSzPts val="1200"/>
              <a:buChar char="◻"/>
            </a:pPr>
            <a:r>
              <a:rPr lang="en-US" sz="2000">
                <a:latin typeface="Book Antiqua"/>
                <a:ea typeface="Book Antiqua"/>
                <a:cs typeface="Book Antiqua"/>
                <a:sym typeface="Book Antiqua"/>
              </a:rPr>
              <a:t>Traditional theory of management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en-US" sz="2000">
                <a:latin typeface="Book Antiqua"/>
                <a:ea typeface="Book Antiqua"/>
                <a:cs typeface="Book Antiqua"/>
                <a:sym typeface="Book Antiqua"/>
              </a:rPr>
              <a:t>Classical view point to manage business effectively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en-US" sz="2000">
                <a:latin typeface="Book Antiqua"/>
                <a:ea typeface="Book Antiqua"/>
                <a:cs typeface="Book Antiqua"/>
                <a:sym typeface="Book Antiqua"/>
              </a:rPr>
              <a:t>Focused on industrial production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en-US" sz="2000">
                <a:latin typeface="Book Antiqua"/>
                <a:ea typeface="Book Antiqua"/>
                <a:cs typeface="Book Antiqua"/>
                <a:sym typeface="Book Antiqua"/>
              </a:rPr>
              <a:t>Financial incentives were important contributors to organizational output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en-US" sz="2000">
                <a:latin typeface="Book Antiqua"/>
                <a:ea typeface="Book Antiqua"/>
                <a:cs typeface="Book Antiqua"/>
                <a:sym typeface="Book Antiqua"/>
              </a:rPr>
              <a:t>Employees have strong economic needs which can be satisfied through financial incentives 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en-US" sz="2000">
                <a:latin typeface="Book Antiqua"/>
                <a:ea typeface="Book Antiqua"/>
                <a:cs typeface="Book Antiqua"/>
                <a:sym typeface="Book Antiqua"/>
              </a:rPr>
              <a:t>Formal structure of jobs and work schedule to satisfy individual and organizational needs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en-US" sz="2000">
                <a:latin typeface="Book Antiqua"/>
                <a:ea typeface="Book Antiqua"/>
                <a:cs typeface="Book Antiqua"/>
                <a:sym typeface="Book Antiqua"/>
              </a:rPr>
              <a:t>Organization is closed system which do not interact with the external environment</a:t>
            </a:r>
            <a:endParaRPr sz="200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/>
          <p:nvPr>
            <p:ph type="title"/>
          </p:nvPr>
        </p:nvSpPr>
        <p:spPr>
          <a:xfrm>
            <a:off x="214282" y="214290"/>
            <a:ext cx="8715436" cy="714380"/>
          </a:xfrm>
          <a:prstGeom prst="rect">
            <a:avLst/>
          </a:prstGeom>
          <a:solidFill>
            <a:srgbClr val="EFC6BD"/>
          </a:solidFill>
          <a:ln cap="flat" cmpd="sng" w="100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30000">
              <a:srgbClr val="000000">
                <a:alpha val="44706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Book Antiqua"/>
              <a:buNone/>
            </a:pPr>
            <a:r>
              <a:rPr lang="en-US" sz="3600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Taylor’s Scientific Management Theory</a:t>
            </a:r>
            <a:endParaRPr sz="3600">
              <a:solidFill>
                <a:srgbClr val="FF0000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42" name="Google Shape;142;p5"/>
          <p:cNvSpPr txBox="1"/>
          <p:nvPr>
            <p:ph idx="1" type="body"/>
          </p:nvPr>
        </p:nvSpPr>
        <p:spPr>
          <a:xfrm>
            <a:off x="0" y="928670"/>
            <a:ext cx="9144000" cy="592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17"/>
              <a:buNone/>
            </a:pPr>
            <a:r>
              <a:rPr lang="en-US" sz="2030">
                <a:latin typeface="Book Antiqua"/>
                <a:ea typeface="Book Antiqua"/>
                <a:cs typeface="Book Antiqua"/>
                <a:sym typeface="Book Antiqua"/>
              </a:rPr>
              <a:t>20</a:t>
            </a:r>
            <a:r>
              <a:rPr baseline="30000" lang="en-US" sz="2030">
                <a:latin typeface="Book Antiqua"/>
                <a:ea typeface="Book Antiqua"/>
                <a:cs typeface="Book Antiqua"/>
                <a:sym typeface="Book Antiqua"/>
              </a:rPr>
              <a:t>th</a:t>
            </a:r>
            <a:r>
              <a:rPr lang="en-US" sz="2030">
                <a:latin typeface="Book Antiqua"/>
                <a:ea typeface="Book Antiqua"/>
                <a:cs typeface="Book Antiqua"/>
                <a:sym typeface="Book Antiqua"/>
              </a:rPr>
              <a:t> Century</a:t>
            </a:r>
            <a:endParaRPr/>
          </a:p>
          <a:p>
            <a:pPr indent="-320040" lvl="0" marL="320040" rtl="0" algn="ctr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218"/>
              <a:buNone/>
            </a:pPr>
            <a:r>
              <a:t/>
            </a:r>
            <a:endParaRPr sz="203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ctr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217"/>
              <a:buNone/>
            </a:pPr>
            <a:r>
              <a:rPr lang="en-US" sz="2030">
                <a:latin typeface="Book Antiqua"/>
                <a:ea typeface="Book Antiqua"/>
                <a:cs typeface="Book Antiqua"/>
                <a:sym typeface="Book Antiqua"/>
              </a:rPr>
              <a:t>Scarcity of skilled labor in united States </a:t>
            </a:r>
            <a:endParaRPr/>
          </a:p>
          <a:p>
            <a:pPr indent="-320040" lvl="0" marL="320040" rtl="0" algn="ctr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218"/>
              <a:buNone/>
            </a:pPr>
            <a:r>
              <a:t/>
            </a:r>
            <a:endParaRPr sz="203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ctr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217"/>
              <a:buNone/>
            </a:pPr>
            <a:r>
              <a:rPr lang="en-US" sz="2030">
                <a:latin typeface="Book Antiqua"/>
                <a:ea typeface="Book Antiqua"/>
                <a:cs typeface="Book Antiqua"/>
                <a:sym typeface="Book Antiqua"/>
              </a:rPr>
              <a:t>Industrial Productivity affected </a:t>
            </a:r>
            <a:endParaRPr/>
          </a:p>
          <a:p>
            <a:pPr indent="-320040" lvl="0" marL="320040" rtl="0" algn="ctr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218"/>
              <a:buNone/>
            </a:pPr>
            <a:r>
              <a:t/>
            </a:r>
            <a:endParaRPr sz="203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ctr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217"/>
              <a:buNone/>
            </a:pPr>
            <a:r>
              <a:rPr lang="en-US" sz="2030">
                <a:latin typeface="Book Antiqua"/>
                <a:ea typeface="Book Antiqua"/>
                <a:cs typeface="Book Antiqua"/>
                <a:sym typeface="Book Antiqua"/>
              </a:rPr>
              <a:t>Wastage of human &amp; non-human resources</a:t>
            </a:r>
            <a:endParaRPr/>
          </a:p>
          <a:p>
            <a:pPr indent="-320040" lvl="0" marL="320040" rtl="0" algn="ctr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218"/>
              <a:buNone/>
            </a:pPr>
            <a:r>
              <a:t/>
            </a:r>
            <a:endParaRPr sz="203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ctr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217"/>
              <a:buNone/>
            </a:pPr>
            <a:r>
              <a:rPr lang="en-US" sz="2030">
                <a:latin typeface="Book Antiqua"/>
                <a:ea typeface="Book Antiqua"/>
                <a:cs typeface="Book Antiqua"/>
                <a:sym typeface="Book Antiqua"/>
              </a:rPr>
              <a:t>Time and work</a:t>
            </a:r>
            <a:endParaRPr/>
          </a:p>
          <a:p>
            <a:pPr indent="-320040" lvl="0" marL="320040" rtl="0" algn="ctr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218"/>
              <a:buNone/>
            </a:pPr>
            <a:r>
              <a:t/>
            </a:r>
            <a:endParaRPr sz="203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ctr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218"/>
              <a:buNone/>
            </a:pPr>
            <a:r>
              <a:t/>
            </a:r>
            <a:endParaRPr sz="203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ctr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218"/>
              <a:buNone/>
            </a:pPr>
            <a:r>
              <a:t/>
            </a:r>
            <a:endParaRPr sz="203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ctr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218"/>
              <a:buNone/>
            </a:pPr>
            <a:r>
              <a:t/>
            </a:r>
            <a:endParaRPr sz="203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ctr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218"/>
              <a:buNone/>
            </a:pPr>
            <a:r>
              <a:t/>
            </a:r>
            <a:endParaRPr sz="203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ctr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217"/>
              <a:buNone/>
            </a:pPr>
            <a:r>
              <a:rPr lang="en-US" sz="2030">
                <a:latin typeface="Book Antiqua"/>
                <a:ea typeface="Book Antiqua"/>
                <a:cs typeface="Book Antiqua"/>
                <a:sym typeface="Book Antiqua"/>
              </a:rPr>
              <a:t>Taylor introduced Scientific Management theory for increasing productivity </a:t>
            </a:r>
            <a:endParaRPr/>
          </a:p>
          <a:p>
            <a:pPr indent="-320040" lvl="0" marL="32004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217"/>
              <a:buNone/>
            </a:pPr>
            <a:r>
              <a:rPr lang="en-US" sz="2030"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642910" y="4214818"/>
            <a:ext cx="271464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How much work should be done in one day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5214942" y="4143380"/>
            <a:ext cx="292895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How much should be paid for each day’s work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2786050" y="5143512"/>
            <a:ext cx="32861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Was not planned at that time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214810" y="1357298"/>
            <a:ext cx="285752" cy="21431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214810" y="2000240"/>
            <a:ext cx="285752" cy="21431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214810" y="3357562"/>
            <a:ext cx="357190" cy="21431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214810" y="2643182"/>
            <a:ext cx="285752" cy="21431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286248" y="5500702"/>
            <a:ext cx="285752" cy="21431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151" name="Google Shape;151;p5"/>
          <p:cNvCxnSpPr/>
          <p:nvPr/>
        </p:nvCxnSpPr>
        <p:spPr>
          <a:xfrm flipH="1">
            <a:off x="3071802" y="3929066"/>
            <a:ext cx="500066" cy="214314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2" name="Google Shape;152;p5"/>
          <p:cNvCxnSpPr/>
          <p:nvPr/>
        </p:nvCxnSpPr>
        <p:spPr>
          <a:xfrm>
            <a:off x="5286380" y="3857628"/>
            <a:ext cx="1285884" cy="357190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3" name="Google Shape;153;p5"/>
          <p:cNvCxnSpPr/>
          <p:nvPr/>
        </p:nvCxnSpPr>
        <p:spPr>
          <a:xfrm>
            <a:off x="2214546" y="4929198"/>
            <a:ext cx="4429156" cy="1588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5"/>
          <p:cNvCxnSpPr/>
          <p:nvPr/>
        </p:nvCxnSpPr>
        <p:spPr>
          <a:xfrm rot="-5400000">
            <a:off x="2107389" y="4822041"/>
            <a:ext cx="214314" cy="1588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5" name="Google Shape;155;p5"/>
          <p:cNvCxnSpPr/>
          <p:nvPr/>
        </p:nvCxnSpPr>
        <p:spPr>
          <a:xfrm rot="-5400000">
            <a:off x="6537339" y="4821247"/>
            <a:ext cx="214314" cy="1588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6" name="Google Shape;156;p5"/>
          <p:cNvCxnSpPr/>
          <p:nvPr/>
        </p:nvCxnSpPr>
        <p:spPr>
          <a:xfrm rot="5400000">
            <a:off x="4322761" y="5035561"/>
            <a:ext cx="214314" cy="1588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/>
          <p:nvPr>
            <p:ph type="title"/>
          </p:nvPr>
        </p:nvSpPr>
        <p:spPr>
          <a:xfrm>
            <a:off x="457200" y="274638"/>
            <a:ext cx="8229600" cy="725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959"/>
              <a:buFont typeface="Book Antiqua"/>
              <a:buNone/>
            </a:pPr>
            <a:r>
              <a:rPr i="1" lang="en-US" sz="3960">
                <a:solidFill>
                  <a:srgbClr val="00B0F0"/>
                </a:solidFill>
                <a:latin typeface="Book Antiqua"/>
                <a:ea typeface="Book Antiqua"/>
                <a:cs typeface="Book Antiqua"/>
                <a:sym typeface="Book Antiqua"/>
              </a:rPr>
              <a:t>Theory focused on</a:t>
            </a:r>
            <a:endParaRPr i="1" sz="3960">
              <a:solidFill>
                <a:srgbClr val="00B0F0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62" name="Google Shape;162;p6"/>
          <p:cNvSpPr txBox="1"/>
          <p:nvPr>
            <p:ph idx="1" type="body"/>
          </p:nvPr>
        </p:nvSpPr>
        <p:spPr>
          <a:xfrm>
            <a:off x="214282" y="1714488"/>
            <a:ext cx="8715436" cy="4143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just">
              <a:spcBef>
                <a:spcPts val="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The best way of doing each task/ job by eliminating operations that resulted in wastage of men and materials</a:t>
            </a:r>
            <a:endParaRPr/>
          </a:p>
          <a:p>
            <a:pPr indent="-320040" lvl="0" marL="320040" rtl="0" algn="just">
              <a:spcBef>
                <a:spcPts val="700"/>
              </a:spcBef>
              <a:spcAft>
                <a:spcPts val="0"/>
              </a:spcAft>
              <a:buSzPts val="174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just"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Time and motion studies to find optimum time and nature of operation for successful completion of each task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786578" y="428604"/>
            <a:ext cx="1643074" cy="500066"/>
          </a:xfrm>
          <a:prstGeom prst="stripedRightArrow">
            <a:avLst>
              <a:gd fmla="val 50000" name="adj1"/>
              <a:gd fmla="val 50000" name="adj2"/>
            </a:avLst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 txBox="1"/>
          <p:nvPr>
            <p:ph type="title"/>
          </p:nvPr>
        </p:nvSpPr>
        <p:spPr>
          <a:xfrm>
            <a:off x="0" y="274638"/>
            <a:ext cx="9144000" cy="725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Book Antiqua"/>
              <a:buNone/>
            </a:pPr>
            <a:r>
              <a:rPr lang="en-US" sz="3600">
                <a:solidFill>
                  <a:srgbClr val="C00000"/>
                </a:solidFill>
                <a:latin typeface="Book Antiqua"/>
                <a:ea typeface="Book Antiqua"/>
                <a:cs typeface="Book Antiqua"/>
                <a:sym typeface="Book Antiqua"/>
              </a:rPr>
              <a:t>Principles of Scientific Management Theory</a:t>
            </a:r>
            <a:endParaRPr sz="3600">
              <a:solidFill>
                <a:srgbClr val="C00000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69" name="Google Shape;169;p7"/>
          <p:cNvSpPr txBox="1"/>
          <p:nvPr>
            <p:ph idx="1" type="body"/>
          </p:nvPr>
        </p:nvSpPr>
        <p:spPr>
          <a:xfrm>
            <a:off x="214282" y="1643050"/>
            <a:ext cx="8715436" cy="48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Rule of thumb should be replaced with science</a:t>
            </a:r>
            <a:endParaRPr/>
          </a:p>
          <a:p>
            <a:pPr indent="-32004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74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endParaRPr/>
          </a:p>
          <a:p>
            <a:pPr indent="-32004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There should be harmony, not discord in group action</a:t>
            </a:r>
            <a:endParaRPr/>
          </a:p>
          <a:p>
            <a:pPr indent="-32004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74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Cooperation is replacing individuality</a:t>
            </a:r>
            <a:endParaRPr/>
          </a:p>
          <a:p>
            <a:pPr indent="-32004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74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Maximum output, not restricted output</a:t>
            </a:r>
            <a:endParaRPr/>
          </a:p>
          <a:p>
            <a:pPr indent="-20955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74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Development of workers to their fullest capacity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/>
          <p:nvPr>
            <p:ph type="title"/>
          </p:nvPr>
        </p:nvSpPr>
        <p:spPr>
          <a:xfrm>
            <a:off x="0" y="142852"/>
            <a:ext cx="9144000" cy="1071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 Antiqua"/>
              <a:buNone/>
            </a:pPr>
            <a:r>
              <a:rPr lang="en-US" sz="3600">
                <a:latin typeface="Book Antiqua"/>
                <a:ea typeface="Book Antiqua"/>
                <a:cs typeface="Book Antiqua"/>
                <a:sym typeface="Book Antiqua"/>
              </a:rPr>
              <a:t>Taylor’s Scientific Management –Techniques </a:t>
            </a:r>
            <a:endParaRPr sz="36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75" name="Google Shape;175;p8"/>
          <p:cNvSpPr txBox="1"/>
          <p:nvPr>
            <p:ph idx="1" type="body"/>
          </p:nvPr>
        </p:nvSpPr>
        <p:spPr>
          <a:xfrm>
            <a:off x="214282" y="1571612"/>
            <a:ext cx="8786874" cy="4929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SzPts val="1740"/>
              <a:buFont typeface="Twentieth Century"/>
              <a:buAutoNum type="arabicPeriod"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Separation of planning and doing- 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planning should be the task of supervisor and workers should only perform the work</a:t>
            </a:r>
            <a:endParaRPr/>
          </a:p>
          <a:p>
            <a:pPr indent="-403860" lvl="0" marL="514350" rtl="0" algn="l">
              <a:spcBef>
                <a:spcPts val="700"/>
              </a:spcBef>
              <a:spcAft>
                <a:spcPts val="0"/>
              </a:spcAft>
              <a:buSzPts val="1740"/>
              <a:buFont typeface="Twentieth Century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514350" lvl="0" marL="514350" rtl="0" algn="l">
              <a:spcBef>
                <a:spcPts val="700"/>
              </a:spcBef>
              <a:spcAft>
                <a:spcPts val="0"/>
              </a:spcAft>
              <a:buSzPts val="1740"/>
              <a:buFont typeface="Twentieth Century"/>
              <a:buAutoNum type="arabicPeriod"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Functional foremanship- 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Activities of workers should be supervised by two sets of supervisors based on specialisation of functions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 txBox="1"/>
          <p:nvPr>
            <p:ph type="title"/>
          </p:nvPr>
        </p:nvSpPr>
        <p:spPr>
          <a:xfrm>
            <a:off x="457200" y="274638"/>
            <a:ext cx="8229600" cy="725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59"/>
              <a:buFont typeface="Book Antiqua"/>
              <a:buNone/>
            </a:pPr>
            <a:r>
              <a:rPr lang="en-US" sz="3960">
                <a:latin typeface="Book Antiqua"/>
                <a:ea typeface="Book Antiqua"/>
                <a:cs typeface="Book Antiqua"/>
                <a:sym typeface="Book Antiqua"/>
              </a:rPr>
              <a:t>Functional foremanship</a:t>
            </a:r>
            <a:endParaRPr sz="396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3143240" y="1571612"/>
            <a:ext cx="23574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Factory Manager </a:t>
            </a:r>
            <a:endParaRPr b="1" sz="20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642910" y="2357430"/>
            <a:ext cx="285752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Planning In charge</a:t>
            </a:r>
            <a:endParaRPr b="1" sz="20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5572132" y="2428868"/>
            <a:ext cx="250033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Production In charge</a:t>
            </a:r>
            <a:endParaRPr b="1" sz="20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214282" y="3286124"/>
            <a:ext cx="78581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Route Clerk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3857620" y="4786322"/>
            <a:ext cx="10001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worker</a:t>
            </a:r>
            <a:endParaRPr b="1"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928662" y="3214686"/>
            <a:ext cx="135732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Instruction Clerk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2285984" y="3214686"/>
            <a:ext cx="85725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Time &amp; cost Clerk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3214678" y="3286125"/>
            <a:ext cx="17145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Disciplinarian 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4929190" y="3286124"/>
            <a:ext cx="78581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Gang Boss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5786446" y="3286124"/>
            <a:ext cx="85725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Repair boss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6572264" y="3286124"/>
            <a:ext cx="12144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Inspector 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7715272" y="3286124"/>
            <a:ext cx="92869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Speed boss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cxnSp>
        <p:nvCxnSpPr>
          <p:cNvPr id="193" name="Google Shape;193;p9"/>
          <p:cNvCxnSpPr/>
          <p:nvPr/>
        </p:nvCxnSpPr>
        <p:spPr>
          <a:xfrm flipH="1">
            <a:off x="2428860" y="1928802"/>
            <a:ext cx="1214446" cy="500066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4" name="Google Shape;194;p9"/>
          <p:cNvCxnSpPr/>
          <p:nvPr/>
        </p:nvCxnSpPr>
        <p:spPr>
          <a:xfrm>
            <a:off x="5000628" y="2000240"/>
            <a:ext cx="1000132" cy="500066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5" name="Google Shape;195;p9"/>
          <p:cNvCxnSpPr/>
          <p:nvPr/>
        </p:nvCxnSpPr>
        <p:spPr>
          <a:xfrm>
            <a:off x="7215206" y="2786058"/>
            <a:ext cx="785818" cy="571504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6" name="Google Shape;196;p9"/>
          <p:cNvCxnSpPr/>
          <p:nvPr/>
        </p:nvCxnSpPr>
        <p:spPr>
          <a:xfrm flipH="1" rot="-5400000">
            <a:off x="6607983" y="3036091"/>
            <a:ext cx="428628" cy="214314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7" name="Google Shape;197;p9"/>
          <p:cNvCxnSpPr/>
          <p:nvPr/>
        </p:nvCxnSpPr>
        <p:spPr>
          <a:xfrm rot="5400000">
            <a:off x="6036479" y="3250405"/>
            <a:ext cx="214314" cy="1588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8" name="Google Shape;198;p9"/>
          <p:cNvCxnSpPr/>
          <p:nvPr/>
        </p:nvCxnSpPr>
        <p:spPr>
          <a:xfrm rot="5400000">
            <a:off x="5286380" y="3000372"/>
            <a:ext cx="428628" cy="428628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9" name="Google Shape;199;p9"/>
          <p:cNvCxnSpPr>
            <a:stCxn id="182" idx="2"/>
          </p:cNvCxnSpPr>
          <p:nvPr/>
        </p:nvCxnSpPr>
        <p:spPr>
          <a:xfrm>
            <a:off x="2071670" y="2757540"/>
            <a:ext cx="428700" cy="528600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0" name="Google Shape;200;p9"/>
          <p:cNvCxnSpPr/>
          <p:nvPr/>
        </p:nvCxnSpPr>
        <p:spPr>
          <a:xfrm rot="5400000">
            <a:off x="1142976" y="2928934"/>
            <a:ext cx="571504" cy="142876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1" name="Google Shape;201;p9"/>
          <p:cNvCxnSpPr>
            <a:endCxn id="184" idx="0"/>
          </p:cNvCxnSpPr>
          <p:nvPr/>
        </p:nvCxnSpPr>
        <p:spPr>
          <a:xfrm flipH="1">
            <a:off x="607191" y="2643224"/>
            <a:ext cx="607200" cy="642900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2" name="Google Shape;202;p9"/>
          <p:cNvCxnSpPr/>
          <p:nvPr/>
        </p:nvCxnSpPr>
        <p:spPr>
          <a:xfrm rot="5400000">
            <a:off x="3428992" y="4214818"/>
            <a:ext cx="1285884" cy="1588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3" name="Google Shape;203;p9"/>
          <p:cNvCxnSpPr>
            <a:endCxn id="185" idx="0"/>
          </p:cNvCxnSpPr>
          <p:nvPr/>
        </p:nvCxnSpPr>
        <p:spPr>
          <a:xfrm flipH="1">
            <a:off x="4357686" y="3857522"/>
            <a:ext cx="857400" cy="928800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4" name="Google Shape;204;p9"/>
          <p:cNvCxnSpPr/>
          <p:nvPr/>
        </p:nvCxnSpPr>
        <p:spPr>
          <a:xfrm flipH="1">
            <a:off x="4572000" y="3929066"/>
            <a:ext cx="1500198" cy="928694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5" name="Google Shape;205;p9"/>
          <p:cNvCxnSpPr/>
          <p:nvPr/>
        </p:nvCxnSpPr>
        <p:spPr>
          <a:xfrm flipH="1">
            <a:off x="4643438" y="3857628"/>
            <a:ext cx="2286016" cy="1143008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6" name="Google Shape;206;p9"/>
          <p:cNvCxnSpPr>
            <a:endCxn id="185" idx="3"/>
          </p:cNvCxnSpPr>
          <p:nvPr/>
        </p:nvCxnSpPr>
        <p:spPr>
          <a:xfrm flipH="1">
            <a:off x="4857752" y="3929088"/>
            <a:ext cx="3214800" cy="1041900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7" name="Google Shape;207;p9"/>
          <p:cNvCxnSpPr/>
          <p:nvPr/>
        </p:nvCxnSpPr>
        <p:spPr>
          <a:xfrm>
            <a:off x="2928926" y="4071942"/>
            <a:ext cx="1071570" cy="785818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8" name="Google Shape;208;p9"/>
          <p:cNvCxnSpPr>
            <a:endCxn id="185" idx="1"/>
          </p:cNvCxnSpPr>
          <p:nvPr/>
        </p:nvCxnSpPr>
        <p:spPr>
          <a:xfrm>
            <a:off x="1571620" y="3929088"/>
            <a:ext cx="2286000" cy="1041900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9" name="Google Shape;209;p9"/>
          <p:cNvCxnSpPr/>
          <p:nvPr/>
        </p:nvCxnSpPr>
        <p:spPr>
          <a:xfrm>
            <a:off x="571472" y="4000504"/>
            <a:ext cx="3286148" cy="1071570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0" name="Google Shape;210;p9"/>
          <p:cNvCxnSpPr/>
          <p:nvPr/>
        </p:nvCxnSpPr>
        <p:spPr>
          <a:xfrm>
            <a:off x="2571736" y="2714620"/>
            <a:ext cx="1071570" cy="642942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 txBox="1"/>
          <p:nvPr>
            <p:ph idx="1" type="body"/>
          </p:nvPr>
        </p:nvSpPr>
        <p:spPr>
          <a:xfrm>
            <a:off x="457200" y="1643050"/>
            <a:ext cx="8229600" cy="448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9"/>
              <a:buNone/>
            </a:pPr>
            <a:r>
              <a:t/>
            </a:r>
            <a:endParaRPr b="1" sz="2683"/>
          </a:p>
          <a:p>
            <a:pPr indent="-32004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rPr b="1" lang="en-US" sz="2683"/>
              <a:t>3. </a:t>
            </a:r>
            <a:r>
              <a:rPr b="1" lang="en-US" sz="2683">
                <a:latin typeface="Book Antiqua"/>
                <a:ea typeface="Book Antiqua"/>
                <a:cs typeface="Book Antiqua"/>
                <a:sym typeface="Book Antiqua"/>
              </a:rPr>
              <a:t>Job Analysis</a:t>
            </a: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: </a:t>
            </a:r>
            <a:endParaRPr/>
          </a:p>
          <a:p>
            <a:pPr indent="-320040" lvl="0" marL="32004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  Job analysis is being made to reduce the wastage of human and non-human resources and utilizing those in effective manner to derive maximum output. Methods of analyzing job are as follow:</a:t>
            </a:r>
            <a:endParaRPr/>
          </a:p>
          <a:p>
            <a:pPr indent="-514350" lvl="0" marL="51435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Font typeface="Twentieth Century"/>
              <a:buAutoNum type="alphaUcPeriod"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Time Study</a:t>
            </a:r>
            <a:endParaRPr/>
          </a:p>
          <a:p>
            <a:pPr indent="-514350" lvl="0" marL="51435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Font typeface="Twentieth Century"/>
              <a:buAutoNum type="alphaUcPeriod"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Motion Study</a:t>
            </a:r>
            <a:endParaRPr/>
          </a:p>
          <a:p>
            <a:pPr indent="-514350" lvl="0" marL="51435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Font typeface="Twentieth Century"/>
              <a:buAutoNum type="alphaUcPeriod"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Fatigue Study</a:t>
            </a:r>
            <a:endParaRPr/>
          </a:p>
          <a:p>
            <a:pPr indent="-514350" lvl="0" marL="51435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Font typeface="Twentieth Century"/>
              <a:buAutoNum type="alphaUcPeriod"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Method Study</a:t>
            </a:r>
            <a:endParaRPr sz="2683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"/>
          <p:cNvSpPr txBox="1"/>
          <p:nvPr>
            <p:ph type="title"/>
          </p:nvPr>
        </p:nvSpPr>
        <p:spPr>
          <a:xfrm>
            <a:off x="457200" y="274638"/>
            <a:ext cx="8229600" cy="582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59"/>
              <a:buFont typeface="Book Antiqua"/>
              <a:buNone/>
            </a:pPr>
            <a:r>
              <a:rPr lang="en-US" sz="3960">
                <a:latin typeface="Book Antiqua"/>
                <a:ea typeface="Book Antiqua"/>
                <a:cs typeface="Book Antiqua"/>
                <a:sym typeface="Book Antiqua"/>
              </a:rPr>
              <a:t>3. Job Analysis- Time Study</a:t>
            </a:r>
            <a:endParaRPr sz="396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642910" y="2143116"/>
            <a:ext cx="1857388" cy="1071570"/>
          </a:xfrm>
          <a:prstGeom prst="rect">
            <a:avLst/>
          </a:prstGeom>
          <a:solidFill>
            <a:srgbClr val="FCE1AE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Whole Work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6143636" y="2143116"/>
            <a:ext cx="1857388" cy="1071570"/>
          </a:xfrm>
          <a:prstGeom prst="rect">
            <a:avLst/>
          </a:prstGeom>
          <a:solidFill>
            <a:srgbClr val="FCE1AE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Optimum time taken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3357554" y="2143116"/>
            <a:ext cx="1857388" cy="1071570"/>
          </a:xfrm>
          <a:prstGeom prst="rect">
            <a:avLst/>
          </a:prstGeom>
          <a:solidFill>
            <a:srgbClr val="FCE1AE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Elements of work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6072198" y="5072074"/>
            <a:ext cx="1857388" cy="1071570"/>
          </a:xfrm>
          <a:prstGeom prst="rect">
            <a:avLst/>
          </a:prstGeom>
          <a:solidFill>
            <a:srgbClr val="FCE1AE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Determining Standard time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3357554" y="5143512"/>
            <a:ext cx="1857388" cy="1071570"/>
          </a:xfrm>
          <a:prstGeom prst="rect">
            <a:avLst/>
          </a:prstGeom>
          <a:solidFill>
            <a:srgbClr val="FCE1AE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Fair day’s work 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571472" y="5072074"/>
            <a:ext cx="1857388" cy="1071570"/>
          </a:xfrm>
          <a:prstGeom prst="rect">
            <a:avLst/>
          </a:prstGeom>
          <a:solidFill>
            <a:srgbClr val="FCE1AE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To maximize production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2500298" y="2571744"/>
            <a:ext cx="857256" cy="21431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8" name="Google Shape;228;p11"/>
          <p:cNvSpPr/>
          <p:nvPr/>
        </p:nvSpPr>
        <p:spPr>
          <a:xfrm rot="10800000">
            <a:off x="2428860" y="5500702"/>
            <a:ext cx="857256" cy="21431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9" name="Google Shape;229;p11"/>
          <p:cNvSpPr/>
          <p:nvPr/>
        </p:nvSpPr>
        <p:spPr>
          <a:xfrm rot="10800000">
            <a:off x="5214942" y="5572140"/>
            <a:ext cx="857256" cy="21431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0" name="Google Shape;230;p11"/>
          <p:cNvSpPr/>
          <p:nvPr/>
        </p:nvSpPr>
        <p:spPr>
          <a:xfrm rot="5400000">
            <a:off x="6072247" y="3929017"/>
            <a:ext cx="1817876" cy="38921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5286380" y="2643182"/>
            <a:ext cx="857256" cy="21431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2" name="Google Shape;232;p11"/>
          <p:cNvSpPr txBox="1"/>
          <p:nvPr/>
        </p:nvSpPr>
        <p:spPr>
          <a:xfrm>
            <a:off x="2000232" y="1285860"/>
            <a:ext cx="178595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Breaking down into small units</a:t>
            </a:r>
            <a:endParaRPr b="1"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4643438" y="3357562"/>
            <a:ext cx="185738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Work done by an average worker</a:t>
            </a:r>
            <a:endParaRPr b="1"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34" name="Google Shape;234;p11"/>
          <p:cNvSpPr txBox="1"/>
          <p:nvPr/>
        </p:nvSpPr>
        <p:spPr>
          <a:xfrm>
            <a:off x="4929190" y="1428736"/>
            <a:ext cx="15001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Observation </a:t>
            </a:r>
            <a:endParaRPr b="1"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7286644" y="3357562"/>
            <a:ext cx="1500198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Difference between finishing time and starting time</a:t>
            </a:r>
            <a:endParaRPr b="1"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cxnSp>
        <p:nvCxnSpPr>
          <p:cNvPr id="236" name="Google Shape;236;p11"/>
          <p:cNvCxnSpPr/>
          <p:nvPr/>
        </p:nvCxnSpPr>
        <p:spPr>
          <a:xfrm flipH="1" rot="-5400000">
            <a:off x="2836947" y="2306534"/>
            <a:ext cx="362554" cy="35719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7" name="Google Shape;237;p11"/>
          <p:cNvCxnSpPr/>
          <p:nvPr/>
        </p:nvCxnSpPr>
        <p:spPr>
          <a:xfrm rot="5400000">
            <a:off x="5107785" y="2178835"/>
            <a:ext cx="928694" cy="1588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8" name="Google Shape;238;p11"/>
          <p:cNvCxnSpPr/>
          <p:nvPr/>
        </p:nvCxnSpPr>
        <p:spPr>
          <a:xfrm flipH="1" rot="-5400000">
            <a:off x="3186989" y="2829808"/>
            <a:ext cx="362554" cy="35718"/>
          </a:xfrm>
          <a:prstGeom prst="straightConnector1">
            <a:avLst/>
          </a:prstGeom>
          <a:noFill/>
          <a:ln cap="flat" cmpd="sng" w="100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9" name="Google Shape;239;p11"/>
          <p:cNvCxnSpPr/>
          <p:nvPr/>
        </p:nvCxnSpPr>
        <p:spPr>
          <a:xfrm rot="-5400000">
            <a:off x="5394331" y="3106735"/>
            <a:ext cx="642942" cy="1588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40" name="Google Shape;240;p11"/>
          <p:cNvCxnSpPr/>
          <p:nvPr/>
        </p:nvCxnSpPr>
        <p:spPr>
          <a:xfrm rot="10800000">
            <a:off x="7143768" y="4071942"/>
            <a:ext cx="285752" cy="1588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"/>
          <p:cNvSpPr txBox="1"/>
          <p:nvPr>
            <p:ph type="title"/>
          </p:nvPr>
        </p:nvSpPr>
        <p:spPr>
          <a:xfrm>
            <a:off x="457200" y="274638"/>
            <a:ext cx="8229600" cy="725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59"/>
              <a:buFont typeface="Book Antiqua"/>
              <a:buNone/>
            </a:pPr>
            <a:r>
              <a:rPr lang="en-US" sz="3960">
                <a:latin typeface="Book Antiqua"/>
                <a:ea typeface="Book Antiqua"/>
                <a:cs typeface="Book Antiqua"/>
                <a:sym typeface="Book Antiqua"/>
              </a:rPr>
              <a:t>Motion Study</a:t>
            </a:r>
            <a:endParaRPr sz="396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3428992" y="1142984"/>
            <a:ext cx="1714512" cy="1000132"/>
          </a:xfrm>
          <a:prstGeom prst="ellipse">
            <a:avLst/>
          </a:prstGeom>
          <a:solidFill>
            <a:srgbClr val="FDD1B0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Work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3357554" y="2428868"/>
            <a:ext cx="2000264" cy="928694"/>
          </a:xfrm>
          <a:prstGeom prst="rect">
            <a:avLst/>
          </a:prstGeom>
          <a:solidFill>
            <a:srgbClr val="FDD1B0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Elements of Work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5786446" y="3643314"/>
            <a:ext cx="2643206" cy="1143008"/>
          </a:xfrm>
          <a:prstGeom prst="rect">
            <a:avLst/>
          </a:prstGeom>
          <a:solidFill>
            <a:srgbClr val="FDD1B0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Elimination of unnecessary &amp; wastage full movement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500034" y="3714752"/>
            <a:ext cx="2000264" cy="928694"/>
          </a:xfrm>
          <a:prstGeom prst="rect">
            <a:avLst/>
          </a:prstGeom>
          <a:solidFill>
            <a:srgbClr val="FDD1B0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Identifying essential movement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3286116" y="5429264"/>
            <a:ext cx="2000264" cy="928694"/>
          </a:xfrm>
          <a:prstGeom prst="rect">
            <a:avLst/>
          </a:prstGeom>
          <a:solidFill>
            <a:srgbClr val="FDD1B0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To reduce extra time &amp; fatigue of worker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cxnSp>
        <p:nvCxnSpPr>
          <p:cNvPr id="251" name="Google Shape;251;p12"/>
          <p:cNvCxnSpPr/>
          <p:nvPr/>
        </p:nvCxnSpPr>
        <p:spPr>
          <a:xfrm rot="5400000">
            <a:off x="4143372" y="2285992"/>
            <a:ext cx="286546" cy="794"/>
          </a:xfrm>
          <a:prstGeom prst="straightConnector1">
            <a:avLst/>
          </a:prstGeom>
          <a:noFill/>
          <a:ln cap="flat" cmpd="sng" w="100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2" name="Google Shape;252;p12"/>
          <p:cNvCxnSpPr/>
          <p:nvPr/>
        </p:nvCxnSpPr>
        <p:spPr>
          <a:xfrm>
            <a:off x="2000232" y="4572008"/>
            <a:ext cx="1285090" cy="928694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3" name="Google Shape;253;p12"/>
          <p:cNvCxnSpPr/>
          <p:nvPr/>
        </p:nvCxnSpPr>
        <p:spPr>
          <a:xfrm flipH="1">
            <a:off x="5286380" y="4857760"/>
            <a:ext cx="1143802" cy="714380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4" name="Google Shape;254;p12"/>
          <p:cNvCxnSpPr/>
          <p:nvPr/>
        </p:nvCxnSpPr>
        <p:spPr>
          <a:xfrm>
            <a:off x="5357818" y="3214686"/>
            <a:ext cx="1143008" cy="429422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5" name="Google Shape;255;p12"/>
          <p:cNvCxnSpPr/>
          <p:nvPr/>
        </p:nvCxnSpPr>
        <p:spPr>
          <a:xfrm flipH="1">
            <a:off x="2143108" y="3214686"/>
            <a:ext cx="1143008" cy="429422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"/>
          <p:cNvSpPr txBox="1"/>
          <p:nvPr>
            <p:ph type="title"/>
          </p:nvPr>
        </p:nvSpPr>
        <p:spPr>
          <a:xfrm>
            <a:off x="457200" y="274638"/>
            <a:ext cx="8229600" cy="725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59"/>
              <a:buFont typeface="Book Antiqua"/>
              <a:buNone/>
            </a:pPr>
            <a:r>
              <a:rPr lang="en-US" sz="3960">
                <a:latin typeface="Book Antiqua"/>
                <a:ea typeface="Book Antiqua"/>
                <a:cs typeface="Book Antiqua"/>
                <a:sym typeface="Book Antiqua"/>
              </a:rPr>
              <a:t>Fatigue Study</a:t>
            </a:r>
            <a:endParaRPr sz="396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61" name="Google Shape;261;p13"/>
          <p:cNvSpPr txBox="1"/>
          <p:nvPr>
            <p:ph idx="1" type="body"/>
          </p:nvPr>
        </p:nvSpPr>
        <p:spPr>
          <a:xfrm>
            <a:off x="457200" y="1142984"/>
            <a:ext cx="8229600" cy="542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9"/>
              <a:buNone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In order to increase the capacity to work to maximum potential</a:t>
            </a:r>
            <a:endParaRPr/>
          </a:p>
          <a:p>
            <a:pPr indent="-320040" lvl="0" marL="32004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t/>
            </a:r>
            <a:endParaRPr sz="2683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Require rest between two consecutive activities </a:t>
            </a:r>
            <a:endParaRPr/>
          </a:p>
          <a:p>
            <a:pPr indent="-320040" lvl="0" marL="32004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t/>
            </a:r>
            <a:endParaRPr sz="2683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Need to determine </a:t>
            </a:r>
            <a:endParaRPr/>
          </a:p>
          <a:p>
            <a:pPr indent="-320040" lvl="0" marL="32004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t/>
            </a:r>
            <a:endParaRPr sz="2683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Rest period helps to regain energy </a:t>
            </a:r>
            <a:endParaRPr/>
          </a:p>
          <a:p>
            <a:pPr indent="-320040" lvl="0" marL="32004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t/>
            </a:r>
            <a:endParaRPr sz="2683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Reduce fatigue </a:t>
            </a:r>
            <a:endParaRPr/>
          </a:p>
          <a:p>
            <a:pPr indent="-320040" lvl="0" marL="32004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t/>
            </a:r>
            <a:endParaRPr sz="2683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Increase quality &amp; Productivity</a:t>
            </a:r>
            <a:endParaRPr/>
          </a:p>
        </p:txBody>
      </p:sp>
      <p:sp>
        <p:nvSpPr>
          <p:cNvPr id="262" name="Google Shape;262;p13"/>
          <p:cNvSpPr txBox="1"/>
          <p:nvPr/>
        </p:nvSpPr>
        <p:spPr>
          <a:xfrm>
            <a:off x="500034" y="3786190"/>
            <a:ext cx="250033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Amount of Rest</a:t>
            </a:r>
            <a:endParaRPr sz="2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5786446" y="3857628"/>
            <a:ext cx="2714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Frequency of Rest</a:t>
            </a:r>
            <a:endParaRPr sz="2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4286248" y="1928802"/>
            <a:ext cx="571504" cy="42862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4286248" y="2857496"/>
            <a:ext cx="571504" cy="42862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4214810" y="4714884"/>
            <a:ext cx="571504" cy="42862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4214810" y="5643578"/>
            <a:ext cx="571504" cy="42862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268" name="Google Shape;268;p13"/>
          <p:cNvCxnSpPr/>
          <p:nvPr/>
        </p:nvCxnSpPr>
        <p:spPr>
          <a:xfrm flipH="1">
            <a:off x="2428860" y="3571876"/>
            <a:ext cx="500068" cy="357190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69" name="Google Shape;269;p13"/>
          <p:cNvCxnSpPr/>
          <p:nvPr/>
        </p:nvCxnSpPr>
        <p:spPr>
          <a:xfrm>
            <a:off x="6179356" y="3643314"/>
            <a:ext cx="678660" cy="357190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"/>
          <p:cNvSpPr txBox="1"/>
          <p:nvPr>
            <p:ph type="title"/>
          </p:nvPr>
        </p:nvSpPr>
        <p:spPr>
          <a:xfrm>
            <a:off x="457200" y="274638"/>
            <a:ext cx="8229600" cy="725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59"/>
              <a:buFont typeface="Book Antiqua"/>
              <a:buNone/>
            </a:pPr>
            <a:r>
              <a:rPr lang="en-US" sz="3960">
                <a:latin typeface="Book Antiqua"/>
                <a:ea typeface="Book Antiqua"/>
                <a:cs typeface="Book Antiqua"/>
                <a:sym typeface="Book Antiqua"/>
              </a:rPr>
              <a:t>Method Study</a:t>
            </a:r>
            <a:endParaRPr sz="396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571472" y="1285860"/>
            <a:ext cx="5857916" cy="4786346"/>
          </a:xfrm>
          <a:prstGeom prst="ellipse">
            <a:avLst/>
          </a:prstGeom>
          <a:solidFill>
            <a:srgbClr val="92D050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1357290" y="2214554"/>
            <a:ext cx="1714512" cy="1071570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Optimum utilization of resources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3571868" y="4929198"/>
            <a:ext cx="1143008" cy="571504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Location of facility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3643306" y="3714752"/>
            <a:ext cx="1928826" cy="714380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Capital Equipment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3286116" y="2928934"/>
            <a:ext cx="1143008" cy="571504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Product 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3357554" y="1928802"/>
            <a:ext cx="1928826" cy="785818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Technological feasibility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4786314" y="2928934"/>
            <a:ext cx="1143008" cy="571504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Design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1285852" y="3714752"/>
            <a:ext cx="1928826" cy="1285884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Reduce material &amp; transportation cost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5572132" y="4500570"/>
            <a:ext cx="1214446" cy="785818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00B0F0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6858016" y="4143380"/>
            <a:ext cx="1857388" cy="1857388"/>
          </a:xfrm>
          <a:prstGeom prst="ellipse">
            <a:avLst/>
          </a:prstGeom>
          <a:solidFill>
            <a:srgbClr val="FFFF00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Best Output</a:t>
            </a:r>
            <a:endParaRPr sz="2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idx="1" type="body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7856" lvl="0" marL="3200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9"/>
              <a:buNone/>
            </a:pPr>
            <a:r>
              <a:t/>
            </a:r>
            <a:endParaRPr b="1" sz="2683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rPr b="1" lang="en-US" sz="2683">
                <a:latin typeface="Book Antiqua"/>
                <a:ea typeface="Book Antiqua"/>
                <a:cs typeface="Book Antiqua"/>
                <a:sym typeface="Book Antiqua"/>
              </a:rPr>
              <a:t>4. Standardization of Work</a:t>
            </a: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: </a:t>
            </a:r>
            <a:r>
              <a:rPr lang="en-US" sz="2590">
                <a:latin typeface="Book Antiqua"/>
                <a:ea typeface="Book Antiqua"/>
                <a:cs typeface="Book Antiqua"/>
                <a:sym typeface="Book Antiqua"/>
              </a:rPr>
              <a:t>Standardization is the process of setting standards for products, tools, equipments, work method</a:t>
            </a:r>
            <a:endParaRPr/>
          </a:p>
          <a:p>
            <a:pPr indent="-32004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t/>
            </a:r>
            <a:endParaRPr sz="2683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rPr b="1" lang="en-US" sz="2683">
                <a:latin typeface="Book Antiqua"/>
                <a:ea typeface="Book Antiqua"/>
                <a:cs typeface="Book Antiqua"/>
                <a:sym typeface="Book Antiqua"/>
              </a:rPr>
              <a:t>5. Financial Incentive</a:t>
            </a: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: </a:t>
            </a:r>
            <a:endParaRPr/>
          </a:p>
          <a:p>
            <a:pPr indent="-32004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54"/>
              <a:buFont typeface="Noto Sans Symbols"/>
              <a:buChar char="❑"/>
            </a:pPr>
            <a:r>
              <a:rPr lang="en-US" sz="2590">
                <a:latin typeface="Book Antiqua"/>
                <a:ea typeface="Book Antiqua"/>
                <a:cs typeface="Book Antiqua"/>
                <a:sym typeface="Book Antiqua"/>
              </a:rPr>
              <a:t>Workers have dominant financial needs</a:t>
            </a:r>
            <a:endParaRPr/>
          </a:p>
          <a:p>
            <a:pPr indent="-32004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54"/>
              <a:buFont typeface="Noto Sans Symbols"/>
              <a:buChar char="❑"/>
            </a:pPr>
            <a:r>
              <a:rPr lang="en-US" sz="2590">
                <a:latin typeface="Book Antiqua"/>
                <a:ea typeface="Book Antiqua"/>
                <a:cs typeface="Book Antiqua"/>
                <a:sym typeface="Book Antiqua"/>
              </a:rPr>
              <a:t>Giving financial reward to maximize productivity</a:t>
            </a:r>
            <a:endParaRPr/>
          </a:p>
          <a:p>
            <a:pPr indent="-32004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54"/>
              <a:buFont typeface="Noto Sans Symbols"/>
              <a:buChar char="❑"/>
            </a:pPr>
            <a:r>
              <a:rPr lang="en-US" sz="2590">
                <a:latin typeface="Book Antiqua"/>
                <a:ea typeface="Book Antiqua"/>
                <a:cs typeface="Book Antiqua"/>
                <a:sym typeface="Book Antiqua"/>
              </a:rPr>
              <a:t>Reward related to the performance not to the position in the organization</a:t>
            </a:r>
            <a:endParaRPr/>
          </a:p>
          <a:p>
            <a:pPr indent="-32004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t/>
            </a:r>
            <a:endParaRPr sz="2683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rPr b="1" lang="en-US" sz="2683">
                <a:latin typeface="Book Antiqua"/>
                <a:ea typeface="Book Antiqua"/>
                <a:cs typeface="Book Antiqua"/>
                <a:sym typeface="Book Antiqua"/>
              </a:rPr>
              <a:t>6. Differential rate system:</a:t>
            </a:r>
            <a:endParaRPr/>
          </a:p>
          <a:p>
            <a:pPr indent="-32004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443"/>
              <a:buFont typeface="Noto Sans Symbols"/>
              <a:buChar char="❑"/>
            </a:pPr>
            <a:r>
              <a:rPr lang="en-US" sz="2405">
                <a:latin typeface="Book Antiqua"/>
                <a:ea typeface="Book Antiqua"/>
                <a:cs typeface="Book Antiqua"/>
                <a:sym typeface="Book Antiqua"/>
              </a:rPr>
              <a:t>Higher wage rate was paid to workers who finished the work in less than standard time</a:t>
            </a:r>
            <a:endParaRPr/>
          </a:p>
          <a:p>
            <a:pPr indent="-32004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443"/>
              <a:buFont typeface="Noto Sans Symbols"/>
              <a:buChar char="❑"/>
            </a:pPr>
            <a:r>
              <a:rPr lang="en-US" sz="2405">
                <a:latin typeface="Book Antiqua"/>
                <a:ea typeface="Book Antiqua"/>
                <a:cs typeface="Book Antiqua"/>
                <a:sym typeface="Book Antiqua"/>
              </a:rPr>
              <a:t>Lower wage rate to those who produced less than the standard output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 txBox="1"/>
          <p:nvPr>
            <p:ph idx="1" type="body"/>
          </p:nvPr>
        </p:nvSpPr>
        <p:spPr>
          <a:xfrm>
            <a:off x="457200" y="571480"/>
            <a:ext cx="8229600" cy="56436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50" lvl="0" marL="320040" rtl="0" algn="l">
              <a:spcBef>
                <a:spcPts val="0"/>
              </a:spcBef>
              <a:spcAft>
                <a:spcPts val="0"/>
              </a:spcAft>
              <a:buSzPts val="1740"/>
              <a:buNone/>
            </a:pPr>
            <a:r>
              <a:t/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7. Scientific selection &amp; training: 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680"/>
              <a:buFont typeface="Noto Sans Symbols"/>
              <a:buChar char="❑"/>
            </a:pPr>
            <a:r>
              <a:rPr lang="en-US" sz="2800">
                <a:latin typeface="Book Antiqua"/>
                <a:ea typeface="Book Antiqua"/>
                <a:cs typeface="Book Antiqua"/>
                <a:sym typeface="Book Antiqua"/>
              </a:rPr>
              <a:t>Selecting right person for the right job </a:t>
            </a:r>
            <a:endParaRPr/>
          </a:p>
          <a:p>
            <a:pPr indent="-213360" lvl="0" marL="320040" rtl="0" algn="l">
              <a:spcBef>
                <a:spcPts val="70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680"/>
              <a:buFont typeface="Noto Sans Symbols"/>
              <a:buChar char="❑"/>
            </a:pPr>
            <a:r>
              <a:rPr lang="en-US" sz="2800">
                <a:latin typeface="Book Antiqua"/>
                <a:ea typeface="Book Antiqua"/>
                <a:cs typeface="Book Antiqua"/>
                <a:sym typeface="Book Antiqua"/>
              </a:rPr>
              <a:t>Workers should be selected on the basis of knowledge, ability, experiences</a:t>
            </a:r>
            <a:endParaRPr/>
          </a:p>
          <a:p>
            <a:pPr indent="-213360" lvl="0" marL="320040" rtl="0" algn="l">
              <a:spcBef>
                <a:spcPts val="70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680"/>
              <a:buFont typeface="Noto Sans Symbols"/>
              <a:buChar char="❑"/>
            </a:pPr>
            <a:r>
              <a:rPr lang="en-US" sz="2800">
                <a:latin typeface="Book Antiqua"/>
                <a:ea typeface="Book Antiqua"/>
                <a:cs typeface="Book Antiqua"/>
                <a:sym typeface="Book Antiqua"/>
              </a:rPr>
              <a:t>Training enhances peoples’ skills to make them more effective &amp; productive</a:t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"/>
          <p:cNvSpPr txBox="1"/>
          <p:nvPr>
            <p:ph type="title"/>
          </p:nvPr>
        </p:nvSpPr>
        <p:spPr>
          <a:xfrm>
            <a:off x="457200" y="274638"/>
            <a:ext cx="8229600" cy="8683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Book Antiqua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Significance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00" name="Google Shape;300;p17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9"/>
              <a:buChar char="◻"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Better/ Scientific Management Approach</a:t>
            </a:r>
            <a:endParaRPr/>
          </a:p>
          <a:p>
            <a:pPr indent="-320040" lvl="0" marL="32004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609"/>
              <a:buChar char="◻"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Optimum allocation of resources </a:t>
            </a:r>
            <a:endParaRPr/>
          </a:p>
          <a:p>
            <a:pPr indent="-320040" lvl="0" marL="32004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609"/>
              <a:buChar char="◻"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Work specialization</a:t>
            </a:r>
            <a:endParaRPr/>
          </a:p>
          <a:p>
            <a:pPr indent="-320040" lvl="0" marL="32004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609"/>
              <a:buChar char="◻"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Mental revolution</a:t>
            </a:r>
            <a:endParaRPr/>
          </a:p>
          <a:p>
            <a:pPr indent="-320040" lvl="0" marL="32004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609"/>
              <a:buChar char="◻"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Productivity</a:t>
            </a:r>
            <a:endParaRPr/>
          </a:p>
          <a:p>
            <a:pPr indent="-320040" lvl="0" marL="32004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609"/>
              <a:buChar char="◻"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Harmonious relationship</a:t>
            </a:r>
            <a:endParaRPr/>
          </a:p>
          <a:p>
            <a:pPr indent="-320040" lvl="0" marL="32004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609"/>
              <a:buChar char="◻"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Improve standard of living</a:t>
            </a:r>
            <a:endParaRPr/>
          </a:p>
          <a:p>
            <a:pPr indent="-320040" lvl="0" marL="32004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609"/>
              <a:buChar char="◻"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Industrial prosperity</a:t>
            </a:r>
            <a:endParaRPr/>
          </a:p>
          <a:p>
            <a:pPr indent="-320040" lvl="0" marL="32004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609"/>
              <a:buChar char="◻"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Incentives</a:t>
            </a:r>
            <a:endParaRPr/>
          </a:p>
          <a:p>
            <a:pPr indent="-320040" lvl="0" marL="32004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609"/>
              <a:buChar char="◻"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Job satisfaction</a:t>
            </a:r>
            <a:endParaRPr sz="2683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 txBox="1"/>
          <p:nvPr>
            <p:ph type="title"/>
          </p:nvPr>
        </p:nvSpPr>
        <p:spPr>
          <a:xfrm>
            <a:off x="457200" y="274638"/>
            <a:ext cx="8229600" cy="79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Book Antiqua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Limitation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06" name="Google Shape;306;p18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spcBef>
                <a:spcPts val="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Over emphasis ion economic need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Monotony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Discrimination amongst worker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Narrow view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Unsuitable for small firm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"/>
          <p:cNvSpPr txBox="1"/>
          <p:nvPr>
            <p:ph type="title"/>
          </p:nvPr>
        </p:nvSpPr>
        <p:spPr>
          <a:xfrm>
            <a:off x="457200" y="274638"/>
            <a:ext cx="8229600" cy="796908"/>
          </a:xfrm>
          <a:prstGeom prst="rect">
            <a:avLst/>
          </a:prstGeom>
          <a:solidFill>
            <a:schemeClr val="accent2"/>
          </a:solidFill>
          <a:ln cap="flat" cmpd="dbl" w="476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30000">
              <a:srgbClr val="000000">
                <a:alpha val="44706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Book Antiqua"/>
              <a:buNone/>
            </a:pPr>
            <a:r>
              <a:rPr lang="en-US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rPr>
              <a:t>Henri Fayol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12" name="Google Shape;312;p19"/>
          <p:cNvSpPr txBox="1"/>
          <p:nvPr>
            <p:ph idx="1" type="body"/>
          </p:nvPr>
        </p:nvSpPr>
        <p:spPr>
          <a:xfrm>
            <a:off x="428596" y="1571612"/>
            <a:ext cx="8286808" cy="48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9"/>
              <a:buChar char="◻"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Classical Organization Theory/ Management Process Theory/ Administrative Theory.</a:t>
            </a:r>
            <a:endParaRPr/>
          </a:p>
          <a:p>
            <a:pPr indent="-320040" lvl="0" marL="32004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t/>
            </a:r>
            <a:endParaRPr sz="2683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609"/>
              <a:buChar char="◻"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Fayol focused on the organization as a whole</a:t>
            </a:r>
            <a:endParaRPr/>
          </a:p>
          <a:p>
            <a:pPr indent="-320040" lvl="0" marL="32004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t/>
            </a:r>
            <a:endParaRPr sz="2683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609"/>
              <a:buChar char="◻"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Fayol worked with the French Coal and Iron company as a junior executive and promoted as director in the same company. </a:t>
            </a:r>
            <a:endParaRPr/>
          </a:p>
          <a:p>
            <a:pPr indent="-320040" lvl="0" marL="32004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t/>
            </a:r>
            <a:endParaRPr sz="2683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609"/>
              <a:buChar char="◻"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Fayol challenged the general notion “Managers are born not made” and he stated that management can be taught. </a:t>
            </a:r>
            <a:endParaRPr/>
          </a:p>
          <a:p>
            <a:pPr indent="-217856" lvl="0" marL="32004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t/>
            </a:r>
            <a:endParaRPr sz="2683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0"/>
          <p:cNvSpPr txBox="1"/>
          <p:nvPr>
            <p:ph type="title"/>
          </p:nvPr>
        </p:nvSpPr>
        <p:spPr>
          <a:xfrm>
            <a:off x="0" y="142852"/>
            <a:ext cx="9144000" cy="1143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59"/>
              <a:buFont typeface="Book Antiqua"/>
              <a:buNone/>
            </a:pPr>
            <a:r>
              <a:rPr b="1" lang="en-US" sz="3960">
                <a:latin typeface="Book Antiqua"/>
                <a:ea typeface="Book Antiqua"/>
                <a:cs typeface="Book Antiqua"/>
                <a:sym typeface="Book Antiqua"/>
              </a:rPr>
              <a:t>Fayol’s Theory of Management</a:t>
            </a:r>
            <a:r>
              <a:rPr lang="en-US" sz="3960"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en-US" sz="3960">
                <a:latin typeface="Book Antiqua"/>
                <a:ea typeface="Book Antiqua"/>
                <a:cs typeface="Book Antiqua"/>
                <a:sym typeface="Book Antiqua"/>
              </a:rPr>
              <a:t>Activities in business </a:t>
            </a:r>
            <a:endParaRPr i="1" sz="396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18" name="Google Shape;318;p20"/>
          <p:cNvSpPr txBox="1"/>
          <p:nvPr>
            <p:ph idx="1" type="body"/>
          </p:nvPr>
        </p:nvSpPr>
        <p:spPr>
          <a:xfrm>
            <a:off x="285720" y="2000240"/>
            <a:ext cx="8643998" cy="428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spcBef>
                <a:spcPts val="0"/>
              </a:spcBef>
              <a:spcAft>
                <a:spcPts val="0"/>
              </a:spcAft>
              <a:buSzPts val="1740"/>
              <a:buFont typeface="Noto Sans Symbols"/>
              <a:buChar char="❑"/>
            </a:pPr>
            <a:r>
              <a:rPr lang="en-US">
                <a:solidFill>
                  <a:srgbClr val="00B050"/>
                </a:solidFill>
                <a:latin typeface="Book Antiqua"/>
                <a:ea typeface="Book Antiqua"/>
                <a:cs typeface="Book Antiqua"/>
                <a:sym typeface="Book Antiqua"/>
              </a:rPr>
              <a:t>Technical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: related to production &amp; manufacturing goods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Font typeface="Noto Sans Symbols"/>
              <a:buChar char="❑"/>
            </a:pPr>
            <a:r>
              <a:rPr lang="en-US">
                <a:solidFill>
                  <a:srgbClr val="00B050"/>
                </a:solidFill>
                <a:latin typeface="Book Antiqua"/>
                <a:ea typeface="Book Antiqua"/>
                <a:cs typeface="Book Antiqua"/>
                <a:sym typeface="Book Antiqua"/>
              </a:rPr>
              <a:t>Commercial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: buying raw materials and selling or exchanging the finished goods.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Font typeface="Noto Sans Symbols"/>
              <a:buChar char="❑"/>
            </a:pPr>
            <a:r>
              <a:rPr lang="en-US">
                <a:solidFill>
                  <a:srgbClr val="00B050"/>
                </a:solidFill>
                <a:latin typeface="Book Antiqua"/>
                <a:ea typeface="Book Antiqua"/>
                <a:cs typeface="Book Antiqua"/>
                <a:sym typeface="Book Antiqua"/>
              </a:rPr>
              <a:t>Financial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: relates to search, acquisition and optimum use of financial resources</a:t>
            </a:r>
            <a:r>
              <a:rPr lang="en-US"/>
              <a:t>.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1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59"/>
              <a:buFont typeface="Book Antiqua"/>
              <a:buNone/>
            </a:pPr>
            <a:r>
              <a:rPr b="1" lang="en-US" sz="3960">
                <a:latin typeface="Book Antiqua"/>
                <a:ea typeface="Book Antiqua"/>
                <a:cs typeface="Book Antiqua"/>
                <a:sym typeface="Book Antiqua"/>
              </a:rPr>
              <a:t>Fayol’s Theory of Management- </a:t>
            </a:r>
            <a:r>
              <a:rPr i="1" lang="en-US" sz="3960">
                <a:latin typeface="Book Antiqua"/>
                <a:ea typeface="Book Antiqua"/>
                <a:cs typeface="Book Antiqua"/>
                <a:sym typeface="Book Antiqua"/>
              </a:rPr>
              <a:t>Activities in business </a:t>
            </a:r>
            <a:endParaRPr i="1" sz="3960"/>
          </a:p>
        </p:txBody>
      </p:sp>
      <p:sp>
        <p:nvSpPr>
          <p:cNvPr id="324" name="Google Shape;324;p21"/>
          <p:cNvSpPr txBox="1"/>
          <p:nvPr>
            <p:ph idx="1" type="body"/>
          </p:nvPr>
        </p:nvSpPr>
        <p:spPr>
          <a:xfrm>
            <a:off x="214282" y="1571612"/>
            <a:ext cx="8715436" cy="507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9"/>
              <a:buFont typeface="Noto Sans Symbols"/>
              <a:buChar char="❑"/>
            </a:pPr>
            <a:r>
              <a:rPr lang="en-US" sz="2683">
                <a:solidFill>
                  <a:srgbClr val="00B050"/>
                </a:solidFill>
                <a:latin typeface="Book Antiqua"/>
                <a:ea typeface="Book Antiqua"/>
                <a:cs typeface="Book Antiqua"/>
                <a:sym typeface="Book Antiqua"/>
              </a:rPr>
              <a:t>Security</a:t>
            </a: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: related to protecting human and non-human resources</a:t>
            </a:r>
            <a:endParaRPr/>
          </a:p>
          <a:p>
            <a:pPr indent="-32004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t/>
            </a:r>
            <a:endParaRPr sz="2683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Font typeface="Noto Sans Symbols"/>
              <a:buChar char="❑"/>
            </a:pPr>
            <a:r>
              <a:rPr lang="en-US" sz="2683">
                <a:solidFill>
                  <a:srgbClr val="00B050"/>
                </a:solidFill>
                <a:latin typeface="Book Antiqua"/>
                <a:ea typeface="Book Antiqua"/>
                <a:cs typeface="Book Antiqua"/>
                <a:sym typeface="Book Antiqua"/>
              </a:rPr>
              <a:t>Accounting</a:t>
            </a: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: </a:t>
            </a:r>
            <a:endParaRPr/>
          </a:p>
          <a:p>
            <a:pPr indent="-571500" lvl="0" marL="5715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Font typeface="Twentieth Century"/>
              <a:buAutoNum type="romanLcPeriod"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Keeping accounts such as profit and loss account and balance sheet.</a:t>
            </a:r>
            <a:endParaRPr/>
          </a:p>
          <a:p>
            <a:pPr indent="-571500" lvl="0" marL="5715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Font typeface="Twentieth Century"/>
              <a:buAutoNum type="romanLcPeriod"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Minimizing costs</a:t>
            </a:r>
            <a:endParaRPr/>
          </a:p>
          <a:p>
            <a:pPr indent="-571500" lvl="0" marL="5715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Font typeface="Twentieth Century"/>
              <a:buAutoNum type="romanLcPeriod"/>
            </a:pP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Maintaining statistics </a:t>
            </a:r>
            <a:endParaRPr/>
          </a:p>
          <a:p>
            <a:pPr indent="-571500" lvl="0" marL="5715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t/>
            </a:r>
            <a:endParaRPr sz="2683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571500" lvl="0" marL="5715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Font typeface="Noto Sans Symbols"/>
              <a:buChar char="❑"/>
            </a:pPr>
            <a:r>
              <a:rPr lang="en-US" sz="2683">
                <a:solidFill>
                  <a:srgbClr val="00B050"/>
                </a:solidFill>
                <a:latin typeface="Book Antiqua"/>
                <a:ea typeface="Book Antiqua"/>
                <a:cs typeface="Book Antiqua"/>
                <a:sym typeface="Book Antiqua"/>
              </a:rPr>
              <a:t>Managerial</a:t>
            </a:r>
            <a:r>
              <a:rPr lang="en-US" sz="2683">
                <a:latin typeface="Book Antiqua"/>
                <a:ea typeface="Book Antiqua"/>
                <a:cs typeface="Book Antiqua"/>
                <a:sym typeface="Book Antiqua"/>
              </a:rPr>
              <a:t>: relates to functions performed by a manager.</a:t>
            </a:r>
            <a:endParaRPr/>
          </a:p>
          <a:p>
            <a:pPr indent="-571500" lvl="0" marL="5715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t/>
            </a:r>
            <a:endParaRPr sz="2683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17856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9"/>
              <a:buNone/>
            </a:pPr>
            <a:r>
              <a:t/>
            </a:r>
            <a:endParaRPr sz="2683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2"/>
          <p:cNvSpPr txBox="1"/>
          <p:nvPr>
            <p:ph type="title"/>
          </p:nvPr>
        </p:nvSpPr>
        <p:spPr>
          <a:xfrm>
            <a:off x="457200" y="274638"/>
            <a:ext cx="8229600" cy="79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Arial Black"/>
              <a:buNone/>
            </a:pPr>
            <a:r>
              <a:rPr lang="en-US">
                <a:solidFill>
                  <a:srgbClr val="0070C0"/>
                </a:solidFill>
                <a:latin typeface="Arial Black"/>
                <a:ea typeface="Arial Black"/>
                <a:cs typeface="Arial Black"/>
                <a:sym typeface="Arial Black"/>
              </a:rPr>
              <a:t>Functions of a Manager</a:t>
            </a:r>
            <a:endParaRPr>
              <a:solidFill>
                <a:srgbClr val="0070C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30" name="Google Shape;330;p22"/>
          <p:cNvSpPr txBox="1"/>
          <p:nvPr>
            <p:ph idx="1" type="body"/>
          </p:nvPr>
        </p:nvSpPr>
        <p:spPr>
          <a:xfrm>
            <a:off x="357158" y="1571612"/>
            <a:ext cx="8358246" cy="5000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48"/>
              <a:buChar char="◻"/>
            </a:pPr>
            <a:r>
              <a:rPr lang="en-US" sz="2248">
                <a:solidFill>
                  <a:srgbClr val="0070C0"/>
                </a:solidFill>
                <a:latin typeface="Book Antiqua"/>
                <a:ea typeface="Book Antiqua"/>
                <a:cs typeface="Book Antiqua"/>
                <a:sym typeface="Book Antiqua"/>
              </a:rPr>
              <a:t>Planning</a:t>
            </a:r>
            <a:r>
              <a:rPr lang="en-US" sz="2248">
                <a:latin typeface="Book Antiqua"/>
                <a:ea typeface="Book Antiqua"/>
                <a:cs typeface="Book Antiqua"/>
                <a:sym typeface="Book Antiqua"/>
              </a:rPr>
              <a:t> : determine goal, devise a course of action to achieve it.</a:t>
            </a:r>
            <a:endParaRPr/>
          </a:p>
          <a:p>
            <a:pPr indent="-320040" lvl="0" marL="32004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348"/>
              <a:buNone/>
            </a:pPr>
            <a:r>
              <a:t/>
            </a:r>
            <a:endParaRPr sz="2248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348"/>
              <a:buChar char="◻"/>
            </a:pPr>
            <a:r>
              <a:rPr lang="en-US" sz="2248">
                <a:solidFill>
                  <a:srgbClr val="0070C0"/>
                </a:solidFill>
                <a:latin typeface="Book Antiqua"/>
                <a:ea typeface="Book Antiqua"/>
                <a:cs typeface="Book Antiqua"/>
                <a:sym typeface="Book Antiqua"/>
              </a:rPr>
              <a:t>Organizing</a:t>
            </a:r>
            <a:r>
              <a:rPr lang="en-US" sz="2248">
                <a:latin typeface="Book Antiqua"/>
                <a:ea typeface="Book Antiqua"/>
                <a:cs typeface="Book Antiqua"/>
                <a:sym typeface="Book Antiqua"/>
              </a:rPr>
              <a:t>: coordinate human and non human resources of the organization to put the plans into action</a:t>
            </a:r>
            <a:endParaRPr/>
          </a:p>
          <a:p>
            <a:pPr indent="-320040" lvl="0" marL="32004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348"/>
              <a:buNone/>
            </a:pPr>
            <a:r>
              <a:t/>
            </a:r>
            <a:endParaRPr sz="2248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348"/>
              <a:buChar char="◻"/>
            </a:pPr>
            <a:r>
              <a:rPr lang="en-US" sz="2248">
                <a:solidFill>
                  <a:srgbClr val="0070C0"/>
                </a:solidFill>
                <a:latin typeface="Book Antiqua"/>
                <a:ea typeface="Book Antiqua"/>
                <a:cs typeface="Book Antiqua"/>
                <a:sym typeface="Book Antiqua"/>
              </a:rPr>
              <a:t>Commanding/Directing</a:t>
            </a:r>
            <a:r>
              <a:rPr lang="en-US" sz="2248">
                <a:latin typeface="Book Antiqua"/>
                <a:ea typeface="Book Antiqua"/>
                <a:cs typeface="Book Antiqua"/>
                <a:sym typeface="Book Antiqua"/>
              </a:rPr>
              <a:t>: direct and guide the workers to perform their duties well</a:t>
            </a:r>
            <a:endParaRPr/>
          </a:p>
          <a:p>
            <a:pPr indent="-320040" lvl="0" marL="32004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348"/>
              <a:buNone/>
            </a:pPr>
            <a:r>
              <a:t/>
            </a:r>
            <a:endParaRPr sz="2248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348"/>
              <a:buChar char="◻"/>
            </a:pPr>
            <a:r>
              <a:rPr lang="en-US" sz="2248">
                <a:solidFill>
                  <a:srgbClr val="0070C0"/>
                </a:solidFill>
                <a:latin typeface="Book Antiqua"/>
                <a:ea typeface="Book Antiqua"/>
                <a:cs typeface="Book Antiqua"/>
                <a:sym typeface="Book Antiqua"/>
              </a:rPr>
              <a:t>Coordinating</a:t>
            </a:r>
            <a:r>
              <a:rPr lang="en-US" sz="2248">
                <a:latin typeface="Book Antiqua"/>
                <a:ea typeface="Book Antiqua"/>
                <a:cs typeface="Book Antiqua"/>
                <a:sym typeface="Book Antiqua"/>
              </a:rPr>
              <a:t>: synthesize the resources and activities of the organization</a:t>
            </a:r>
            <a:endParaRPr/>
          </a:p>
          <a:p>
            <a:pPr indent="-320040" lvl="0" marL="32004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348"/>
              <a:buNone/>
            </a:pPr>
            <a:r>
              <a:t/>
            </a:r>
            <a:endParaRPr sz="2248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348"/>
              <a:buChar char="◻"/>
            </a:pPr>
            <a:r>
              <a:rPr lang="en-US" sz="2248">
                <a:solidFill>
                  <a:srgbClr val="0070C0"/>
                </a:solidFill>
                <a:latin typeface="Book Antiqua"/>
                <a:ea typeface="Book Antiqua"/>
                <a:cs typeface="Book Antiqua"/>
                <a:sym typeface="Book Antiqua"/>
              </a:rPr>
              <a:t>Controlling</a:t>
            </a:r>
            <a:r>
              <a:rPr lang="en-US" sz="2248">
                <a:latin typeface="Book Antiqua"/>
                <a:ea typeface="Book Antiqua"/>
                <a:cs typeface="Book Antiqua"/>
                <a:sym typeface="Book Antiqua"/>
              </a:rPr>
              <a:t>: ensure that plans are effectively carried out and discrepancies are checked</a:t>
            </a:r>
            <a:endParaRPr/>
          </a:p>
          <a:p>
            <a:pPr indent="-234429" lvl="0" marL="32004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348"/>
              <a:buNone/>
            </a:pPr>
            <a:r>
              <a:t/>
            </a:r>
            <a:endParaRPr sz="2248"/>
          </a:p>
          <a:p>
            <a:pPr indent="-234429" lvl="0" marL="32004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348"/>
              <a:buNone/>
            </a:pPr>
            <a:r>
              <a:t/>
            </a:r>
            <a:endParaRPr sz="2248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"/>
          <p:cNvSpPr txBox="1"/>
          <p:nvPr>
            <p:ph type="title"/>
          </p:nvPr>
        </p:nvSpPr>
        <p:spPr>
          <a:xfrm>
            <a:off x="457200" y="274638"/>
            <a:ext cx="8229600" cy="796908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 Antiqua"/>
              <a:buNone/>
            </a:pPr>
            <a:r>
              <a:rPr b="1" lang="en-US" sz="3600">
                <a:latin typeface="Book Antiqua"/>
                <a:ea typeface="Book Antiqua"/>
                <a:cs typeface="Book Antiqua"/>
                <a:sym typeface="Book Antiqua"/>
              </a:rPr>
              <a:t>Fayol’s 14 Principles of management </a:t>
            </a:r>
            <a:endParaRPr b="1" sz="36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6" name="Google Shape;336;p23"/>
          <p:cNvSpPr txBox="1"/>
          <p:nvPr>
            <p:ph idx="1" type="body"/>
          </p:nvPr>
        </p:nvSpPr>
        <p:spPr>
          <a:xfrm>
            <a:off x="457200" y="1428736"/>
            <a:ext cx="8229600" cy="5143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spcBef>
                <a:spcPts val="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Division of Labor: </a:t>
            </a:r>
            <a:endParaRPr/>
          </a:p>
          <a:p>
            <a:pPr indent="-209550" lvl="0" marL="320040" rtl="0" algn="l">
              <a:spcBef>
                <a:spcPts val="700"/>
              </a:spcBef>
              <a:spcAft>
                <a:spcPts val="0"/>
              </a:spcAft>
              <a:buSzPts val="1740"/>
              <a:buNone/>
            </a:pPr>
            <a:r>
              <a:t/>
            </a:r>
            <a:endParaRPr/>
          </a:p>
          <a:p>
            <a:pPr indent="-209550" lvl="0" marL="320040" rtl="0" algn="l">
              <a:spcBef>
                <a:spcPts val="700"/>
              </a:spcBef>
              <a:spcAft>
                <a:spcPts val="0"/>
              </a:spcAft>
              <a:buSzPts val="1740"/>
              <a:buNone/>
            </a:pPr>
            <a:r>
              <a:t/>
            </a:r>
            <a:endParaRPr/>
          </a:p>
          <a:p>
            <a:pPr indent="-209550" lvl="0" marL="320040" rtl="0" algn="l">
              <a:spcBef>
                <a:spcPts val="700"/>
              </a:spcBef>
              <a:spcAft>
                <a:spcPts val="0"/>
              </a:spcAft>
              <a:buSzPts val="1740"/>
              <a:buNone/>
            </a:pPr>
            <a:r>
              <a:t/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Authority and Responsibility: Authority means the right to give orders and the power to exact obedience where as Responsibility means moral commitment to do the work assigned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Discipline: Discipline means respect for rules and agreements</a:t>
            </a:r>
            <a:endParaRPr/>
          </a:p>
        </p:txBody>
      </p:sp>
      <p:sp>
        <p:nvSpPr>
          <p:cNvPr id="337" name="Google Shape;337;p23"/>
          <p:cNvSpPr/>
          <p:nvPr/>
        </p:nvSpPr>
        <p:spPr>
          <a:xfrm>
            <a:off x="928662" y="1928802"/>
            <a:ext cx="2071702" cy="1285884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Breaking down work into small units</a:t>
            </a:r>
            <a:endParaRPr sz="20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5429256" y="1928802"/>
            <a:ext cx="2428892" cy="1214446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862C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Assigning each unit to different individual</a:t>
            </a:r>
            <a:endParaRPr sz="20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cxnSp>
        <p:nvCxnSpPr>
          <p:cNvPr id="339" name="Google Shape;339;p23"/>
          <p:cNvCxnSpPr>
            <a:stCxn id="337" idx="3"/>
            <a:endCxn id="338" idx="1"/>
          </p:cNvCxnSpPr>
          <p:nvPr/>
        </p:nvCxnSpPr>
        <p:spPr>
          <a:xfrm flipH="1" rot="10800000">
            <a:off x="3000364" y="2536044"/>
            <a:ext cx="2428800" cy="35700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4"/>
          <p:cNvSpPr txBox="1"/>
          <p:nvPr>
            <p:ph idx="1" type="body"/>
          </p:nvPr>
        </p:nvSpPr>
        <p:spPr>
          <a:xfrm>
            <a:off x="357158" y="1428736"/>
            <a:ext cx="8329642" cy="507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spcBef>
                <a:spcPts val="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Unity of Command: it refers to one boss for one subordinate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Unity of direction: there is one boss for one set of operation having the same objective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Subordination of individual interest to general interest: Organizational goals are primary and individual goals are secondary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Remuneration: remuneration means compensation for work done by employees</a:t>
            </a:r>
            <a:endParaRPr/>
          </a:p>
        </p:txBody>
      </p:sp>
      <p:sp>
        <p:nvSpPr>
          <p:cNvPr id="345" name="Google Shape;345;p24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 Antiqua"/>
              <a:buNone/>
            </a:pPr>
            <a:r>
              <a:rPr b="1" lang="en-US" sz="3600">
                <a:latin typeface="Book Antiqua"/>
                <a:ea typeface="Book Antiqua"/>
                <a:cs typeface="Book Antiqua"/>
                <a:sym typeface="Book Antiqua"/>
              </a:rPr>
              <a:t>Fayol’s 14 Principles of management </a:t>
            </a:r>
            <a:endParaRPr b="1" sz="360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/>
          <p:nvPr>
            <p:ph idx="1" type="body"/>
          </p:nvPr>
        </p:nvSpPr>
        <p:spPr>
          <a:xfrm>
            <a:off x="285720" y="1357298"/>
            <a:ext cx="8643998" cy="5214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spcBef>
                <a:spcPts val="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Centralization: it means reservation of authority at top levels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Scalar chain: It refers to the line of authority or chain of command moving from top to the bottom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Order: A place of everything and every thing in its place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Equity: employees must be treated equally and fairly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51" name="Google Shape;351;p25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 Antiqua"/>
              <a:buNone/>
            </a:pPr>
            <a:r>
              <a:rPr b="1" lang="en-US" sz="3600">
                <a:latin typeface="Book Antiqua"/>
                <a:ea typeface="Book Antiqua"/>
                <a:cs typeface="Book Antiqua"/>
                <a:sym typeface="Book Antiqua"/>
              </a:rPr>
              <a:t>Fayol’s 14 Principles of management </a:t>
            </a:r>
            <a:endParaRPr b="1" sz="360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6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spcBef>
                <a:spcPts val="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Stability of tenure: once placed at particular job position, people must stay there for a fairly long period of time to get known to that job environment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Initiative: Ability to originate or begin things 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Esprit de crops: Unity is Strength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57" name="Google Shape;357;p26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 Antiqua"/>
              <a:buNone/>
            </a:pPr>
            <a:r>
              <a:rPr b="1" lang="en-US" sz="3600">
                <a:latin typeface="Book Antiqua"/>
                <a:ea typeface="Book Antiqua"/>
                <a:cs typeface="Book Antiqua"/>
                <a:sym typeface="Book Antiqua"/>
              </a:rPr>
              <a:t>Fayol’s 14 Principles of management </a:t>
            </a:r>
            <a:endParaRPr b="1" sz="360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7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Book Antiqua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Significance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63" name="Google Shape;363;p27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spcBef>
                <a:spcPts val="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Distinguishing management functions from other functions/ activities of business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Universality of management principle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Systematic understanding to the process of management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8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Book Antiqua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Limitation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69" name="Google Shape;369;p28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spcBef>
                <a:spcPts val="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Centralization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Over emphasizes formal structure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740"/>
              <a:buChar char="◻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Impact of external environment is not taken into consideration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edian">
  <a:themeElements>
    <a:clrScheme name="Opulent">
      <a:dk1>
        <a:srgbClr val="000000"/>
      </a:dk1>
      <a:lt1>
        <a:srgbClr val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edian">
  <a:themeElements>
    <a:clrScheme name="Opulent">
      <a:dk1>
        <a:srgbClr val="000000"/>
      </a:dk1>
      <a:lt1>
        <a:srgbClr val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2019-08-22T08:54:34Z</dcterms:created>
  <dc:creator>Tanima</dc:creator>
</cp:coreProperties>
</file>